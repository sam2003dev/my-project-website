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3" r:id="rId1"/>
    <p:sldMasterId id="2147483659" r:id="rId2"/>
  </p:sldMasterIdLst>
  <p:notesMasterIdLst>
    <p:notesMasterId r:id="rId134"/>
  </p:notesMasterIdLst>
  <p:handoutMasterIdLst>
    <p:handoutMasterId r:id="rId135"/>
  </p:handoutMasterIdLst>
  <p:sldIdLst>
    <p:sldId id="1988" r:id="rId3"/>
    <p:sldId id="272" r:id="rId4"/>
    <p:sldId id="1879" r:id="rId5"/>
    <p:sldId id="1705" r:id="rId6"/>
    <p:sldId id="1880" r:id="rId7"/>
    <p:sldId id="1762" r:id="rId8"/>
    <p:sldId id="1985" r:id="rId9"/>
    <p:sldId id="1764" r:id="rId10"/>
    <p:sldId id="1881" r:id="rId11"/>
    <p:sldId id="1883" r:id="rId12"/>
    <p:sldId id="1884" r:id="rId13"/>
    <p:sldId id="1984" r:id="rId14"/>
    <p:sldId id="1886" r:id="rId15"/>
    <p:sldId id="1887" r:id="rId16"/>
    <p:sldId id="1888" r:id="rId17"/>
    <p:sldId id="1889" r:id="rId18"/>
    <p:sldId id="1890" r:id="rId19"/>
    <p:sldId id="1891" r:id="rId20"/>
    <p:sldId id="1892" r:id="rId21"/>
    <p:sldId id="1893" r:id="rId22"/>
    <p:sldId id="1894" r:id="rId23"/>
    <p:sldId id="1895" r:id="rId24"/>
    <p:sldId id="1896" r:id="rId25"/>
    <p:sldId id="1897" r:id="rId26"/>
    <p:sldId id="1898" r:id="rId27"/>
    <p:sldId id="1899" r:id="rId28"/>
    <p:sldId id="1900" r:id="rId29"/>
    <p:sldId id="1901" r:id="rId30"/>
    <p:sldId id="1902" r:id="rId31"/>
    <p:sldId id="1986" r:id="rId32"/>
    <p:sldId id="1904" r:id="rId33"/>
    <p:sldId id="1909" r:id="rId34"/>
    <p:sldId id="1910" r:id="rId35"/>
    <p:sldId id="1911" r:id="rId36"/>
    <p:sldId id="1912" r:id="rId37"/>
    <p:sldId id="1913" r:id="rId38"/>
    <p:sldId id="1914" r:id="rId39"/>
    <p:sldId id="1915" r:id="rId40"/>
    <p:sldId id="1916" r:id="rId41"/>
    <p:sldId id="1917" r:id="rId42"/>
    <p:sldId id="1918" r:id="rId43"/>
    <p:sldId id="1920" r:id="rId44"/>
    <p:sldId id="1921" r:id="rId45"/>
    <p:sldId id="1922" r:id="rId46"/>
    <p:sldId id="1923" r:id="rId47"/>
    <p:sldId id="1797" r:id="rId48"/>
    <p:sldId id="1798" r:id="rId49"/>
    <p:sldId id="1786" r:id="rId50"/>
    <p:sldId id="1799" r:id="rId51"/>
    <p:sldId id="1800" r:id="rId52"/>
    <p:sldId id="1801" r:id="rId53"/>
    <p:sldId id="1802" r:id="rId54"/>
    <p:sldId id="1803" r:id="rId55"/>
    <p:sldId id="1804" r:id="rId56"/>
    <p:sldId id="1805" r:id="rId57"/>
    <p:sldId id="1784" r:id="rId58"/>
    <p:sldId id="1806" r:id="rId59"/>
    <p:sldId id="1807" r:id="rId60"/>
    <p:sldId id="1808" r:id="rId61"/>
    <p:sldId id="1809" r:id="rId62"/>
    <p:sldId id="1810" r:id="rId63"/>
    <p:sldId id="1811" r:id="rId64"/>
    <p:sldId id="1812" r:id="rId65"/>
    <p:sldId id="1813" r:id="rId66"/>
    <p:sldId id="1814" r:id="rId67"/>
    <p:sldId id="1966" r:id="rId68"/>
    <p:sldId id="1816" r:id="rId69"/>
    <p:sldId id="1785" r:id="rId70"/>
    <p:sldId id="1817" r:id="rId71"/>
    <p:sldId id="1783" r:id="rId72"/>
    <p:sldId id="1818" r:id="rId73"/>
    <p:sldId id="1788" r:id="rId74"/>
    <p:sldId id="1819" r:id="rId75"/>
    <p:sldId id="1820" r:id="rId76"/>
    <p:sldId id="1789" r:id="rId77"/>
    <p:sldId id="1821" r:id="rId78"/>
    <p:sldId id="1822" r:id="rId79"/>
    <p:sldId id="1790" r:id="rId80"/>
    <p:sldId id="1791" r:id="rId81"/>
    <p:sldId id="1823" r:id="rId82"/>
    <p:sldId id="1824" r:id="rId83"/>
    <p:sldId id="1825" r:id="rId84"/>
    <p:sldId id="1826" r:id="rId85"/>
    <p:sldId id="1827" r:id="rId86"/>
    <p:sldId id="1792" r:id="rId87"/>
    <p:sldId id="1828" r:id="rId88"/>
    <p:sldId id="1829" r:id="rId89"/>
    <p:sldId id="1793" r:id="rId90"/>
    <p:sldId id="1830" r:id="rId91"/>
    <p:sldId id="1787" r:id="rId92"/>
    <p:sldId id="1831" r:id="rId93"/>
    <p:sldId id="1832" r:id="rId94"/>
    <p:sldId id="1833" r:id="rId95"/>
    <p:sldId id="1834" r:id="rId96"/>
    <p:sldId id="1977" r:id="rId97"/>
    <p:sldId id="1931" r:id="rId98"/>
    <p:sldId id="1932" r:id="rId99"/>
    <p:sldId id="1933" r:id="rId100"/>
    <p:sldId id="1934" r:id="rId101"/>
    <p:sldId id="1935" r:id="rId102"/>
    <p:sldId id="1936" r:id="rId103"/>
    <p:sldId id="1937" r:id="rId104"/>
    <p:sldId id="1938" r:id="rId105"/>
    <p:sldId id="1939" r:id="rId106"/>
    <p:sldId id="1987" r:id="rId107"/>
    <p:sldId id="1941" r:id="rId108"/>
    <p:sldId id="1942" r:id="rId109"/>
    <p:sldId id="1943" r:id="rId110"/>
    <p:sldId id="1944" r:id="rId111"/>
    <p:sldId id="1945" r:id="rId112"/>
    <p:sldId id="1946" r:id="rId113"/>
    <p:sldId id="1947" r:id="rId114"/>
    <p:sldId id="1948" r:id="rId115"/>
    <p:sldId id="1949" r:id="rId116"/>
    <p:sldId id="1950" r:id="rId117"/>
    <p:sldId id="1951" r:id="rId118"/>
    <p:sldId id="1952" r:id="rId119"/>
    <p:sldId id="1953" r:id="rId120"/>
    <p:sldId id="1954" r:id="rId121"/>
    <p:sldId id="1955" r:id="rId122"/>
    <p:sldId id="1956" r:id="rId123"/>
    <p:sldId id="1958" r:id="rId124"/>
    <p:sldId id="1959" r:id="rId125"/>
    <p:sldId id="1836" r:id="rId126"/>
    <p:sldId id="1960" r:id="rId127"/>
    <p:sldId id="1837" r:id="rId128"/>
    <p:sldId id="1838" r:id="rId129"/>
    <p:sldId id="1961" r:id="rId130"/>
    <p:sldId id="1962" r:id="rId131"/>
    <p:sldId id="1839" r:id="rId132"/>
    <p:sldId id="1963" r:id="rId133"/>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032" userDrawn="1">
          <p15:clr>
            <a:srgbClr val="A4A3A4"/>
          </p15:clr>
        </p15:guide>
        <p15:guide id="2" pos="264" userDrawn="1">
          <p15:clr>
            <a:srgbClr val="A4A3A4"/>
          </p15:clr>
        </p15:guide>
        <p15:guide id="3" orient="horz" pos="396" userDrawn="1">
          <p15:clr>
            <a:srgbClr val="A4A3A4"/>
          </p15:clr>
        </p15:guide>
        <p15:guide id="4" pos="5465" userDrawn="1">
          <p15:clr>
            <a:srgbClr val="A4A3A4"/>
          </p15:clr>
        </p15:guide>
        <p15:guide id="5" orient="horz" pos="960" userDrawn="1">
          <p15:clr>
            <a:srgbClr val="A4A3A4"/>
          </p15:clr>
        </p15:guide>
        <p15:guide id="6" orient="horz" pos="672" userDrawn="1">
          <p15:clr>
            <a:srgbClr val="A4A3A4"/>
          </p15:clr>
        </p15:guide>
        <p15:guide id="7" orient="horz" pos="1416"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7" name="Kamaraj Ganesan, Integra-PDY, IN" initials="KGII" lastIdx="1" clrIdx="7"/>
  <p:cmAuthor id="1" name="Ruchi Sachdev" initials="" lastIdx="8" clrIdx="1"/>
  <p:cmAuthor id="8" name="Editorial Integra" initials="Q" lastIdx="5" clrIdx="8"/>
  <p:cmAuthor id="2" name="Sarah Reusché" initials="" lastIdx="13" clrIdx="2"/>
  <p:cmAuthor id="9" name="Shiny Rajesh, Integra-PDY, IN" initials="SRII" lastIdx="2" clrIdx="9">
    <p:extLst>
      <p:ext uri="{19B8F6BF-5375-455C-9EA6-DF929625EA0E}">
        <p15:presenceInfo xmlns:p15="http://schemas.microsoft.com/office/powerpoint/2012/main" userId="S-1-5-21-1408920735-363312195-2789242753-5402" providerId="AD"/>
      </p:ext>
    </p:extLst>
  </p:cmAuthor>
  <p:cmAuthor id="3" name="Nitin Shankar" initials="" lastIdx="6" clrIdx="3"/>
  <p:cmAuthor id="4" name="Kristen Flathman" initials="" lastIdx="1" clrIdx="4"/>
  <p:cmAuthor id="5" name="Ben Schroeter" initials="" lastIdx="0" clrIdx="5"/>
  <p:cmAuthor id="6" name="AnnMarie Short" initials="AS" lastIdx="35" clrIdx="6"/>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94" autoAdjust="0"/>
    <p:restoredTop sz="94249" autoAdjust="0"/>
  </p:normalViewPr>
  <p:slideViewPr>
    <p:cSldViewPr snapToGrid="0" snapToObjects="1">
      <p:cViewPr varScale="1">
        <p:scale>
          <a:sx n="64" d="100"/>
          <a:sy n="64" d="100"/>
        </p:scale>
        <p:origin x="1494" y="72"/>
      </p:cViewPr>
      <p:guideLst>
        <p:guide orient="horz" pos="4032"/>
        <p:guide pos="264"/>
        <p:guide orient="horz" pos="396"/>
        <p:guide pos="5465"/>
        <p:guide orient="horz" pos="960"/>
        <p:guide orient="horz" pos="672"/>
        <p:guide orient="horz" pos="1416"/>
      </p:guideLst>
    </p:cSldViewPr>
  </p:slideViewPr>
  <p:outlineViewPr>
    <p:cViewPr>
      <p:scale>
        <a:sx n="33" d="100"/>
        <a:sy n="33" d="100"/>
      </p:scale>
      <p:origin x="0" y="-66354"/>
    </p:cViewPr>
  </p:outlineViewPr>
  <p:notesTextViewPr>
    <p:cViewPr>
      <p:scale>
        <a:sx n="3" d="2"/>
        <a:sy n="3" d="2"/>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viewProps" Target="viewProps.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slide" Target="slides/slide126.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notesMaster" Target="notesMasters/notesMaster1.xml"/><Relationship Id="rId139" Type="http://schemas.openxmlformats.org/officeDocument/2006/relationships/theme" Target="theme/theme1.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handoutMaster" Target="handoutMasters/handoutMaster1.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commentAuthors" Target="commentAuthors.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12/14/2021</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4846016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a:t>
            </a:fld>
            <a:endParaRPr lang="en-US" sz="12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933536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1797661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0240426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8926690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7872942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IN" sz="1200" b="0" i="0" u="none" strike="noStrike" kern="1200" cap="none" dirty="0">
                <a:solidFill>
                  <a:schemeClr val="dk1"/>
                </a:solidFill>
                <a:effectLst/>
                <a:latin typeface="Arial"/>
                <a:ea typeface="Arial"/>
                <a:cs typeface="Arial"/>
                <a:sym typeface="Arial"/>
              </a:rPr>
              <a:t>Long</a:t>
            </a:r>
            <a:r>
              <a:rPr lang="en-IN" sz="1200" b="0" i="0" u="none" strike="noStrike" kern="1200" cap="none" baseline="0" dirty="0">
                <a:solidFill>
                  <a:schemeClr val="dk1"/>
                </a:solidFill>
                <a:effectLst/>
                <a:latin typeface="Arial"/>
                <a:ea typeface="Arial"/>
                <a:cs typeface="Arial"/>
                <a:sym typeface="Arial"/>
              </a:rPr>
              <a:t> description:</a:t>
            </a:r>
          </a:p>
          <a:p>
            <a:r>
              <a:rPr lang="en-US" sz="1200" b="0" i="0" u="none" strike="noStrike" kern="1200" cap="none" dirty="0">
                <a:solidFill>
                  <a:schemeClr val="dk1"/>
                </a:solidFill>
                <a:effectLst/>
                <a:latin typeface="Arial"/>
                <a:ea typeface="Arial"/>
                <a:cs typeface="Arial"/>
                <a:sym typeface="Arial"/>
              </a:rPr>
              <a:t>The illustration shows plane of symmetry as a vertical line in the middle. Amino acid has an asymmetric carbon atom bonded to 4 different groups. The stereoisomers of an amino acid are shown as non-superimposable mirror images on either side of the plane of symmetry. </a:t>
            </a:r>
          </a:p>
          <a:p>
            <a:r>
              <a:rPr lang="en-US" sz="1200" b="0" i="0" u="none" strike="noStrike" kern="1200" cap="none" dirty="0">
                <a:solidFill>
                  <a:schemeClr val="dk1"/>
                </a:solidFill>
                <a:effectLst/>
                <a:latin typeface="Arial"/>
                <a:ea typeface="Arial"/>
                <a:cs typeface="Arial"/>
                <a:sym typeface="Arial"/>
              </a:rPr>
              <a:t>The chemical structure of L hyphen amino acid and D hyphen amino acid are as follows:</a:t>
            </a: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L hyphen amino acid has an alpha carbon atom C in the center which is single hyphen bonded to the amino group H subscript 3 N superscript plus on the left, H on the right, carboxyl group C double bond O angled to the top-left and single bond O superscript minus angled to the top-right above, and R group below which is different for each amino acid. </a:t>
            </a: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D hyphen amino acid has a central C which has single bond H on the left, H subscript 3 N superscript plus on the right, C double-bonded to O angled to the top-left and single-bonded to O superscript minus angled to the top-right above, and R group below which is different for each amino acid. </a:t>
            </a:r>
          </a:p>
          <a:p>
            <a:r>
              <a:rPr lang="en-US" sz="1200" b="0" i="0" u="none" strike="noStrike" kern="1200" cap="none" dirty="0">
                <a:solidFill>
                  <a:schemeClr val="dk1"/>
                </a:solidFill>
                <a:effectLst/>
                <a:latin typeface="Arial"/>
                <a:ea typeface="Arial"/>
                <a:cs typeface="Arial"/>
                <a:sym typeface="Arial"/>
              </a:rPr>
              <a:t>The ball-and-stick model of L hyphen amino acid and D hyphen amino acid are as follows:</a:t>
            </a: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L hyphen amino acid in the shape of a tetrahedron has a central carbon sphere bonded to four different spheres labeled as C O </a:t>
            </a:r>
            <a:r>
              <a:rPr lang="en-US" sz="1200" b="0" i="0" u="none" strike="noStrike" kern="1200" cap="none" dirty="0" err="1">
                <a:solidFill>
                  <a:schemeClr val="dk1"/>
                </a:solidFill>
                <a:effectLst/>
                <a:latin typeface="Arial"/>
                <a:ea typeface="Arial"/>
                <a:cs typeface="Arial"/>
                <a:sym typeface="Arial"/>
              </a:rPr>
              <a:t>O</a:t>
            </a:r>
            <a:r>
              <a:rPr lang="en-US" sz="1200" b="0" i="0" u="none" strike="noStrike" kern="1200" cap="none" dirty="0">
                <a:solidFill>
                  <a:schemeClr val="dk1"/>
                </a:solidFill>
                <a:effectLst/>
                <a:latin typeface="Arial"/>
                <a:ea typeface="Arial"/>
                <a:cs typeface="Arial"/>
                <a:sym typeface="Arial"/>
              </a:rPr>
              <a:t> superscript minus above, R below oriented slightly toward right, H subscript 3 N superscript plus on the left, and H on the right. </a:t>
            </a: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D hyphen amino acid in the shape of a tetrahedron has a central carbon sphere bonded to four different spheres labeled as C O </a:t>
            </a:r>
            <a:r>
              <a:rPr lang="en-US" sz="1200" b="0" i="0" u="none" strike="noStrike" kern="1200" cap="none" dirty="0" err="1">
                <a:solidFill>
                  <a:schemeClr val="dk1"/>
                </a:solidFill>
                <a:effectLst/>
                <a:latin typeface="Arial"/>
                <a:ea typeface="Arial"/>
                <a:cs typeface="Arial"/>
                <a:sym typeface="Arial"/>
              </a:rPr>
              <a:t>O</a:t>
            </a:r>
            <a:r>
              <a:rPr lang="en-US" sz="1200" b="0" i="0" u="none" strike="noStrike" kern="1200" cap="none" dirty="0">
                <a:solidFill>
                  <a:schemeClr val="dk1"/>
                </a:solidFill>
                <a:effectLst/>
                <a:latin typeface="Arial"/>
                <a:ea typeface="Arial"/>
                <a:cs typeface="Arial"/>
                <a:sym typeface="Arial"/>
              </a:rPr>
              <a:t> superscript minus above, R below oriented slightly toward left, H on the left, and H subscript 3 N superscript plus on the right. </a:t>
            </a:r>
          </a:p>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9801608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0621728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IN" sz="1200" b="0" i="0" u="none" strike="noStrike" kern="1200" cap="none" dirty="0">
                <a:solidFill>
                  <a:schemeClr val="dk1"/>
                </a:solidFill>
                <a:effectLst/>
                <a:latin typeface="Arial"/>
                <a:ea typeface="Arial"/>
                <a:cs typeface="Arial"/>
                <a:sym typeface="Arial"/>
              </a:rPr>
              <a:t>Long description:</a:t>
            </a:r>
          </a:p>
          <a:p>
            <a:r>
              <a:rPr lang="en-US" sz="1200" b="0" i="0" u="none" strike="noStrike" kern="1200" cap="none" dirty="0">
                <a:solidFill>
                  <a:schemeClr val="dk1"/>
                </a:solidFill>
                <a:effectLst/>
                <a:latin typeface="Arial"/>
                <a:ea typeface="Arial"/>
                <a:cs typeface="Arial"/>
                <a:sym typeface="Arial"/>
              </a:rPr>
              <a:t>The structure of all the twenty amino acids has a central carbon single-bonded to an amino group (H subscript 3 N superscript plus) on the left, a carboxyl group (C double bonded to O and single bonded to O superscript minus) on the right, an H above, and an R group which is a variable side chain of one or more atoms below. The R group is different for each amino acid and is shown in a shaded box. The individual structures of the three groups of amino acids are as follows:</a:t>
            </a:r>
          </a:p>
          <a:p>
            <a:r>
              <a:rPr lang="en-US" sz="1200" b="0" i="0" u="none" strike="noStrike" kern="1200" cap="none" dirty="0">
                <a:solidFill>
                  <a:schemeClr val="dk1"/>
                </a:solidFill>
                <a:effectLst/>
                <a:latin typeface="Arial"/>
                <a:ea typeface="Arial"/>
                <a:cs typeface="Arial"/>
                <a:sym typeface="Arial"/>
              </a:rPr>
              <a:t>Group A: Nonpolar amino acids which are hydrophobic</a:t>
            </a: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Glycine: H subscript 3 N superscript plus; single bond; C single-bonded to H above and “H” below; single bond; C double-bonded to O and single-bonded to O superscript minus. The R group highlighted is H. </a:t>
            </a: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Alanine: H subscript 3 N superscript plus; single bond; C single-bonded to H above and “C H subscript 3” below; single bond; C double-bonded to O and single-bonded to O superscript minus. The R group highlighted is C H subscript 3. </a:t>
            </a:r>
          </a:p>
          <a:p>
            <a:pPr marL="171450" lvl="0" indent="-171450">
              <a:buFont typeface="Arial" panose="020B0604020202020204" pitchFamily="34" charset="0"/>
              <a:buChar char="•"/>
            </a:pPr>
            <a:r>
              <a:rPr lang="en-US" sz="1200" b="0" i="0" u="none" strike="noStrike" kern="1200" cap="none" dirty="0" err="1">
                <a:solidFill>
                  <a:schemeClr val="dk1"/>
                </a:solidFill>
                <a:effectLst/>
                <a:latin typeface="Arial"/>
                <a:ea typeface="Arial"/>
                <a:cs typeface="Arial"/>
                <a:sym typeface="Arial"/>
              </a:rPr>
              <a:t>Valine</a:t>
            </a:r>
            <a:r>
              <a:rPr lang="en-US" sz="1200" b="0" i="0" u="none" strike="noStrike" kern="1200" cap="none" dirty="0">
                <a:solidFill>
                  <a:schemeClr val="dk1"/>
                </a:solidFill>
                <a:effectLst/>
                <a:latin typeface="Arial"/>
                <a:ea typeface="Arial"/>
                <a:cs typeface="Arial"/>
                <a:sym typeface="Arial"/>
              </a:rPr>
              <a:t>: H subscript 3 N superscript plus; single bond; C single-bonded to H above and “C H single-bonded to C subscript H 3 and C H subscript 3” below; single bond; C double-bonded to O and single-bonded to O superscript minus. The R group highlighted is C H single-bonded to C H subscript 3 and C H subscript 3. </a:t>
            </a:r>
          </a:p>
          <a:p>
            <a:pPr marL="171450" lvl="0" indent="-171450">
              <a:buFont typeface="Arial" panose="020B0604020202020204" pitchFamily="34" charset="0"/>
              <a:buChar char="•"/>
            </a:pPr>
            <a:r>
              <a:rPr lang="en-US" sz="1200" b="0" i="0" u="none" strike="noStrike" kern="1200" cap="none" dirty="0" err="1">
                <a:solidFill>
                  <a:schemeClr val="dk1"/>
                </a:solidFill>
                <a:effectLst/>
                <a:latin typeface="Arial"/>
                <a:ea typeface="Arial"/>
                <a:cs typeface="Arial"/>
                <a:sym typeface="Arial"/>
              </a:rPr>
              <a:t>Leucine</a:t>
            </a:r>
            <a:r>
              <a:rPr lang="en-US" sz="1200" b="0" i="0" u="none" strike="noStrike" kern="1200" cap="none" dirty="0">
                <a:solidFill>
                  <a:schemeClr val="dk1"/>
                </a:solidFill>
                <a:effectLst/>
                <a:latin typeface="Arial"/>
                <a:ea typeface="Arial"/>
                <a:cs typeface="Arial"/>
                <a:sym typeface="Arial"/>
              </a:rPr>
              <a:t>: H subscript 3 N superscript plus; single bond; C single-bonded to H above and “C H subscript 2 single-bonded to C H single-bonded to C H subscript 3 and C H subscript 3” below; single bond; C double-bonded to O and single-bonded to O superscript minus. The R group highlighted is C H subscript 2 single-bonded to C H below which is in turn single-bonded to C H subscript 3 and C H subscript 3 below. </a:t>
            </a: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Isoleucine: H subscript 3 N superscript plus; single bond; C single-bonded to H above and “C H single-bonded to C H subscript 3 on the left and single-bonded to C H subscript 2 below which is in turn single-bonded to C H subscript 3” below; single bond; C double-bonded to O and single-bonded to O superscript minus. The R group highlighted is “C H single-bonded to C H subscript 3 on the left and single-bonded to C H subscript 2 below which is in turn single-bonded to C H subscript 3 below”</a:t>
            </a: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Methionine: H subscript 3 N superscript plus; single bond; C single-bonded to H above and “C H subscript 2 single-bonded to C H subscript 2 single-bonded to S single-bonded to C H subscript 3” below; single bond; C double-bonded to O and single-bonded to O superscript minus. The R group highlighted is C H subscript 2 single-bonded to C H subscript 2 single-bonded to S single-bonded to C H subscript 3 below. </a:t>
            </a: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Phenylalanine: H subscript 3 N superscript plus; single bond; C single-bonded to H above and “C H subscript 2 single-bonded to a benzene ring” below; single bond; C double-bonded to O and single-bonded to O superscript minus. The R group highlighted is C H subscript 2 single-bonded to a benzene ring below.</a:t>
            </a: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Tryptophan: H subscript 3 N superscript plus; single bond; C single-bonded to H above and “C H subscript 2 single-bonded to an </a:t>
            </a:r>
            <a:r>
              <a:rPr lang="en-US" sz="1200" b="0" i="0" u="none" strike="noStrike" kern="1200" cap="none" dirty="0" err="1">
                <a:solidFill>
                  <a:schemeClr val="dk1"/>
                </a:solidFill>
                <a:effectLst/>
                <a:latin typeface="Arial"/>
                <a:ea typeface="Arial"/>
                <a:cs typeface="Arial"/>
                <a:sym typeface="Arial"/>
              </a:rPr>
              <a:t>indole</a:t>
            </a:r>
            <a:r>
              <a:rPr lang="en-US" sz="1200" b="0" i="0" u="none" strike="noStrike" kern="1200" cap="none" dirty="0">
                <a:solidFill>
                  <a:schemeClr val="dk1"/>
                </a:solidFill>
                <a:effectLst/>
                <a:latin typeface="Arial"/>
                <a:ea typeface="Arial"/>
                <a:cs typeface="Arial"/>
                <a:sym typeface="Arial"/>
              </a:rPr>
              <a:t> ring” below; single bond; C double-bonded to O and single-bonded to O superscript minus. The R group highlighted is C H subscript 2 single-bonded to an </a:t>
            </a:r>
            <a:r>
              <a:rPr lang="en-US" sz="1200" b="0" i="0" u="none" strike="noStrike" kern="1200" cap="none" dirty="0" err="1">
                <a:solidFill>
                  <a:schemeClr val="dk1"/>
                </a:solidFill>
                <a:effectLst/>
                <a:latin typeface="Arial"/>
                <a:ea typeface="Arial"/>
                <a:cs typeface="Arial"/>
                <a:sym typeface="Arial"/>
              </a:rPr>
              <a:t>indole</a:t>
            </a:r>
            <a:r>
              <a:rPr lang="en-US" sz="1200" b="0" i="0" u="none" strike="noStrike" kern="1200" cap="none" dirty="0">
                <a:solidFill>
                  <a:schemeClr val="dk1"/>
                </a:solidFill>
                <a:effectLst/>
                <a:latin typeface="Arial"/>
                <a:ea typeface="Arial"/>
                <a:cs typeface="Arial"/>
                <a:sym typeface="Arial"/>
              </a:rPr>
              <a:t> ring below.</a:t>
            </a:r>
          </a:p>
          <a:p>
            <a:pPr marL="171450" lvl="0" indent="-171450">
              <a:buFont typeface="Arial" panose="020B0604020202020204" pitchFamily="34" charset="0"/>
              <a:buChar char="•"/>
            </a:pPr>
            <a:r>
              <a:rPr lang="en-US" sz="1200" b="0" i="0" u="none" strike="noStrike" kern="1200" cap="none" dirty="0" err="1">
                <a:solidFill>
                  <a:schemeClr val="dk1"/>
                </a:solidFill>
                <a:effectLst/>
                <a:latin typeface="Arial"/>
                <a:ea typeface="Arial"/>
                <a:cs typeface="Arial"/>
                <a:sym typeface="Arial"/>
              </a:rPr>
              <a:t>Proline</a:t>
            </a:r>
            <a:r>
              <a:rPr lang="en-US" sz="1200" b="0" i="0" u="none" strike="noStrike" kern="1200" cap="none" dirty="0">
                <a:solidFill>
                  <a:schemeClr val="dk1"/>
                </a:solidFill>
                <a:effectLst/>
                <a:latin typeface="Arial"/>
                <a:ea typeface="Arial"/>
                <a:cs typeface="Arial"/>
                <a:sym typeface="Arial"/>
              </a:rPr>
              <a:t>: H subscript 2 N superscript plus; single bond; C single-bonded to H above and “C H subscript 2 single-bonded to C H subscript 2 single-bonded to C H subscript 2 single-bonded back to H subscript 2 N superscript plus” forming a pentagon ring; single bond; C double-bonded to O and single-bonded to O superscript minus. The R group highlighted is C H subscript 2 single-bonded to C H subscript 2 below single-bonded to C H subscript 2 above.</a:t>
            </a:r>
          </a:p>
          <a:p>
            <a:r>
              <a:rPr lang="en-US" sz="1200" b="0" i="0" u="none" strike="noStrike" kern="1200" cap="none" dirty="0">
                <a:solidFill>
                  <a:schemeClr val="dk1"/>
                </a:solidFill>
                <a:effectLst/>
                <a:latin typeface="Arial"/>
                <a:ea typeface="Arial"/>
                <a:cs typeface="Arial"/>
                <a:sym typeface="Arial"/>
              </a:rPr>
              <a:t>Group B: Polar, uncharged amino acids which are hydrophilic</a:t>
            </a: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Serine: H subscript 3 N superscript plus; single bond; C single-bonded to H above and “C H subscript 2 single-bonded to O H” below; single bond; C double-bonded to O and single-bonded to O superscript minus. The R group highlighted is C H subscript 2 single-bonded to O H below.</a:t>
            </a: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Threonine: H subscript 3 N superscript plus; single bond; C single-bonded to H above and “C H single-bonded to O H and C H subscript 3” below; single bond; C double-bonded to O and single-bonded to O superscript minus. The R group highlighted is C H single-bonded to O H and C H subscript 3 below. </a:t>
            </a: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Cysteine: H subscript 3 N superscript plus; single bond; C single-bonded to H above and “C H subscript 2 single-bonded to S H” below; single bond; C double-bonded to O and single-bonded to O superscript minus. The R group highlighted is C H subscript 2 single-bonded to S H below.</a:t>
            </a: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Tyrosine: H subscript 3 N superscript plus; single bond; C single-bonded to H above and “C H subscript 2 single-bonded to a benzene ring which is in turn single-bonded to O H” below; single bond; C double-bonded to O and single-bonded to O superscript minus. The R group highlighted is C H subscript 2 single-bonded to a benzene ring which is in turn single-bonded to O H below.</a:t>
            </a: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Asparagine: H subscript 3 N superscript plus; single bond; C single-bonded to H above and “C H subscript 2 single-bonded to C which is double-bonded to O and single-bonded to N H subscript 2” below; single bond; C double-bonded to O and single-bonded to O superscript minus. The R group highlighted is C H subscript 2 single-bonded to C which is double-bonded to O and single-bonded to N H subscript 2 below.</a:t>
            </a: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Glutamine: H subscript 3 N superscript plus; single bond; C single-bonded to H above and “C H subscript 2 single-bonded to C H subscript 2 single-bonded to C which is double-bonded to O and single-bonded to N H subscript 2” below; single bond; C double-bonded to O and single-bonded to O superscript minus. The R group highlighted is C H subscript 2 single-bonded to C H subscript 2 single-bonded to C which is double-bonded to O and single-bonded to N H subscript 2 below.</a:t>
            </a:r>
          </a:p>
          <a:p>
            <a:r>
              <a:rPr lang="en-US" sz="1200" b="0" i="0" u="none" strike="noStrike" kern="1200" cap="none" dirty="0">
                <a:solidFill>
                  <a:schemeClr val="dk1"/>
                </a:solidFill>
                <a:effectLst/>
                <a:latin typeface="Arial"/>
                <a:ea typeface="Arial"/>
                <a:cs typeface="Arial"/>
                <a:sym typeface="Arial"/>
              </a:rPr>
              <a:t>Group C: Polar, charged amino acids which are hydrophilic</a:t>
            </a: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Aspartate: H subscript 3 N superscript plus; single bond; C single-bonded to H above and “C H subscript 2 single-bonded to C which is double-bonded to O and single-bonded to O superscript minus” below; single bond; C double-bonded to O and single-bonded to O superscript minus. The R group highlighted is C H subscript 2 single-bonded to C which is double-bonded to O and single-bonded to O superscript minus below.</a:t>
            </a: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Glutamate: H subscript 3 N superscript plus; single bond; C single-bonded to H above and “C H subscript 2 single-bonded to C H subscript 2 single-bonded to C which is double-bonded to O and single-bonded to O superscript minus” below; single bond; C double-bonded to O and single-bonded to O superscript minus. The R group highlighted is C H subscript 2 single-bonded to C H subscript 2 single-bonded to C which is double-bonded to O and single-bonded to O superscript minus below.</a:t>
            </a: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Lysine: H subscript 3 N superscript plus; single bond; C single-bonded to H above and “C H subscript 2 single-bonded to C H subscript 2 single-bonded C H subscript 2 single-bonded to CH subscript 2 single-bonded to N H subscript 3 superscript plus” below; single bond; C double-bonded to O and single-bonded to O superscript minus. The R group highlighted is C H subscript 2 single-bonded to C H subscript 2 single-bonded C H subscript 2 single-bonded to CH subscript 2 single-bonded to N H subscript 3 superscript plus</a:t>
            </a: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Arginine: H subscript 3 N superscript plus; single bond; C single-bonded to H above and “C H subscript 2 single-bonded to C H subscript 2 single-bonded C H subscript 2 single-bonded to N H single-bonded to C which is double-bonded to N H subscript 2 superscript plus and single-bonded to N H subscript 2” below; single bond; C double-bonded to O and single-bonded to O superscript minus. The R group highlighted is C H subscript 2 single-bonded to C H subscript 2 single-bonded C H subscript 2 single-bonded to N H single-bonded to C which is double-bonded to N H subscript 2 superscript plus and N H subscript 2. </a:t>
            </a:r>
          </a:p>
          <a:p>
            <a:pPr marL="171450" lvl="0" indent="-171450">
              <a:buFont typeface="Arial" panose="020B0604020202020204" pitchFamily="34" charset="0"/>
              <a:buChar char="•"/>
            </a:pPr>
            <a:r>
              <a:rPr lang="en-US" sz="1200" b="0" i="0" u="none" strike="noStrike" kern="1200" cap="none" dirty="0" err="1">
                <a:solidFill>
                  <a:schemeClr val="dk1"/>
                </a:solidFill>
                <a:effectLst/>
                <a:latin typeface="Arial"/>
                <a:ea typeface="Arial"/>
                <a:cs typeface="Arial"/>
                <a:sym typeface="Arial"/>
              </a:rPr>
              <a:t>Histidine</a:t>
            </a:r>
            <a:r>
              <a:rPr lang="en-US" sz="1200" b="0" i="0" u="none" strike="noStrike" kern="1200" cap="none" dirty="0">
                <a:solidFill>
                  <a:schemeClr val="dk1"/>
                </a:solidFill>
                <a:effectLst/>
                <a:latin typeface="Arial"/>
                <a:ea typeface="Arial"/>
                <a:cs typeface="Arial"/>
                <a:sym typeface="Arial"/>
              </a:rPr>
              <a:t>: H subscript 3 N superscript plus; single bond; C single-bonded to H above and “C H subscript 2 single-bonded to an imidazole ring” below; single bond; C double-bonded to O and single-bonded to O superscript minus. The R group highlighted is C H subscript 2 single-bonded to an imidazole ring.</a:t>
            </a: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Aspartate and glutamate are acidic. Lysine, arginine, and </a:t>
            </a:r>
            <a:r>
              <a:rPr lang="en-US" sz="1200" b="0" i="0" u="none" strike="noStrike" kern="1200" cap="none" dirty="0" err="1">
                <a:solidFill>
                  <a:schemeClr val="dk1"/>
                </a:solidFill>
                <a:effectLst/>
                <a:latin typeface="Arial"/>
                <a:ea typeface="Arial"/>
                <a:cs typeface="Arial"/>
                <a:sym typeface="Arial"/>
              </a:rPr>
              <a:t>histidine</a:t>
            </a:r>
            <a:r>
              <a:rPr lang="en-US" sz="1200" b="0" i="0" u="none" strike="noStrike" kern="1200" cap="none" dirty="0">
                <a:solidFill>
                  <a:schemeClr val="dk1"/>
                </a:solidFill>
                <a:effectLst/>
                <a:latin typeface="Arial"/>
                <a:ea typeface="Arial"/>
                <a:cs typeface="Arial"/>
                <a:sym typeface="Arial"/>
              </a:rPr>
              <a:t> are basic. </a:t>
            </a:r>
          </a:p>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7427903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6251148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1156825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1815198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IN" sz="1200" b="0" i="0" u="none" strike="noStrike" kern="1200" cap="none" dirty="0">
                <a:solidFill>
                  <a:schemeClr val="dk1"/>
                </a:solidFill>
                <a:effectLst/>
                <a:latin typeface="Arial"/>
                <a:ea typeface="Arial"/>
                <a:cs typeface="Arial"/>
                <a:sym typeface="Arial"/>
              </a:rPr>
              <a:t>Long description:</a:t>
            </a:r>
          </a:p>
          <a:p>
            <a:r>
              <a:rPr lang="en-US" sz="1200" b="0" i="0" u="none" strike="noStrike" kern="1200" cap="none" dirty="0">
                <a:solidFill>
                  <a:schemeClr val="dk1"/>
                </a:solidFill>
                <a:effectLst/>
                <a:latin typeface="Arial"/>
                <a:ea typeface="Arial"/>
                <a:cs typeface="Arial"/>
                <a:sym typeface="Arial"/>
              </a:rPr>
              <a:t>The details of the model are as follows:</a:t>
            </a: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Glycine has the structure from left to right as follows: H subscript 3 N superscript plus, single-bond, C single-bonded to H on both sides; single-bond; C double-bonded to O on one side and single-bonded to O superscript minus on the other side. </a:t>
            </a:r>
          </a:p>
          <a:p>
            <a:pPr marL="17145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Alanine has the structure from left to right as follows: H subscript 3N superscript plus; single-bond; C single-bonded to H and C H subscript 3; single bond; C double-bonded to O on one side and single-bonded to O superscript minus on the other side.</a:t>
            </a: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The O superscript minus in the carboxyl group of glycine and the two H in the amino group of alanine are highlighted.</a:t>
            </a: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Dehydration reaction forms the dipeptide </a:t>
            </a:r>
            <a:r>
              <a:rPr lang="en-US" sz="1200" b="0" i="0" u="none" strike="noStrike" kern="1200" cap="none" dirty="0" err="1">
                <a:solidFill>
                  <a:schemeClr val="dk1"/>
                </a:solidFill>
                <a:effectLst/>
                <a:latin typeface="Arial"/>
                <a:ea typeface="Arial"/>
                <a:cs typeface="Arial"/>
                <a:sym typeface="Arial"/>
              </a:rPr>
              <a:t>glycylalanine</a:t>
            </a:r>
            <a:r>
              <a:rPr lang="en-US" sz="1200" b="0" i="0" u="none" strike="noStrike" kern="1200" cap="none" dirty="0">
                <a:solidFill>
                  <a:schemeClr val="dk1"/>
                </a:solidFill>
                <a:effectLst/>
                <a:latin typeface="Arial"/>
                <a:ea typeface="Arial"/>
                <a:cs typeface="Arial"/>
                <a:sym typeface="Arial"/>
              </a:rPr>
              <a:t> plus a water molecule. </a:t>
            </a: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The structure of the resulting dipeptide from N hyphen terminus to C hyphen terminus is as follows: H subscript 3 N superscript plus; single bond; C single-bonded to H on both sides; single bond; C double-bonded to O above; peptide bond; N single-bonded to H below; single bond; C single-bonded to H and C H subscript 3; single bond; C double-bonded to O on one side and single-bonded to O superscript minus on the other side. </a:t>
            </a: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Structure of the water molecule released has a central O single-bonded to H on both sides in the shape of an inverted V. </a:t>
            </a:r>
          </a:p>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6029840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1153871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555380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9914293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8147274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IN" sz="1200" b="0" i="0" u="none" strike="noStrike" kern="1200" cap="none" dirty="0">
                <a:solidFill>
                  <a:schemeClr val="dk1"/>
                </a:solidFill>
                <a:effectLst/>
                <a:latin typeface="Arial"/>
                <a:ea typeface="Arial"/>
                <a:cs typeface="Arial"/>
                <a:sym typeface="Arial"/>
              </a:rPr>
              <a:t>Long description:</a:t>
            </a:r>
          </a:p>
          <a:p>
            <a:r>
              <a:rPr lang="en-US" sz="1200" b="0" i="0" u="none" strike="noStrike" kern="1200" cap="none" dirty="0">
                <a:solidFill>
                  <a:schemeClr val="dk1"/>
                </a:solidFill>
                <a:effectLst/>
                <a:latin typeface="Arial"/>
                <a:ea typeface="Arial"/>
                <a:cs typeface="Arial"/>
                <a:sym typeface="Arial"/>
              </a:rPr>
              <a:t>The illustration lists the following four kinds of bonds and interactions:</a:t>
            </a:r>
          </a:p>
          <a:p>
            <a:r>
              <a:rPr lang="en-US" sz="1200" b="0" i="0" u="none" strike="noStrike" kern="1200" cap="none" dirty="0">
                <a:solidFill>
                  <a:schemeClr val="dk1"/>
                </a:solidFill>
                <a:effectLst/>
                <a:latin typeface="Arial"/>
                <a:ea typeface="Arial"/>
                <a:cs typeface="Arial"/>
                <a:sym typeface="Arial"/>
              </a:rPr>
              <a:t>(a) Disulfide bond: This is a covalent bond between two sides of a narrow U-bend. It reads: Polypeptide backbone; single bond; C H subscript 2; single bond; S; single bond; S; single bond; C H subscript 2; single bond; polypeptide backbone. S-single bond-S is highlighted. </a:t>
            </a:r>
          </a:p>
          <a:p>
            <a:r>
              <a:rPr lang="en-US" sz="1200" b="0" i="0" u="none" strike="noStrike" kern="1200" cap="none" dirty="0">
                <a:solidFill>
                  <a:schemeClr val="dk1"/>
                </a:solidFill>
                <a:effectLst/>
                <a:latin typeface="Arial"/>
                <a:ea typeface="Arial"/>
                <a:cs typeface="Arial"/>
                <a:sym typeface="Arial"/>
              </a:rPr>
              <a:t>(b) Hydrogen bond: This is a non-covalent bond between two sides of a folded polypeptide backbone. It reads: Polypeptide backbone; single bond; C H subscript 2; single bond; C single-bonded to O superscript minus above; double bond; O; dotted bond; H O; single bond; C H subscript 2; single bond; polypeptide backbone. O-dotted bond-H O is highlighted. </a:t>
            </a:r>
          </a:p>
          <a:p>
            <a:r>
              <a:rPr lang="en-US" sz="1200" b="0" i="0" u="none" strike="noStrike" kern="1200" cap="none" dirty="0">
                <a:solidFill>
                  <a:schemeClr val="dk1"/>
                </a:solidFill>
                <a:effectLst/>
                <a:latin typeface="Arial"/>
                <a:ea typeface="Arial"/>
                <a:cs typeface="Arial"/>
                <a:sym typeface="Arial"/>
              </a:rPr>
              <a:t>(c) Ionic bond: This is a non-covalent bond between two sides of a folded polypeptide backbone. It reads: Polypeptide backbone; single bond; C H subscript 2; single bond; C H subscript 2; single bond; C H subscript 2; single bond; C H subscript 2; N H subscript 3 superscript plus; superscript minus O; single bond; C double-bonded to O above; single bond; C H subscript 2; single bond; polypeptide backbone. N H subscript 3 superscript plus-superscript minus O is highlighted. </a:t>
            </a:r>
          </a:p>
          <a:p>
            <a:r>
              <a:rPr lang="en-US" sz="1200" b="0" i="0" u="none" strike="noStrike" kern="1200" cap="none" dirty="0">
                <a:solidFill>
                  <a:schemeClr val="dk1"/>
                </a:solidFill>
                <a:effectLst/>
                <a:latin typeface="Arial"/>
                <a:ea typeface="Arial"/>
                <a:cs typeface="Arial"/>
                <a:sym typeface="Arial"/>
              </a:rPr>
              <a:t>(d) Van der Waals and hydrophobic interactions: These are non-covalent interactions in the bent portion of a polypeptide backbone. It reads: Polypeptide backbone; single bond angled to top-right; C H single-bonded to C H subscript 3 above; single bond; C H subscript 3. Polypeptide backbone; single bond above; C H single-bonded to C H subscript 3 angled to top-right and single-bonded to C H subscript 2 above; this C H subscript 2 is in turn single-bonded to C H subscript 3 above. Polypeptide backbone; single bond angled to top-left; C H subscript 2; single bond angled to top-left C H; this C H is single-bonded to C H subscript 3 on the left and single-bonded to C H subscript 3 angled to top-right. The whole of these interactions is highlighted. </a:t>
            </a:r>
          </a:p>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4256926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7413764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9317554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2573122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7452865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1148012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5341507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31173761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20538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742345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IN" sz="1200" b="0" i="0" u="none" strike="noStrike" kern="1200" cap="none" dirty="0">
                <a:solidFill>
                  <a:schemeClr val="dk1"/>
                </a:solidFill>
                <a:effectLst/>
                <a:latin typeface="Arial"/>
                <a:ea typeface="Arial"/>
                <a:cs typeface="Arial"/>
                <a:sym typeface="Arial"/>
              </a:rPr>
              <a:t>Long description:</a:t>
            </a:r>
          </a:p>
          <a:p>
            <a:r>
              <a:rPr lang="en-US" sz="1200" b="0" i="0" u="none" strike="noStrike" kern="1200" cap="none" dirty="0">
                <a:solidFill>
                  <a:schemeClr val="dk1"/>
                </a:solidFill>
                <a:effectLst/>
                <a:latin typeface="Arial"/>
                <a:ea typeface="Arial"/>
                <a:cs typeface="Arial"/>
                <a:sym typeface="Arial"/>
              </a:rPr>
              <a:t>Illustration (a) shows the primary structure of hemoglobin. The primary structure of a protein is a sequence of amino acids linked together by peptide bonds, forming a polypeptide. A ball-and-stick model shows two amino acids linked by a peptide bond. The detailed structure is a chain of C; C bonded to R above and H below; N bonded to H above; C double-bonded to O below; C bonded to R and H on the right; N bonded to H above; and so on. </a:t>
            </a:r>
          </a:p>
          <a:p>
            <a:r>
              <a:rPr lang="en-US" sz="1200" b="0" i="0" u="none" strike="noStrike" kern="1200" cap="none" dirty="0">
                <a:solidFill>
                  <a:schemeClr val="dk1"/>
                </a:solidFill>
                <a:effectLst/>
                <a:latin typeface="Arial"/>
                <a:ea typeface="Arial"/>
                <a:cs typeface="Arial"/>
                <a:sym typeface="Arial"/>
              </a:rPr>
              <a:t>Illustration (b) shows the secondary structure of hemoglobin. Local regions of the resulting polypeptide can then be coiled into an alpha helix, one form of secondary structure. The illustration shows ball-and-stick model of a polypeptide chain condensed to form an alpha helix. </a:t>
            </a:r>
          </a:p>
          <a:p>
            <a:r>
              <a:rPr lang="en-US" sz="1200" b="0" i="0" u="none" strike="noStrike" kern="1200" cap="none" dirty="0">
                <a:solidFill>
                  <a:schemeClr val="dk1"/>
                </a:solidFill>
                <a:effectLst/>
                <a:latin typeface="Arial"/>
                <a:ea typeface="Arial"/>
                <a:cs typeface="Arial"/>
                <a:sym typeface="Arial"/>
              </a:rPr>
              <a:t>Illustration (c) shows the tertiary structure of hemoglobin. Regions of secondary structure associate in a specific manner to form the tertiary structure, which describes the final folding of the polypeptide. The illustration shows alpha helices folded in a specific manner to form the tertiary structure. </a:t>
            </a:r>
          </a:p>
          <a:p>
            <a:r>
              <a:rPr lang="en-US" sz="1200" b="0" i="0" u="none" strike="noStrike" kern="1200" cap="none" dirty="0">
                <a:solidFill>
                  <a:schemeClr val="dk1"/>
                </a:solidFill>
                <a:effectLst/>
                <a:latin typeface="Arial"/>
                <a:ea typeface="Arial"/>
                <a:cs typeface="Arial"/>
                <a:sym typeface="Arial"/>
              </a:rPr>
              <a:t>Illustration (d) shows the quaternary structure of hemoglobin. The quaternary structure describes the association of two or more polypeptides as they interact to form a functional </a:t>
            </a:r>
            <a:r>
              <a:rPr lang="en-US" sz="1200" b="0" i="0" u="none" strike="noStrike" kern="1200" cap="none" dirty="0" err="1">
                <a:solidFill>
                  <a:schemeClr val="dk1"/>
                </a:solidFill>
                <a:effectLst/>
                <a:latin typeface="Arial"/>
                <a:ea typeface="Arial"/>
                <a:cs typeface="Arial"/>
                <a:sym typeface="Arial"/>
              </a:rPr>
              <a:t>multimeric</a:t>
            </a:r>
            <a:r>
              <a:rPr lang="en-US" sz="1200" b="0" i="0" u="none" strike="noStrike" kern="1200" cap="none" dirty="0">
                <a:solidFill>
                  <a:schemeClr val="dk1"/>
                </a:solidFill>
                <a:effectLst/>
                <a:latin typeface="Arial"/>
                <a:ea typeface="Arial"/>
                <a:cs typeface="Arial"/>
                <a:sym typeface="Arial"/>
              </a:rPr>
              <a:t> protein. The illustration shows a folded protein subunit linked with three other folded subunits to form the quaternary structure. </a:t>
            </a: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95947021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93376305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IN" sz="1200" b="0" i="0" u="none" strike="noStrike" kern="1200" cap="none" dirty="0">
                <a:solidFill>
                  <a:schemeClr val="dk1"/>
                </a:solidFill>
                <a:effectLst/>
                <a:latin typeface="Arial"/>
                <a:ea typeface="Arial"/>
                <a:cs typeface="Arial"/>
                <a:sym typeface="Arial"/>
              </a:rPr>
              <a:t>Long description:</a:t>
            </a:r>
          </a:p>
          <a:p>
            <a:r>
              <a:rPr lang="en-US" sz="1200" b="0" i="0" u="none" strike="noStrike" kern="1200" cap="none" dirty="0">
                <a:solidFill>
                  <a:schemeClr val="dk1"/>
                </a:solidFill>
                <a:effectLst/>
                <a:latin typeface="Arial"/>
                <a:ea typeface="Arial"/>
                <a:cs typeface="Arial"/>
                <a:sym typeface="Arial"/>
              </a:rPr>
              <a:t>The details of insulin structure are as follows:</a:t>
            </a: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Insulin consists of two polypeptide chains labeled as A subunit and B subunit. </a:t>
            </a: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A subunit has the sequence from N-terminus to C-terminus which consists of 21 amino acids, as follows: H subscript 3 N superscript plus; glycine; isoleucine; </a:t>
            </a:r>
            <a:r>
              <a:rPr lang="en-US" sz="1200" b="0" i="0" u="none" strike="noStrike" kern="1200" cap="none" dirty="0" err="1">
                <a:solidFill>
                  <a:schemeClr val="dk1"/>
                </a:solidFill>
                <a:effectLst/>
                <a:latin typeface="Arial"/>
                <a:ea typeface="Arial"/>
                <a:cs typeface="Arial"/>
                <a:sym typeface="Arial"/>
              </a:rPr>
              <a:t>valine</a:t>
            </a:r>
            <a:r>
              <a:rPr lang="en-US" sz="1200" b="0" i="0" u="none" strike="noStrike" kern="1200" cap="none" dirty="0">
                <a:solidFill>
                  <a:schemeClr val="dk1"/>
                </a:solidFill>
                <a:effectLst/>
                <a:latin typeface="Arial"/>
                <a:ea typeface="Arial"/>
                <a:cs typeface="Arial"/>
                <a:sym typeface="Arial"/>
              </a:rPr>
              <a:t>; glutamate; glutamine; cysteine; cysteine; alanine; serine; </a:t>
            </a:r>
            <a:r>
              <a:rPr lang="en-US" sz="1200" b="0" i="0" u="none" strike="noStrike" kern="1200" cap="none" dirty="0" err="1">
                <a:solidFill>
                  <a:schemeClr val="dk1"/>
                </a:solidFill>
                <a:effectLst/>
                <a:latin typeface="Arial"/>
                <a:ea typeface="Arial"/>
                <a:cs typeface="Arial"/>
                <a:sym typeface="Arial"/>
              </a:rPr>
              <a:t>valine</a:t>
            </a:r>
            <a:r>
              <a:rPr lang="en-US" sz="1200" b="0" i="0" u="none" strike="noStrike" kern="1200" cap="none" dirty="0">
                <a:solidFill>
                  <a:schemeClr val="dk1"/>
                </a:solidFill>
                <a:effectLst/>
                <a:latin typeface="Arial"/>
                <a:ea typeface="Arial"/>
                <a:cs typeface="Arial"/>
                <a:sym typeface="Arial"/>
              </a:rPr>
              <a:t>; cysteine; serine; </a:t>
            </a:r>
            <a:r>
              <a:rPr lang="en-US" sz="1200" b="0" i="0" u="none" strike="noStrike" kern="1200" cap="none" dirty="0" err="1">
                <a:solidFill>
                  <a:schemeClr val="dk1"/>
                </a:solidFill>
                <a:effectLst/>
                <a:latin typeface="Arial"/>
                <a:ea typeface="Arial"/>
                <a:cs typeface="Arial"/>
                <a:sym typeface="Arial"/>
              </a:rPr>
              <a:t>leucine</a:t>
            </a:r>
            <a:r>
              <a:rPr lang="en-US" sz="1200" b="0" i="0" u="none" strike="noStrike" kern="1200" cap="none" dirty="0">
                <a:solidFill>
                  <a:schemeClr val="dk1"/>
                </a:solidFill>
                <a:effectLst/>
                <a:latin typeface="Arial"/>
                <a:ea typeface="Arial"/>
                <a:cs typeface="Arial"/>
                <a:sym typeface="Arial"/>
              </a:rPr>
              <a:t>; tyrosine; glutamine; </a:t>
            </a:r>
            <a:r>
              <a:rPr lang="en-US" sz="1200" b="0" i="0" u="none" strike="noStrike" kern="1200" cap="none" dirty="0" err="1">
                <a:solidFill>
                  <a:schemeClr val="dk1"/>
                </a:solidFill>
                <a:effectLst/>
                <a:latin typeface="Arial"/>
                <a:ea typeface="Arial"/>
                <a:cs typeface="Arial"/>
                <a:sym typeface="Arial"/>
              </a:rPr>
              <a:t>leucine</a:t>
            </a:r>
            <a:r>
              <a:rPr lang="en-US" sz="1200" b="0" i="0" u="none" strike="noStrike" kern="1200" cap="none" dirty="0">
                <a:solidFill>
                  <a:schemeClr val="dk1"/>
                </a:solidFill>
                <a:effectLst/>
                <a:latin typeface="Arial"/>
                <a:ea typeface="Arial"/>
                <a:cs typeface="Arial"/>
                <a:sym typeface="Arial"/>
              </a:rPr>
              <a:t>; glutamate; asparagine; tyrosine; cysteine; asparagine; C O </a:t>
            </a:r>
            <a:r>
              <a:rPr lang="en-US" sz="1200" b="0" i="0" u="none" strike="noStrike" kern="1200" cap="none" dirty="0" err="1">
                <a:solidFill>
                  <a:schemeClr val="dk1"/>
                </a:solidFill>
                <a:effectLst/>
                <a:latin typeface="Arial"/>
                <a:ea typeface="Arial"/>
                <a:cs typeface="Arial"/>
                <a:sym typeface="Arial"/>
              </a:rPr>
              <a:t>O</a:t>
            </a:r>
            <a:r>
              <a:rPr lang="en-US" sz="1200" b="0" i="0" u="none" strike="noStrike" kern="1200" cap="none" dirty="0">
                <a:solidFill>
                  <a:schemeClr val="dk1"/>
                </a:solidFill>
                <a:effectLst/>
                <a:latin typeface="Arial"/>
                <a:ea typeface="Arial"/>
                <a:cs typeface="Arial"/>
                <a:sym typeface="Arial"/>
              </a:rPr>
              <a:t> superscript minus. </a:t>
            </a: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B subunit has the sequence from N-terminus to C-terminus which consists of 30 amino acids, as follows: H subscript 3 N superscript plus; phenylalanine; </a:t>
            </a:r>
            <a:r>
              <a:rPr lang="en-US" sz="1200" b="0" i="0" u="none" strike="noStrike" kern="1200" cap="none" dirty="0" err="1">
                <a:solidFill>
                  <a:schemeClr val="dk1"/>
                </a:solidFill>
                <a:effectLst/>
                <a:latin typeface="Arial"/>
                <a:ea typeface="Arial"/>
                <a:cs typeface="Arial"/>
                <a:sym typeface="Arial"/>
              </a:rPr>
              <a:t>valine</a:t>
            </a:r>
            <a:r>
              <a:rPr lang="en-US" sz="1200" b="0" i="0" u="none" strike="noStrike" kern="1200" cap="none" dirty="0">
                <a:solidFill>
                  <a:schemeClr val="dk1"/>
                </a:solidFill>
                <a:effectLst/>
                <a:latin typeface="Arial"/>
                <a:ea typeface="Arial"/>
                <a:cs typeface="Arial"/>
                <a:sym typeface="Arial"/>
              </a:rPr>
              <a:t>; asparagine; glutamine; </a:t>
            </a:r>
            <a:r>
              <a:rPr lang="en-US" sz="1200" b="0" i="0" u="none" strike="noStrike" kern="1200" cap="none" dirty="0" err="1">
                <a:solidFill>
                  <a:schemeClr val="dk1"/>
                </a:solidFill>
                <a:effectLst/>
                <a:latin typeface="Arial"/>
                <a:ea typeface="Arial"/>
                <a:cs typeface="Arial"/>
                <a:sym typeface="Arial"/>
              </a:rPr>
              <a:t>histidine</a:t>
            </a:r>
            <a:r>
              <a:rPr lang="en-US" sz="1200" b="0" i="0" u="none" strike="noStrike" kern="1200" cap="none" dirty="0">
                <a:solidFill>
                  <a:schemeClr val="dk1"/>
                </a:solidFill>
                <a:effectLst/>
                <a:latin typeface="Arial"/>
                <a:ea typeface="Arial"/>
                <a:cs typeface="Arial"/>
                <a:sym typeface="Arial"/>
              </a:rPr>
              <a:t>; </a:t>
            </a:r>
            <a:r>
              <a:rPr lang="en-US" sz="1200" b="0" i="0" u="none" strike="noStrike" kern="1200" cap="none" dirty="0" err="1">
                <a:solidFill>
                  <a:schemeClr val="dk1"/>
                </a:solidFill>
                <a:effectLst/>
                <a:latin typeface="Arial"/>
                <a:ea typeface="Arial"/>
                <a:cs typeface="Arial"/>
                <a:sym typeface="Arial"/>
              </a:rPr>
              <a:t>leucine</a:t>
            </a:r>
            <a:r>
              <a:rPr lang="en-US" sz="1200" b="0" i="0" u="none" strike="noStrike" kern="1200" cap="none" dirty="0">
                <a:solidFill>
                  <a:schemeClr val="dk1"/>
                </a:solidFill>
                <a:effectLst/>
                <a:latin typeface="Arial"/>
                <a:ea typeface="Arial"/>
                <a:cs typeface="Arial"/>
                <a:sym typeface="Arial"/>
              </a:rPr>
              <a:t>; cysteine; glycine; serine; </a:t>
            </a:r>
            <a:r>
              <a:rPr lang="en-US" sz="1200" b="0" i="0" u="none" strike="noStrike" kern="1200" cap="none" dirty="0" err="1">
                <a:solidFill>
                  <a:schemeClr val="dk1"/>
                </a:solidFill>
                <a:effectLst/>
                <a:latin typeface="Arial"/>
                <a:ea typeface="Arial"/>
                <a:cs typeface="Arial"/>
                <a:sym typeface="Arial"/>
              </a:rPr>
              <a:t>histidine</a:t>
            </a:r>
            <a:r>
              <a:rPr lang="en-US" sz="1200" b="0" i="0" u="none" strike="noStrike" kern="1200" cap="none" dirty="0">
                <a:solidFill>
                  <a:schemeClr val="dk1"/>
                </a:solidFill>
                <a:effectLst/>
                <a:latin typeface="Arial"/>
                <a:ea typeface="Arial"/>
                <a:cs typeface="Arial"/>
                <a:sym typeface="Arial"/>
              </a:rPr>
              <a:t>; </a:t>
            </a:r>
            <a:r>
              <a:rPr lang="en-US" sz="1200" b="0" i="0" u="none" strike="noStrike" kern="1200" cap="none" dirty="0" err="1">
                <a:solidFill>
                  <a:schemeClr val="dk1"/>
                </a:solidFill>
                <a:effectLst/>
                <a:latin typeface="Arial"/>
                <a:ea typeface="Arial"/>
                <a:cs typeface="Arial"/>
                <a:sym typeface="Arial"/>
              </a:rPr>
              <a:t>leucine</a:t>
            </a:r>
            <a:r>
              <a:rPr lang="en-US" sz="1200" b="0" i="0" u="none" strike="noStrike" kern="1200" cap="none" dirty="0">
                <a:solidFill>
                  <a:schemeClr val="dk1"/>
                </a:solidFill>
                <a:effectLst/>
                <a:latin typeface="Arial"/>
                <a:ea typeface="Arial"/>
                <a:cs typeface="Arial"/>
                <a:sym typeface="Arial"/>
              </a:rPr>
              <a:t>; </a:t>
            </a:r>
            <a:r>
              <a:rPr lang="en-US" sz="1200" b="0" i="0" u="none" strike="noStrike" kern="1200" cap="none" dirty="0" err="1">
                <a:solidFill>
                  <a:schemeClr val="dk1"/>
                </a:solidFill>
                <a:effectLst/>
                <a:latin typeface="Arial"/>
                <a:ea typeface="Arial"/>
                <a:cs typeface="Arial"/>
                <a:sym typeface="Arial"/>
              </a:rPr>
              <a:t>valine</a:t>
            </a:r>
            <a:r>
              <a:rPr lang="en-US" sz="1200" b="0" i="0" u="none" strike="noStrike" kern="1200" cap="none" dirty="0">
                <a:solidFill>
                  <a:schemeClr val="dk1"/>
                </a:solidFill>
                <a:effectLst/>
                <a:latin typeface="Arial"/>
                <a:ea typeface="Arial"/>
                <a:cs typeface="Arial"/>
                <a:sym typeface="Arial"/>
              </a:rPr>
              <a:t>; glutamate; alanine; </a:t>
            </a:r>
            <a:r>
              <a:rPr lang="en-US" sz="1200" b="0" i="0" u="none" strike="noStrike" kern="1200" cap="none" dirty="0" err="1">
                <a:solidFill>
                  <a:schemeClr val="dk1"/>
                </a:solidFill>
                <a:effectLst/>
                <a:latin typeface="Arial"/>
                <a:ea typeface="Arial"/>
                <a:cs typeface="Arial"/>
                <a:sym typeface="Arial"/>
              </a:rPr>
              <a:t>leucine</a:t>
            </a:r>
            <a:r>
              <a:rPr lang="en-US" sz="1200" b="0" i="0" u="none" strike="noStrike" kern="1200" cap="none" dirty="0">
                <a:solidFill>
                  <a:schemeClr val="dk1"/>
                </a:solidFill>
                <a:effectLst/>
                <a:latin typeface="Arial"/>
                <a:ea typeface="Arial"/>
                <a:cs typeface="Arial"/>
                <a:sym typeface="Arial"/>
              </a:rPr>
              <a:t>; tyrosine; </a:t>
            </a:r>
            <a:r>
              <a:rPr lang="en-US" sz="1200" b="0" i="0" u="none" strike="noStrike" kern="1200" cap="none" dirty="0" err="1">
                <a:solidFill>
                  <a:schemeClr val="dk1"/>
                </a:solidFill>
                <a:effectLst/>
                <a:latin typeface="Arial"/>
                <a:ea typeface="Arial"/>
                <a:cs typeface="Arial"/>
                <a:sym typeface="Arial"/>
              </a:rPr>
              <a:t>leucine</a:t>
            </a:r>
            <a:r>
              <a:rPr lang="en-US" sz="1200" b="0" i="0" u="none" strike="noStrike" kern="1200" cap="none" dirty="0">
                <a:solidFill>
                  <a:schemeClr val="dk1"/>
                </a:solidFill>
                <a:effectLst/>
                <a:latin typeface="Arial"/>
                <a:ea typeface="Arial"/>
                <a:cs typeface="Arial"/>
                <a:sym typeface="Arial"/>
              </a:rPr>
              <a:t>; </a:t>
            </a:r>
            <a:r>
              <a:rPr lang="en-US" sz="1200" b="0" i="0" u="none" strike="noStrike" kern="1200" cap="none" dirty="0" err="1">
                <a:solidFill>
                  <a:schemeClr val="dk1"/>
                </a:solidFill>
                <a:effectLst/>
                <a:latin typeface="Arial"/>
                <a:ea typeface="Arial"/>
                <a:cs typeface="Arial"/>
                <a:sym typeface="Arial"/>
              </a:rPr>
              <a:t>valine</a:t>
            </a:r>
            <a:r>
              <a:rPr lang="en-US" sz="1200" b="0" i="0" u="none" strike="noStrike" kern="1200" cap="none" dirty="0">
                <a:solidFill>
                  <a:schemeClr val="dk1"/>
                </a:solidFill>
                <a:effectLst/>
                <a:latin typeface="Arial"/>
                <a:ea typeface="Arial"/>
                <a:cs typeface="Arial"/>
                <a:sym typeface="Arial"/>
              </a:rPr>
              <a:t>; cysteine; glycine; glutamate; arginine; glycine; phenylalanine; phenylalanine; tyrosine; threonine; </a:t>
            </a:r>
            <a:r>
              <a:rPr lang="en-US" sz="1200" b="0" i="0" u="none" strike="noStrike" kern="1200" cap="none" dirty="0" err="1">
                <a:solidFill>
                  <a:schemeClr val="dk1"/>
                </a:solidFill>
                <a:effectLst/>
                <a:latin typeface="Arial"/>
                <a:ea typeface="Arial"/>
                <a:cs typeface="Arial"/>
                <a:sym typeface="Arial"/>
              </a:rPr>
              <a:t>proline</a:t>
            </a:r>
            <a:r>
              <a:rPr lang="en-US" sz="1200" b="0" i="0" u="none" strike="noStrike" kern="1200" cap="none" dirty="0">
                <a:solidFill>
                  <a:schemeClr val="dk1"/>
                </a:solidFill>
                <a:effectLst/>
                <a:latin typeface="Arial"/>
                <a:ea typeface="Arial"/>
                <a:cs typeface="Arial"/>
                <a:sym typeface="Arial"/>
              </a:rPr>
              <a:t>; lysine; alanine; C O </a:t>
            </a:r>
            <a:r>
              <a:rPr lang="en-US" sz="1200" b="0" i="0" u="none" strike="noStrike" kern="1200" cap="none" dirty="0" err="1">
                <a:solidFill>
                  <a:schemeClr val="dk1"/>
                </a:solidFill>
                <a:effectLst/>
                <a:latin typeface="Arial"/>
                <a:ea typeface="Arial"/>
                <a:cs typeface="Arial"/>
                <a:sym typeface="Arial"/>
              </a:rPr>
              <a:t>O</a:t>
            </a:r>
            <a:r>
              <a:rPr lang="en-US" sz="1200" b="0" i="0" u="none" strike="noStrike" kern="1200" cap="none" dirty="0">
                <a:solidFill>
                  <a:schemeClr val="dk1"/>
                </a:solidFill>
                <a:effectLst/>
                <a:latin typeface="Arial"/>
                <a:ea typeface="Arial"/>
                <a:cs typeface="Arial"/>
                <a:sym typeface="Arial"/>
              </a:rPr>
              <a:t> superscript minus. </a:t>
            </a: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A disulfide bridge is formed within the A subunit between cysteine in the sixth position and cysteine in the eleventh position. A and B subunits are connected by two disulfide bonds; the first disulfide bond is formed between cysteine in the seventh position of A subunit and cysteine in the seventh position of B subunit; the second disulfide bond is formed between cysteine in the twentieth position of A subunit and cysteine in the nineteenth position of B subunit. </a:t>
            </a:r>
          </a:p>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90879399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28140665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62008060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08571752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5945390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IN" sz="1200" b="0" i="0" u="none" strike="noStrike" kern="1200" cap="none" dirty="0">
                <a:solidFill>
                  <a:schemeClr val="dk1"/>
                </a:solidFill>
                <a:effectLst/>
                <a:latin typeface="Arial"/>
                <a:ea typeface="Arial"/>
                <a:cs typeface="Arial"/>
                <a:sym typeface="Arial"/>
              </a:rPr>
              <a:t>Long description:</a:t>
            </a:r>
          </a:p>
          <a:p>
            <a:r>
              <a:rPr lang="en-US" sz="1200" b="0" i="0" u="none" strike="noStrike" kern="1200" cap="none" dirty="0">
                <a:solidFill>
                  <a:schemeClr val="dk1"/>
                </a:solidFill>
                <a:effectLst/>
                <a:latin typeface="Arial"/>
                <a:ea typeface="Arial"/>
                <a:cs typeface="Arial"/>
                <a:sym typeface="Arial"/>
              </a:rPr>
              <a:t>Illustration (a) shows the alpha helix. The alpha helix resembles a coil stabilized by hydrogen bonds between the C O and N H groups next to one peptide bond and those next to the peptide bonds four amino acids away in each direction. The illustration shows the ball-and-stick model of a polypeptide chain over an alpha helix. The alpha helix is held together by two kinds of bonds between C O and N H groups; the peptide bonds are between C and N and the hydrogen bonds are between O and H. The main polypeptide chain has C and N, and the side chains have R groups. </a:t>
            </a:r>
          </a:p>
          <a:p>
            <a:r>
              <a:rPr lang="en-US" sz="1200" b="0" i="0" u="none" strike="noStrike" kern="1200" cap="none" dirty="0">
                <a:solidFill>
                  <a:schemeClr val="dk1"/>
                </a:solidFill>
                <a:effectLst/>
                <a:latin typeface="Arial"/>
                <a:ea typeface="Arial"/>
                <a:cs typeface="Arial"/>
                <a:sym typeface="Arial"/>
              </a:rPr>
              <a:t>Illustration (b) shows the beta sheet. The beta sheet involves two polypeptide regions whose backbones are parallel, with the R groups of the amino acids sticking out on alternating sides of the sheet. This structure is stabilized by hydrogen bonds between the C O and N H groups next to peptide bonds in the adjacent polypeptide regions. The illustration shows the ball-and-stick model of two separate polypeptide chain over two parallel beta sheets. The beta sheets are held together by hydrogen bonds formed between C O and N H groups, adjacent to the peptide bonds. The main polypeptide chains have C and N, and the side chains have R groups.</a:t>
            </a:r>
          </a:p>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7510361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18158265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50970073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IN" sz="1200" b="0" i="0" u="none" strike="noStrike" kern="1200" cap="none" dirty="0">
                <a:solidFill>
                  <a:schemeClr val="dk1"/>
                </a:solidFill>
                <a:effectLst/>
                <a:latin typeface="Arial"/>
                <a:ea typeface="Arial"/>
                <a:cs typeface="Arial"/>
                <a:sym typeface="Arial"/>
              </a:rPr>
              <a:t>Long description:</a:t>
            </a:r>
          </a:p>
          <a:p>
            <a:r>
              <a:rPr lang="en-US" sz="1200" b="0" i="0" u="none" strike="noStrike" kern="1200" cap="none" dirty="0">
                <a:solidFill>
                  <a:schemeClr val="dk1"/>
                </a:solidFill>
                <a:effectLst/>
                <a:latin typeface="Arial"/>
                <a:ea typeface="Arial"/>
                <a:cs typeface="Arial"/>
                <a:sym typeface="Arial"/>
              </a:rPr>
              <a:t>Illustration (a) shows the alpha helix. The alpha helix resembles a coil stabilized by hydrogen bonds between the C O and N H groups next to one peptide bond and those next to the peptide bonds four amino acids away in each direction. The illustration shows the ball-and-stick model of a polypeptide chain over an alpha helix. The alpha helix is held together by two kinds of bonds between C O and N H groups; the peptide bonds are between C and N and the hydrogen bonds are between O and H. The main polypeptide chain has C and N, and the side chains have R groups. </a:t>
            </a:r>
          </a:p>
          <a:p>
            <a:r>
              <a:rPr lang="en-US" sz="1200" b="0" i="0" u="none" strike="noStrike" kern="1200" cap="none" dirty="0">
                <a:solidFill>
                  <a:schemeClr val="dk1"/>
                </a:solidFill>
                <a:effectLst/>
                <a:latin typeface="Arial"/>
                <a:ea typeface="Arial"/>
                <a:cs typeface="Arial"/>
                <a:sym typeface="Arial"/>
              </a:rPr>
              <a:t>Illustration (b) shows the beta sheet. The beta sheet involves two polypeptide regions whose backbones are parallel, with the R groups of the amino acids sticking out on alternating sides of the sheet. This structure is stabilized by hydrogen bonds between the C O and N H groups next to peptide bonds in the adjacent polypeptide regions. The illustration shows the ball-and-stick model of two separate polypeptide chain over two parallel beta sheets. The beta sheets are held together by hydrogen bonds formed between C O and N H groups, adjacent to the peptide bonds. The main polypeptide chains have C and N, and the side chains have R groups.</a:t>
            </a: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14985464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8953558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78065625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IN" sz="1200" b="0" i="0" u="none" strike="noStrike" kern="1200" cap="none" dirty="0">
                <a:solidFill>
                  <a:schemeClr val="dk1"/>
                </a:solidFill>
                <a:effectLst/>
                <a:latin typeface="Arial"/>
                <a:ea typeface="Arial"/>
                <a:cs typeface="Arial"/>
                <a:sym typeface="Arial"/>
              </a:rPr>
              <a:t>Long description:</a:t>
            </a:r>
          </a:p>
          <a:p>
            <a:r>
              <a:rPr lang="en-US" sz="1200" b="0" i="0" u="none" strike="noStrike" kern="1200" cap="none" dirty="0">
                <a:solidFill>
                  <a:schemeClr val="dk1"/>
                </a:solidFill>
                <a:effectLst/>
                <a:latin typeface="Arial"/>
                <a:ea typeface="Arial"/>
                <a:cs typeface="Arial"/>
                <a:sym typeface="Arial"/>
              </a:rPr>
              <a:t>Illustration (a) shows beta hyphen alpha hyphen beta motif with alpha helix represented as a spiral on the left or a cylinder on the right. The pattern of this motif shows N hyphen terminus, parallel beta sheet, random coils, alpha helix shown as a spiral on the left, and N hyphen terminus, parallel beta sheet, random coils, and alpha helix shown as a cylinder on the right. </a:t>
            </a:r>
          </a:p>
          <a:p>
            <a:r>
              <a:rPr lang="en-US" sz="1200" b="0" i="0" u="none" strike="noStrike" kern="1200" cap="none" dirty="0">
                <a:solidFill>
                  <a:schemeClr val="dk1"/>
                </a:solidFill>
                <a:effectLst/>
                <a:latin typeface="Arial"/>
                <a:ea typeface="Arial"/>
                <a:cs typeface="Arial"/>
                <a:sym typeface="Arial"/>
              </a:rPr>
              <a:t>Illustration (b) shows hairpin loop motif with antiparallel beta sheet arranged in the pattern of a hairpin loop. </a:t>
            </a:r>
          </a:p>
          <a:p>
            <a:r>
              <a:rPr lang="en-US" sz="1200" b="0" i="0" u="none" strike="noStrike" kern="1200" cap="none" dirty="0">
                <a:solidFill>
                  <a:schemeClr val="dk1"/>
                </a:solidFill>
                <a:effectLst/>
                <a:latin typeface="Arial"/>
                <a:ea typeface="Arial"/>
                <a:cs typeface="Arial"/>
                <a:sym typeface="Arial"/>
              </a:rPr>
              <a:t>Illustration (c) shows helix hyphen turn hyphen helix motif with two alpha helices that are represented as a cylinder arranged in the pattern of an alpha helix, a turn by random coil, and another alpha helix, thus forming the shape of an inverted U. </a:t>
            </a:r>
          </a:p>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36384788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21303283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99812287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32066436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21435183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IN" sz="1200" b="0" i="0" u="none" strike="noStrike" kern="1200" cap="none" dirty="0">
                <a:solidFill>
                  <a:schemeClr val="dk1"/>
                </a:solidFill>
                <a:effectLst/>
                <a:latin typeface="Arial"/>
                <a:ea typeface="Arial"/>
                <a:cs typeface="Arial"/>
                <a:sym typeface="Arial"/>
              </a:rPr>
              <a:t>Long</a:t>
            </a:r>
            <a:r>
              <a:rPr lang="en-IN" sz="1200" b="0" i="0" u="none" strike="noStrike" kern="1200" cap="none" baseline="0" dirty="0">
                <a:solidFill>
                  <a:schemeClr val="dk1"/>
                </a:solidFill>
                <a:effectLst/>
                <a:latin typeface="Arial"/>
                <a:ea typeface="Arial"/>
                <a:cs typeface="Arial"/>
                <a:sym typeface="Arial"/>
              </a:rPr>
              <a:t> description:</a:t>
            </a:r>
          </a:p>
          <a:p>
            <a:r>
              <a:rPr lang="en-US" sz="1200" b="0" i="0" u="none" strike="noStrike" kern="1200" cap="none" dirty="0">
                <a:solidFill>
                  <a:schemeClr val="dk1"/>
                </a:solidFill>
                <a:effectLst/>
                <a:latin typeface="Arial"/>
                <a:ea typeface="Arial"/>
                <a:cs typeface="Arial"/>
                <a:sym typeface="Arial"/>
              </a:rPr>
              <a:t>The cutaway view of one hair shows many cells having bundles of intermediate filaments. An exploded view of a single intermediate filament shows a bundle of many </a:t>
            </a:r>
            <a:r>
              <a:rPr lang="en-US" sz="1200" b="0" i="0" u="none" strike="noStrike" kern="1200" cap="none" dirty="0" err="1">
                <a:solidFill>
                  <a:schemeClr val="dk1"/>
                </a:solidFill>
                <a:effectLst/>
                <a:latin typeface="Arial"/>
                <a:ea typeface="Arial"/>
                <a:cs typeface="Arial"/>
                <a:sym typeface="Arial"/>
              </a:rPr>
              <a:t>protofilaments</a:t>
            </a:r>
            <a:r>
              <a:rPr lang="en-US" sz="1200" b="0" i="0" u="none" strike="noStrike" kern="1200" cap="none" dirty="0">
                <a:solidFill>
                  <a:schemeClr val="dk1"/>
                </a:solidFill>
                <a:effectLst/>
                <a:latin typeface="Arial"/>
                <a:ea typeface="Arial"/>
                <a:cs typeface="Arial"/>
                <a:sym typeface="Arial"/>
              </a:rPr>
              <a:t>. Each </a:t>
            </a:r>
            <a:r>
              <a:rPr lang="en-US" sz="1200" b="0" i="0" u="none" strike="noStrike" kern="1200" cap="none" dirty="0" err="1">
                <a:solidFill>
                  <a:schemeClr val="dk1"/>
                </a:solidFill>
                <a:effectLst/>
                <a:latin typeface="Arial"/>
                <a:ea typeface="Arial"/>
                <a:cs typeface="Arial"/>
                <a:sym typeface="Arial"/>
              </a:rPr>
              <a:t>protofilament</a:t>
            </a:r>
            <a:r>
              <a:rPr lang="en-US" sz="1200" b="0" i="0" u="none" strike="noStrike" kern="1200" cap="none" dirty="0">
                <a:solidFill>
                  <a:schemeClr val="dk1"/>
                </a:solidFill>
                <a:effectLst/>
                <a:latin typeface="Arial"/>
                <a:ea typeface="Arial"/>
                <a:cs typeface="Arial"/>
                <a:sym typeface="Arial"/>
              </a:rPr>
              <a:t> is made of a coiled pair of alpha helices. An exploded view of this coiled pair shows a single alpha helix of keratin.</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98424881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16127325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p>
          <a:p>
            <a:r>
              <a:rPr lang="en-US" sz="1200" b="0" i="0" u="none" strike="noStrike" kern="1200" cap="none" dirty="0">
                <a:solidFill>
                  <a:schemeClr val="dk1"/>
                </a:solidFill>
                <a:effectLst/>
                <a:latin typeface="Arial"/>
                <a:ea typeface="Arial"/>
                <a:cs typeface="Arial"/>
                <a:sym typeface="Arial"/>
              </a:rPr>
              <a:t>Illustration (a) shows a ball-and-stick model of </a:t>
            </a:r>
            <a:r>
              <a:rPr lang="en-US" sz="1200" b="0" i="0" u="none" strike="noStrike" kern="1200" cap="none" dirty="0" err="1">
                <a:solidFill>
                  <a:schemeClr val="dk1"/>
                </a:solidFill>
                <a:effectLst/>
                <a:latin typeface="Arial"/>
                <a:ea typeface="Arial"/>
                <a:cs typeface="Arial"/>
                <a:sym typeface="Arial"/>
              </a:rPr>
              <a:t>ribonuclease</a:t>
            </a:r>
            <a:r>
              <a:rPr lang="en-US" sz="1200" b="0" i="0" u="none" strike="noStrike" kern="1200" cap="none" dirty="0">
                <a:solidFill>
                  <a:schemeClr val="dk1"/>
                </a:solidFill>
                <a:effectLst/>
                <a:latin typeface="Arial"/>
                <a:ea typeface="Arial"/>
                <a:cs typeface="Arial"/>
                <a:sym typeface="Arial"/>
              </a:rPr>
              <a:t>. This model shows mainly the backbone carbon and nitrogen atoms plus the carbonyl oxygen atoms (all shown in light gray) and the hydrogen bonds between C O and N H groups (shown as dotted lines). Also shown are three R groups in purple which are important for catalytic activity and several disulfide bonds in gold which are important for tertiary structure. The illustration shows the three-dimensional structure of </a:t>
            </a:r>
            <a:r>
              <a:rPr lang="en-US" sz="1200" b="0" i="0" u="none" strike="noStrike" kern="1200" cap="none" dirty="0" err="1">
                <a:solidFill>
                  <a:schemeClr val="dk1"/>
                </a:solidFill>
                <a:effectLst/>
                <a:latin typeface="Arial"/>
                <a:ea typeface="Arial"/>
                <a:cs typeface="Arial"/>
                <a:sym typeface="Arial"/>
              </a:rPr>
              <a:t>ribonuclease</a:t>
            </a:r>
            <a:r>
              <a:rPr lang="en-US" sz="1200" b="0" i="0" u="none" strike="noStrike" kern="1200" cap="none" dirty="0">
                <a:solidFill>
                  <a:schemeClr val="dk1"/>
                </a:solidFill>
                <a:effectLst/>
                <a:latin typeface="Arial"/>
                <a:ea typeface="Arial"/>
                <a:cs typeface="Arial"/>
                <a:sym typeface="Arial"/>
              </a:rPr>
              <a:t>, as follows: N hyphen terminus; spiral polypeptide chain region having a R group; coiled region having a R group and a disulfide bond formed between amino acid 40 and amino acid 95; three antiparallel polypeptide backbone regions held together by many hydrogen bonds and having a disulfide bond formed between amino acid 26 and amino acid 84; coiled region; spiral backbone region having a R group; three twisted and anti-parallel polypeptide backbone regions held together by many hydrogen bonds and having a disulfide bond formed between amino acid 65 and amino acid 72; C hyphen terminus. </a:t>
            </a:r>
          </a:p>
          <a:p>
            <a:r>
              <a:rPr lang="en-US" sz="1200" b="0" i="0" u="none" strike="noStrike" kern="1200" cap="none" dirty="0">
                <a:solidFill>
                  <a:schemeClr val="dk1"/>
                </a:solidFill>
                <a:effectLst/>
                <a:latin typeface="Arial"/>
                <a:ea typeface="Arial"/>
                <a:cs typeface="Arial"/>
                <a:sym typeface="Arial"/>
              </a:rPr>
              <a:t>Illustration (b) shows a spiral-and-ribbon model of </a:t>
            </a:r>
            <a:r>
              <a:rPr lang="en-US" sz="1200" b="0" i="0" u="none" strike="noStrike" kern="1200" cap="none" dirty="0" err="1">
                <a:solidFill>
                  <a:schemeClr val="dk1"/>
                </a:solidFill>
                <a:effectLst/>
                <a:latin typeface="Arial"/>
                <a:ea typeface="Arial"/>
                <a:cs typeface="Arial"/>
                <a:sym typeface="Arial"/>
              </a:rPr>
              <a:t>ribonuclease</a:t>
            </a:r>
            <a:r>
              <a:rPr lang="en-US" sz="1200" b="0" i="0" u="none" strike="noStrike" kern="1200" cap="none" dirty="0">
                <a:solidFill>
                  <a:schemeClr val="dk1"/>
                </a:solidFill>
                <a:effectLst/>
                <a:latin typeface="Arial"/>
                <a:ea typeface="Arial"/>
                <a:cs typeface="Arial"/>
                <a:sym typeface="Arial"/>
              </a:rPr>
              <a:t>. In this model, alpha hyphen helical regions are shown as blue spirals and beta hyphen sheet regions are shown as purple ribbons with arrows pointing in the direction of the C hyphen terminus. Amino acid R groups and disulfide bonds have been omitted for clarity. Notice that the beta hyphen sheet structure is antiparallel and highly twisted and occurs in two distinct sections. The illustration shows the three hyphen dimensional structure of </a:t>
            </a:r>
            <a:r>
              <a:rPr lang="en-US" sz="1200" b="0" i="0" u="none" strike="noStrike" kern="1200" cap="none" dirty="0" err="1">
                <a:solidFill>
                  <a:schemeClr val="dk1"/>
                </a:solidFill>
                <a:effectLst/>
                <a:latin typeface="Arial"/>
                <a:ea typeface="Arial"/>
                <a:cs typeface="Arial"/>
                <a:sym typeface="Arial"/>
              </a:rPr>
              <a:t>ribonuclease</a:t>
            </a:r>
            <a:r>
              <a:rPr lang="en-US" sz="1200" b="0" i="0" u="none" strike="noStrike" kern="1200" cap="none" dirty="0">
                <a:solidFill>
                  <a:schemeClr val="dk1"/>
                </a:solidFill>
                <a:effectLst/>
                <a:latin typeface="Arial"/>
                <a:ea typeface="Arial"/>
                <a:cs typeface="Arial"/>
                <a:sym typeface="Arial"/>
              </a:rPr>
              <a:t>, as follows: N hyphen terminus; random coil; spiral alpha helix; random coils; spiral alpha helix; antiparallel ribbon beta sheets; random coils; spiral alpha helix; anti hyphen parallel ribbon beta sheets that are twisted; C hyphen terminus.  </a:t>
            </a: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61228119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78042613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p>
          <a:p>
            <a:r>
              <a:rPr lang="en-US" sz="1200" b="0" i="0" u="none" strike="noStrike" kern="1200" cap="none" dirty="0">
                <a:solidFill>
                  <a:schemeClr val="dk1"/>
                </a:solidFill>
                <a:effectLst/>
                <a:latin typeface="Arial"/>
                <a:ea typeface="Arial"/>
                <a:cs typeface="Arial"/>
                <a:sym typeface="Arial"/>
              </a:rPr>
              <a:t>Illustration (a) shows the tertiary structure of tobacco mosaic virus coat protein which is predominantly alpha helix. It consists of many alpha helices, very less number of beta sheets, and some random coils. </a:t>
            </a:r>
          </a:p>
          <a:p>
            <a:r>
              <a:rPr lang="en-US" sz="1200" b="0" i="0" u="none" strike="noStrike" kern="1200" cap="none" dirty="0">
                <a:solidFill>
                  <a:schemeClr val="dk1"/>
                </a:solidFill>
                <a:effectLst/>
                <a:latin typeface="Arial"/>
                <a:ea typeface="Arial"/>
                <a:cs typeface="Arial"/>
                <a:sym typeface="Arial"/>
              </a:rPr>
              <a:t>Illustration (b) shows the tertiary structure of V subscript 2 domain of immunoglobulin which is predominantly beta sheet. It consists of many beta sheets and some random coils, with no alpha helix. </a:t>
            </a:r>
          </a:p>
          <a:p>
            <a:r>
              <a:rPr lang="en-US" sz="1200" b="0" i="0" u="none" strike="noStrike" kern="1200" cap="none" dirty="0">
                <a:solidFill>
                  <a:schemeClr val="dk1"/>
                </a:solidFill>
                <a:effectLst/>
                <a:latin typeface="Arial"/>
                <a:ea typeface="Arial"/>
                <a:cs typeface="Arial"/>
                <a:sym typeface="Arial"/>
              </a:rPr>
              <a:t>Illustration (c) shows the tertiary structure of domain 2 of hexokinase which is a mixture of alpha helix and beta sheet. It consists of many alpha helices, many beta sheets, and some random coils. </a:t>
            </a:r>
          </a:p>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28490162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16472119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08295740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82203798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04676832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75720796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67851390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1499481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91679422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95062561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p>
          <a:p>
            <a:r>
              <a:rPr lang="en-US" sz="1200" b="0" i="0" u="none" strike="noStrike" kern="1200" cap="none" dirty="0">
                <a:solidFill>
                  <a:schemeClr val="dk1"/>
                </a:solidFill>
                <a:effectLst/>
                <a:latin typeface="Arial"/>
                <a:ea typeface="Arial"/>
                <a:cs typeface="Arial"/>
                <a:sym typeface="Arial"/>
              </a:rPr>
              <a:t>The details of nucleotide structure and its individual components are as follows:</a:t>
            </a:r>
          </a:p>
          <a:p>
            <a:r>
              <a:rPr lang="en-US" sz="1200" b="0" i="0" u="none" strike="noStrike" kern="1200" cap="none" dirty="0">
                <a:solidFill>
                  <a:schemeClr val="dk1"/>
                </a:solidFill>
                <a:effectLst/>
                <a:latin typeface="Arial"/>
                <a:ea typeface="Arial"/>
                <a:cs typeface="Arial"/>
                <a:sym typeface="Arial"/>
              </a:rPr>
              <a:t>Phosphate group: </a:t>
            </a: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Structure of phosphate group consists of a central P which is single-bonded to O superscript minus on the left, single-bonded to O on the right, double-bonded to O above, and single-bonded to O superscript minus below. </a:t>
            </a:r>
          </a:p>
          <a:p>
            <a:r>
              <a:rPr lang="en-US" sz="1200" b="0" i="0" u="none" strike="noStrike" kern="1200" cap="none" dirty="0">
                <a:solidFill>
                  <a:schemeClr val="dk1"/>
                </a:solidFill>
                <a:effectLst/>
                <a:latin typeface="Arial"/>
                <a:ea typeface="Arial"/>
                <a:cs typeface="Arial"/>
                <a:sym typeface="Arial"/>
              </a:rPr>
              <a:t>Sugars: </a:t>
            </a: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Structure of D hyphen </a:t>
            </a:r>
            <a:r>
              <a:rPr lang="en-US" sz="1200" b="0" i="0" u="none" strike="noStrike" kern="1200" cap="none" dirty="0" err="1">
                <a:solidFill>
                  <a:schemeClr val="dk1"/>
                </a:solidFill>
                <a:effectLst/>
                <a:latin typeface="Arial"/>
                <a:ea typeface="Arial"/>
                <a:cs typeface="Arial"/>
                <a:sym typeface="Arial"/>
              </a:rPr>
              <a:t>deoxyribose</a:t>
            </a:r>
            <a:r>
              <a:rPr lang="en-US" sz="1200" b="0" i="0" u="none" strike="noStrike" kern="1200" cap="none" dirty="0">
                <a:solidFill>
                  <a:schemeClr val="dk1"/>
                </a:solidFill>
                <a:effectLst/>
                <a:latin typeface="Arial"/>
                <a:ea typeface="Arial"/>
                <a:cs typeface="Arial"/>
                <a:sym typeface="Arial"/>
              </a:rPr>
              <a:t> present in D N A consists of a pentagon ring with O at the top. C 1 is single-bonded to O H above and H below; C 2 is single-bonded to H above and H below; C 3 is single-bonded to H above and O H below; and C 4 is single-bonded to C H subscript 2 O H above and H below. The H below C 2 is highlighted. </a:t>
            </a: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Structure of D hyphen ribose present in R N A consists of a pentagon ring with O at the top. C 1 is single-bonded to O H above and H below; C 2 is single-bonded to H above and O H below; C 3 is single-bonded to H above and O H below; and C 4 is single-bonded to C H subscript 2 O H above and H below. The O H below C 2 is highlighted. </a:t>
            </a:r>
          </a:p>
          <a:p>
            <a:r>
              <a:rPr lang="en-US" sz="1200" b="0" i="0" u="none" strike="noStrike" kern="1200" cap="none" dirty="0">
                <a:solidFill>
                  <a:schemeClr val="dk1"/>
                </a:solidFill>
                <a:effectLst/>
                <a:latin typeface="Arial"/>
                <a:ea typeface="Arial"/>
                <a:cs typeface="Arial"/>
                <a:sym typeface="Arial"/>
              </a:rPr>
              <a:t>Bases:</a:t>
            </a: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Purines are made of a double-ring </a:t>
            </a:r>
          </a:p>
          <a:p>
            <a:pPr marL="628650" lvl="1"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Structure of adenine represented as A consists of fused six-membered and five-membered rings. The first 6 positions belong to the six-membered ring and the last 3 positions belong to the 5-membered ring. The first position is N; second position is C single-bonded to H angled at bottom-left; third position is N; fourth position is C; fifth position is C; sixth position is C single-bonded to N H subscript 2 above; seventh position is N; eighth position is C single-bonded to H on the right; and ninth position is N single-bonded to H below.  </a:t>
            </a:r>
          </a:p>
          <a:p>
            <a:pPr marL="628650" lvl="1"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Structure of guanine represented as G consists of fused six-membered and five-membered rings. The first 6 positions belong to the six-membered ring and the last 3 positions belong to the 5-membered ring. The first position is N single-bonded to H angled at top-left; second position is C single-bonded to N H subscript 2 angled at bottom-left; third position is N; fourth position is C; fifth position is C; sixth position is C double-bonded to O above; seventh position is N; eighth position is C single-bonded to H on the right; and ninth position is N single-bonded to H below. </a:t>
            </a:r>
          </a:p>
          <a:p>
            <a:pPr marL="171450" lvl="0" indent="-171450">
              <a:buFont typeface="Arial" panose="020B0604020202020204" pitchFamily="34" charset="0"/>
              <a:buChar char="•"/>
            </a:pPr>
            <a:r>
              <a:rPr lang="en-US" sz="1200" b="0" i="0" u="none" strike="noStrike" kern="1200" cap="none" dirty="0" err="1">
                <a:solidFill>
                  <a:schemeClr val="dk1"/>
                </a:solidFill>
                <a:effectLst/>
                <a:latin typeface="Arial"/>
                <a:ea typeface="Arial"/>
                <a:cs typeface="Arial"/>
                <a:sym typeface="Arial"/>
              </a:rPr>
              <a:t>Pyramidines</a:t>
            </a:r>
            <a:r>
              <a:rPr lang="en-US" sz="1200" b="0" i="0" u="none" strike="noStrike" kern="1200" cap="none" dirty="0">
                <a:solidFill>
                  <a:schemeClr val="dk1"/>
                </a:solidFill>
                <a:effectLst/>
                <a:latin typeface="Arial"/>
                <a:ea typeface="Arial"/>
                <a:cs typeface="Arial"/>
                <a:sym typeface="Arial"/>
              </a:rPr>
              <a:t> are made of a single-ring </a:t>
            </a:r>
          </a:p>
          <a:p>
            <a:pPr marL="628650" lvl="1"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Structure of thymine represented as T, present only in D N A, consists of a six-membered ring. The first position is N single-bonded to H below; second position is C single-bonded to H angled at bottom-left; third position is C single-bonded to C H subscript 3 angled at top-left and highlighted; fourth position is C double-bonded to O above; fifth position is N single-bonded to H angled at top-right; and sixth position is C double-bonded to O angled at bottom-right. </a:t>
            </a:r>
          </a:p>
          <a:p>
            <a:pPr marL="628650" lvl="1"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Structure of uracil represented as U, present only in R N A, consists of a six-membered ring. The first position is N single-bonded to H below; second position is C single-bonded to H angled at bottom-left; third position is C single-bonded to H angled at top-left and highlighted; fourth position is C double-bonded to O above; fifth position is N single-bonded to H angled at top-right; and sixth position is C double-bonded to O angled at bottom-right. </a:t>
            </a:r>
          </a:p>
          <a:p>
            <a:pPr marL="628650" lvl="1"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Structure of cytosine represented as C consists of a six-membered ring. The first position is N single-bonded to H below; second position is C single-bonded to H angled at bottom-left; third position is C single-bonded to H angled at top-left; fourth position is N single-bonded to N H subscript 2 above; fifth position is N; and sixth position is C double-bonded to O angled at bottom-right. </a:t>
            </a:r>
          </a:p>
          <a:p>
            <a:r>
              <a:rPr lang="en-US" sz="1200" b="0" i="0" u="none" strike="noStrike" kern="1200" cap="none" dirty="0">
                <a:solidFill>
                  <a:schemeClr val="dk1"/>
                </a:solidFill>
                <a:effectLst/>
                <a:latin typeface="Arial"/>
                <a:ea typeface="Arial"/>
                <a:cs typeface="Arial"/>
                <a:sym typeface="Arial"/>
              </a:rPr>
              <a:t>Nucleotide:</a:t>
            </a: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Structure of a nucleotide consists of a phosphate group attached to a five carbon sugar, which is in turn attached to a nitrogenous base that can be a purine or a </a:t>
            </a:r>
            <a:r>
              <a:rPr lang="en-US" sz="1200" b="0" i="0" u="none" strike="noStrike" kern="1200" cap="none" dirty="0" err="1">
                <a:solidFill>
                  <a:schemeClr val="dk1"/>
                </a:solidFill>
                <a:effectLst/>
                <a:latin typeface="Arial"/>
                <a:ea typeface="Arial"/>
                <a:cs typeface="Arial"/>
                <a:sym typeface="Arial"/>
              </a:rPr>
              <a:t>pyramidine</a:t>
            </a:r>
            <a:r>
              <a:rPr lang="en-US" sz="1200" b="0" i="0" u="none" strike="noStrike" kern="1200" cap="none" dirty="0">
                <a:solidFill>
                  <a:schemeClr val="dk1"/>
                </a:solidFill>
                <a:effectLst/>
                <a:latin typeface="Arial"/>
                <a:ea typeface="Arial"/>
                <a:cs typeface="Arial"/>
                <a:sym typeface="Arial"/>
              </a:rPr>
              <a:t>. In R N A, C subscript 2 dash of sugar is single-bonded to O H; in D N A, C subscript 2 dash of sugar is single-bonded to H. The sugar is attached to the phosphate group by means of a </a:t>
            </a:r>
            <a:r>
              <a:rPr lang="en-US" sz="1200" b="0" i="0" u="none" strike="noStrike" kern="1200" cap="none" dirty="0" err="1">
                <a:solidFill>
                  <a:schemeClr val="dk1"/>
                </a:solidFill>
                <a:effectLst/>
                <a:latin typeface="Arial"/>
                <a:ea typeface="Arial"/>
                <a:cs typeface="Arial"/>
                <a:sym typeface="Arial"/>
              </a:rPr>
              <a:t>phosphoester</a:t>
            </a:r>
            <a:r>
              <a:rPr lang="en-US" sz="1200" b="0" i="0" u="none" strike="noStrike" kern="1200" cap="none" dirty="0">
                <a:solidFill>
                  <a:schemeClr val="dk1"/>
                </a:solidFill>
                <a:effectLst/>
                <a:latin typeface="Arial"/>
                <a:ea typeface="Arial"/>
                <a:cs typeface="Arial"/>
                <a:sym typeface="Arial"/>
              </a:rPr>
              <a:t> bond. </a:t>
            </a:r>
          </a:p>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63213184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3968782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48437934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data from the table for different bases are as follows:</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Purines:</a:t>
            </a:r>
            <a:endParaRPr lang="en-IN" sz="1200" b="0" i="0" u="none" strike="noStrike" kern="1200" cap="none" dirty="0">
              <a:solidFill>
                <a:schemeClr val="dk1"/>
              </a:solidFill>
              <a:effectLst/>
              <a:latin typeface="Arial"/>
              <a:ea typeface="Arial"/>
              <a:cs typeface="Arial"/>
              <a:sym typeface="Arial"/>
            </a:endParaRP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Adenine (A): RNA Nucleoside – Adenosine, RNA Nucleotide: Adenosine monophosphate (AMP); DNA, </a:t>
            </a:r>
            <a:r>
              <a:rPr lang="en-US" sz="1200" b="0" i="0" u="none" strike="noStrike" kern="1200" cap="none" dirty="0" err="1">
                <a:solidFill>
                  <a:schemeClr val="dk1"/>
                </a:solidFill>
                <a:effectLst/>
                <a:latin typeface="Arial"/>
                <a:ea typeface="Arial"/>
                <a:cs typeface="Arial"/>
                <a:sym typeface="Arial"/>
              </a:rPr>
              <a:t>Deoxynucleoside</a:t>
            </a:r>
            <a:r>
              <a:rPr lang="en-US" sz="1200" b="0" i="0" u="none" strike="noStrike" kern="1200" cap="none" dirty="0">
                <a:solidFill>
                  <a:schemeClr val="dk1"/>
                </a:solidFill>
                <a:effectLst/>
                <a:latin typeface="Arial"/>
                <a:ea typeface="Arial"/>
                <a:cs typeface="Arial"/>
                <a:sym typeface="Arial"/>
              </a:rPr>
              <a:t> – Deoxyadenosine, DNA </a:t>
            </a:r>
            <a:r>
              <a:rPr lang="en-US" sz="1200" b="0" i="0" u="none" strike="noStrike" kern="1200" cap="none" dirty="0" err="1">
                <a:solidFill>
                  <a:schemeClr val="dk1"/>
                </a:solidFill>
                <a:effectLst/>
                <a:latin typeface="Arial"/>
                <a:ea typeface="Arial"/>
                <a:cs typeface="Arial"/>
                <a:sym typeface="Arial"/>
              </a:rPr>
              <a:t>Deoxynucleotide</a:t>
            </a:r>
            <a:r>
              <a:rPr lang="en-US" sz="1200" b="0" i="0" u="none" strike="noStrike" kern="1200" cap="none" dirty="0">
                <a:solidFill>
                  <a:schemeClr val="dk1"/>
                </a:solidFill>
                <a:effectLst/>
                <a:latin typeface="Arial"/>
                <a:ea typeface="Arial"/>
                <a:cs typeface="Arial"/>
                <a:sym typeface="Arial"/>
              </a:rPr>
              <a:t> – Deoxyadenosine monophosphate (</a:t>
            </a:r>
            <a:r>
              <a:rPr lang="en-US" sz="1200" b="0" i="0" u="none" strike="noStrike" kern="1200" cap="none" dirty="0" err="1">
                <a:solidFill>
                  <a:schemeClr val="dk1"/>
                </a:solidFill>
                <a:effectLst/>
                <a:latin typeface="Arial"/>
                <a:ea typeface="Arial"/>
                <a:cs typeface="Arial"/>
                <a:sym typeface="Arial"/>
              </a:rPr>
              <a:t>dAMP</a:t>
            </a:r>
            <a:r>
              <a:rPr lang="en-US" sz="1200" b="0" i="0" u="none" strike="noStrike" kern="1200" cap="none" dirty="0">
                <a:solidFill>
                  <a:schemeClr val="dk1"/>
                </a:solidFill>
                <a:effectLst/>
                <a:latin typeface="Arial"/>
                <a:ea typeface="Arial"/>
                <a:cs typeface="Arial"/>
                <a:sym typeface="Arial"/>
              </a:rPr>
              <a:t>)</a:t>
            </a:r>
            <a:endParaRPr lang="en-IN" sz="1200" b="0" i="0" u="none" strike="noStrike" kern="1200" cap="none" dirty="0">
              <a:solidFill>
                <a:schemeClr val="dk1"/>
              </a:solidFill>
              <a:effectLst/>
              <a:latin typeface="Arial"/>
              <a:ea typeface="Arial"/>
              <a:cs typeface="Arial"/>
              <a:sym typeface="Arial"/>
            </a:endParaRP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Guanine (G): RNA Nucleoside – Guanosine, RNA Nucleotide: Guanosine monophosphate (GMP); DNA, </a:t>
            </a:r>
            <a:r>
              <a:rPr lang="en-US" sz="1200" b="0" i="0" u="none" strike="noStrike" kern="1200" cap="none" dirty="0" err="1">
                <a:solidFill>
                  <a:schemeClr val="dk1"/>
                </a:solidFill>
                <a:effectLst/>
                <a:latin typeface="Arial"/>
                <a:ea typeface="Arial"/>
                <a:cs typeface="Arial"/>
                <a:sym typeface="Arial"/>
              </a:rPr>
              <a:t>Deoxynucleoside</a:t>
            </a:r>
            <a:r>
              <a:rPr lang="en-US" sz="1200" b="0" i="0" u="none" strike="noStrike" kern="1200" cap="none" dirty="0">
                <a:solidFill>
                  <a:schemeClr val="dk1"/>
                </a:solidFill>
                <a:effectLst/>
                <a:latin typeface="Arial"/>
                <a:ea typeface="Arial"/>
                <a:cs typeface="Arial"/>
                <a:sym typeface="Arial"/>
              </a:rPr>
              <a:t> – </a:t>
            </a:r>
            <a:r>
              <a:rPr lang="en-US" sz="1200" b="0" i="0" u="none" strike="noStrike" kern="1200" cap="none" dirty="0" err="1">
                <a:solidFill>
                  <a:schemeClr val="dk1"/>
                </a:solidFill>
                <a:effectLst/>
                <a:latin typeface="Arial"/>
                <a:ea typeface="Arial"/>
                <a:cs typeface="Arial"/>
                <a:sym typeface="Arial"/>
              </a:rPr>
              <a:t>Deoxyguanosine</a:t>
            </a:r>
            <a:r>
              <a:rPr lang="en-US" sz="1200" b="0" i="0" u="none" strike="noStrike" kern="1200" cap="none" dirty="0">
                <a:solidFill>
                  <a:schemeClr val="dk1"/>
                </a:solidFill>
                <a:effectLst/>
                <a:latin typeface="Arial"/>
                <a:ea typeface="Arial"/>
                <a:cs typeface="Arial"/>
                <a:sym typeface="Arial"/>
              </a:rPr>
              <a:t>, DNA </a:t>
            </a:r>
            <a:r>
              <a:rPr lang="en-US" sz="1200" b="0" i="0" u="none" strike="noStrike" kern="1200" cap="none" dirty="0" err="1">
                <a:solidFill>
                  <a:schemeClr val="dk1"/>
                </a:solidFill>
                <a:effectLst/>
                <a:latin typeface="Arial"/>
                <a:ea typeface="Arial"/>
                <a:cs typeface="Arial"/>
                <a:sym typeface="Arial"/>
              </a:rPr>
              <a:t>Deoxynucleotide</a:t>
            </a:r>
            <a:r>
              <a:rPr lang="en-US" sz="1200" b="0" i="0" u="none" strike="noStrike" kern="1200" cap="none" dirty="0">
                <a:solidFill>
                  <a:schemeClr val="dk1"/>
                </a:solidFill>
                <a:effectLst/>
                <a:latin typeface="Arial"/>
                <a:ea typeface="Arial"/>
                <a:cs typeface="Arial"/>
                <a:sym typeface="Arial"/>
              </a:rPr>
              <a:t> – </a:t>
            </a:r>
            <a:r>
              <a:rPr lang="en-US" sz="1200" b="0" i="0" u="none" strike="noStrike" kern="1200" cap="none" dirty="0" err="1">
                <a:solidFill>
                  <a:schemeClr val="dk1"/>
                </a:solidFill>
                <a:effectLst/>
                <a:latin typeface="Arial"/>
                <a:ea typeface="Arial"/>
                <a:cs typeface="Arial"/>
                <a:sym typeface="Arial"/>
              </a:rPr>
              <a:t>Deoxyguanosine</a:t>
            </a:r>
            <a:r>
              <a:rPr lang="en-US" sz="1200" b="0" i="0" u="none" strike="noStrike" kern="1200" cap="none" dirty="0">
                <a:solidFill>
                  <a:schemeClr val="dk1"/>
                </a:solidFill>
                <a:effectLst/>
                <a:latin typeface="Arial"/>
                <a:ea typeface="Arial"/>
                <a:cs typeface="Arial"/>
                <a:sym typeface="Arial"/>
              </a:rPr>
              <a:t> monophosphate (</a:t>
            </a:r>
            <a:r>
              <a:rPr lang="en-US" sz="1200" b="0" i="0" u="none" strike="noStrike" kern="1200" cap="none" dirty="0" err="1">
                <a:solidFill>
                  <a:schemeClr val="dk1"/>
                </a:solidFill>
                <a:effectLst/>
                <a:latin typeface="Arial"/>
                <a:ea typeface="Arial"/>
                <a:cs typeface="Arial"/>
                <a:sym typeface="Arial"/>
              </a:rPr>
              <a:t>dGMP</a:t>
            </a:r>
            <a:r>
              <a:rPr lang="en-US" sz="1200" b="0" i="0" u="none" strike="noStrike" kern="1200" cap="none" dirty="0">
                <a:solidFill>
                  <a:schemeClr val="dk1"/>
                </a:solidFill>
                <a:effectLst/>
                <a:latin typeface="Arial"/>
                <a:ea typeface="Arial"/>
                <a:cs typeface="Arial"/>
                <a:sym typeface="Arial"/>
              </a:rPr>
              <a:t>)</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Pyrimidines:</a:t>
            </a:r>
            <a:endParaRPr lang="en-IN" sz="1200" b="0" i="0" u="none" strike="noStrike" kern="1200" cap="none" dirty="0">
              <a:solidFill>
                <a:schemeClr val="dk1"/>
              </a:solidFill>
              <a:effectLst/>
              <a:latin typeface="Arial"/>
              <a:ea typeface="Arial"/>
              <a:cs typeface="Arial"/>
              <a:sym typeface="Arial"/>
            </a:endParaRP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Cytosine (C): RNA Nucleoside – Cytidine, RNA Nucleotide: Cytidine monophosphate (CMP); DNA, </a:t>
            </a:r>
            <a:r>
              <a:rPr lang="en-US" sz="1200" b="0" i="0" u="none" strike="noStrike" kern="1200" cap="none" dirty="0" err="1">
                <a:solidFill>
                  <a:schemeClr val="dk1"/>
                </a:solidFill>
                <a:effectLst/>
                <a:latin typeface="Arial"/>
                <a:ea typeface="Arial"/>
                <a:cs typeface="Arial"/>
                <a:sym typeface="Arial"/>
              </a:rPr>
              <a:t>Deoxynucleoside</a:t>
            </a:r>
            <a:r>
              <a:rPr lang="en-US" sz="1200" b="0" i="0" u="none" strike="noStrike" kern="1200" cap="none" dirty="0">
                <a:solidFill>
                  <a:schemeClr val="dk1"/>
                </a:solidFill>
                <a:effectLst/>
                <a:latin typeface="Arial"/>
                <a:ea typeface="Arial"/>
                <a:cs typeface="Arial"/>
                <a:sym typeface="Arial"/>
              </a:rPr>
              <a:t> – Deoxycytidine, DNA </a:t>
            </a:r>
            <a:r>
              <a:rPr lang="en-US" sz="1200" b="0" i="0" u="none" strike="noStrike" kern="1200" cap="none" dirty="0" err="1">
                <a:solidFill>
                  <a:schemeClr val="dk1"/>
                </a:solidFill>
                <a:effectLst/>
                <a:latin typeface="Arial"/>
                <a:ea typeface="Arial"/>
                <a:cs typeface="Arial"/>
                <a:sym typeface="Arial"/>
              </a:rPr>
              <a:t>Deoxynucleotide</a:t>
            </a:r>
            <a:r>
              <a:rPr lang="en-US" sz="1200" b="0" i="0" u="none" strike="noStrike" kern="1200" cap="none" dirty="0">
                <a:solidFill>
                  <a:schemeClr val="dk1"/>
                </a:solidFill>
                <a:effectLst/>
                <a:latin typeface="Arial"/>
                <a:ea typeface="Arial"/>
                <a:cs typeface="Arial"/>
                <a:sym typeface="Arial"/>
              </a:rPr>
              <a:t> – Deoxycytidine monophosphate (</a:t>
            </a:r>
            <a:r>
              <a:rPr lang="en-US" sz="1200" b="0" i="0" u="none" strike="noStrike" kern="1200" cap="none" dirty="0" err="1">
                <a:solidFill>
                  <a:schemeClr val="dk1"/>
                </a:solidFill>
                <a:effectLst/>
                <a:latin typeface="Arial"/>
                <a:ea typeface="Arial"/>
                <a:cs typeface="Arial"/>
                <a:sym typeface="Arial"/>
              </a:rPr>
              <a:t>dCMP</a:t>
            </a:r>
            <a:r>
              <a:rPr lang="en-US" sz="1200" b="0" i="0" u="none" strike="noStrike" kern="1200" cap="none" dirty="0">
                <a:solidFill>
                  <a:schemeClr val="dk1"/>
                </a:solidFill>
                <a:effectLst/>
                <a:latin typeface="Arial"/>
                <a:ea typeface="Arial"/>
                <a:cs typeface="Arial"/>
                <a:sym typeface="Arial"/>
              </a:rPr>
              <a:t>)</a:t>
            </a:r>
            <a:endParaRPr lang="en-IN" sz="1200" b="0" i="0" u="none" strike="noStrike" kern="1200" cap="none" dirty="0">
              <a:solidFill>
                <a:schemeClr val="dk1"/>
              </a:solidFill>
              <a:effectLst/>
              <a:latin typeface="Arial"/>
              <a:ea typeface="Arial"/>
              <a:cs typeface="Arial"/>
              <a:sym typeface="Arial"/>
            </a:endParaRP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Uracil (U): RNA Nucleoside – Uridine, RNA Nucleotide: Uridine monophosphate (UMP) </a:t>
            </a:r>
            <a:endParaRPr lang="en-IN" sz="1200" b="0" i="0" u="none" strike="noStrike" kern="1200" cap="none" dirty="0">
              <a:solidFill>
                <a:schemeClr val="dk1"/>
              </a:solidFill>
              <a:effectLst/>
              <a:latin typeface="Arial"/>
              <a:ea typeface="Arial"/>
              <a:cs typeface="Arial"/>
              <a:sym typeface="Arial"/>
            </a:endParaRP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Thymine (T): DNA, </a:t>
            </a:r>
            <a:r>
              <a:rPr lang="en-US" sz="1200" b="0" i="0" u="none" strike="noStrike" kern="1200" cap="none" dirty="0" err="1">
                <a:solidFill>
                  <a:schemeClr val="dk1"/>
                </a:solidFill>
                <a:effectLst/>
                <a:latin typeface="Arial"/>
                <a:ea typeface="Arial"/>
                <a:cs typeface="Arial"/>
                <a:sym typeface="Arial"/>
              </a:rPr>
              <a:t>Deoxynucleoside</a:t>
            </a:r>
            <a:r>
              <a:rPr lang="en-US" sz="1200" b="0" i="0" u="none" strike="noStrike" kern="1200" cap="none" dirty="0">
                <a:solidFill>
                  <a:schemeClr val="dk1"/>
                </a:solidFill>
                <a:effectLst/>
                <a:latin typeface="Arial"/>
                <a:ea typeface="Arial"/>
                <a:cs typeface="Arial"/>
                <a:sym typeface="Arial"/>
              </a:rPr>
              <a:t> – </a:t>
            </a:r>
            <a:r>
              <a:rPr lang="en-US" sz="1200" b="0" i="0" u="none" strike="noStrike" kern="1200" cap="none" dirty="0" err="1">
                <a:solidFill>
                  <a:schemeClr val="dk1"/>
                </a:solidFill>
                <a:effectLst/>
                <a:latin typeface="Arial"/>
                <a:ea typeface="Arial"/>
                <a:cs typeface="Arial"/>
                <a:sym typeface="Arial"/>
              </a:rPr>
              <a:t>Deoxythymidine</a:t>
            </a:r>
            <a:r>
              <a:rPr lang="en-US" sz="1200" b="0" i="0" u="none" strike="noStrike" kern="1200" cap="none" dirty="0">
                <a:solidFill>
                  <a:schemeClr val="dk1"/>
                </a:solidFill>
                <a:effectLst/>
                <a:latin typeface="Arial"/>
                <a:ea typeface="Arial"/>
                <a:cs typeface="Arial"/>
                <a:sym typeface="Arial"/>
              </a:rPr>
              <a:t>, DNA </a:t>
            </a:r>
            <a:r>
              <a:rPr lang="en-US" sz="1200" b="0" i="0" u="none" strike="noStrike" kern="1200" cap="none" dirty="0" err="1">
                <a:solidFill>
                  <a:schemeClr val="dk1"/>
                </a:solidFill>
                <a:effectLst/>
                <a:latin typeface="Arial"/>
                <a:ea typeface="Arial"/>
                <a:cs typeface="Arial"/>
                <a:sym typeface="Arial"/>
              </a:rPr>
              <a:t>Deoxynucleotide</a:t>
            </a:r>
            <a:r>
              <a:rPr lang="en-US" sz="1200" b="0" i="0" u="none" strike="noStrike" kern="1200" cap="none" dirty="0">
                <a:solidFill>
                  <a:schemeClr val="dk1"/>
                </a:solidFill>
                <a:effectLst/>
                <a:latin typeface="Arial"/>
                <a:ea typeface="Arial"/>
                <a:cs typeface="Arial"/>
                <a:sym typeface="Arial"/>
              </a:rPr>
              <a:t> – </a:t>
            </a:r>
            <a:r>
              <a:rPr lang="en-US" sz="1200" b="0" i="0" u="none" strike="noStrike" kern="1200" cap="none" dirty="0" err="1">
                <a:solidFill>
                  <a:schemeClr val="dk1"/>
                </a:solidFill>
                <a:effectLst/>
                <a:latin typeface="Arial"/>
                <a:ea typeface="Arial"/>
                <a:cs typeface="Arial"/>
                <a:sym typeface="Arial"/>
              </a:rPr>
              <a:t>Deoxythymidine</a:t>
            </a:r>
            <a:r>
              <a:rPr lang="en-US" sz="1200" b="0" i="0" u="none" strike="noStrike" kern="1200" cap="none" dirty="0">
                <a:solidFill>
                  <a:schemeClr val="dk1"/>
                </a:solidFill>
                <a:effectLst/>
                <a:latin typeface="Arial"/>
                <a:ea typeface="Arial"/>
                <a:cs typeface="Arial"/>
                <a:sym typeface="Arial"/>
              </a:rPr>
              <a:t> monophosphate (dTMP)</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22962107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p>
          <a:p>
            <a:r>
              <a:rPr lang="en-US" sz="1200" b="0" i="0" u="none" strike="noStrike" kern="1200" cap="none" dirty="0">
                <a:solidFill>
                  <a:schemeClr val="dk1"/>
                </a:solidFill>
                <a:effectLst/>
                <a:latin typeface="Arial"/>
                <a:ea typeface="Arial"/>
                <a:cs typeface="Arial"/>
                <a:sym typeface="Arial"/>
              </a:rPr>
              <a:t>The details of the structure are as follows:</a:t>
            </a:r>
          </a:p>
          <a:p>
            <a:pPr marL="171450" lvl="0" indent="-171450" fontAlgn="ctr">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Adenosine is made of adenine plus ribose</a:t>
            </a:r>
          </a:p>
          <a:p>
            <a:pPr marL="171450" lvl="0" indent="-171450" fontAlgn="ctr">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A M P or adenosine monophosphate is made of adenosine plus a phosphate group</a:t>
            </a:r>
          </a:p>
          <a:p>
            <a:pPr marL="171450" lvl="0" indent="-171450" fontAlgn="ctr">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A D P or adenosine </a:t>
            </a:r>
            <a:r>
              <a:rPr lang="en-US" sz="1200" b="0" i="0" u="none" strike="noStrike" kern="1200" cap="none" dirty="0" err="1">
                <a:solidFill>
                  <a:schemeClr val="dk1"/>
                </a:solidFill>
                <a:effectLst/>
                <a:latin typeface="Arial"/>
                <a:ea typeface="Arial"/>
                <a:cs typeface="Arial"/>
                <a:sym typeface="Arial"/>
              </a:rPr>
              <a:t>diphosphate</a:t>
            </a:r>
            <a:r>
              <a:rPr lang="en-US" sz="1200" b="0" i="0" u="none" strike="noStrike" kern="1200" cap="none" dirty="0">
                <a:solidFill>
                  <a:schemeClr val="dk1"/>
                </a:solidFill>
                <a:effectLst/>
                <a:latin typeface="Arial"/>
                <a:ea typeface="Arial"/>
                <a:cs typeface="Arial"/>
                <a:sym typeface="Arial"/>
              </a:rPr>
              <a:t> is made of A M P plus a phosphate group</a:t>
            </a:r>
          </a:p>
          <a:p>
            <a:pPr marL="171450" lvl="0" indent="-171450" fontAlgn="ctr">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A T P or adenosine triphosphate is made of A D P plus a phosphate group</a:t>
            </a: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Structure of adenine consists of fused six-membered and five-membered rings. The first 6 positions belong to the six-membered ring and the last 3 positions belong to the 5-membered ring. The first position is N; second position is C single-bonded to H angled at bottom-left; third position is N; fourth position is C; fifth position is C; sixth position is C single-bonded to N H subscript 2 above; seventh position is N; eighth position is C single-bonded to H on the right; and ninth position is N single-bonded to the ribose below. </a:t>
            </a: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Structure of ribose consists of a five-membered ring with O at the top. C 1 is single-bonded to adenine above and H below; C 2 is single-bonded to H above and O H below; C 3 is single-bonded to H above and O H below; and C 4 is single-bonded to C H subscript 2 O phosphate groups above and H below. </a:t>
            </a: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Ribose sugar is attached to alpha phosphate group by means of a </a:t>
            </a:r>
            <a:r>
              <a:rPr lang="en-US" sz="1200" b="0" i="0" u="none" strike="noStrike" kern="1200" cap="none" dirty="0" err="1">
                <a:solidFill>
                  <a:schemeClr val="dk1"/>
                </a:solidFill>
                <a:effectLst/>
                <a:latin typeface="Arial"/>
                <a:ea typeface="Arial"/>
                <a:cs typeface="Arial"/>
                <a:sym typeface="Arial"/>
              </a:rPr>
              <a:t>phosphoester</a:t>
            </a:r>
            <a:r>
              <a:rPr lang="en-US" sz="1200" b="0" i="0" u="none" strike="noStrike" kern="1200" cap="none" dirty="0">
                <a:solidFill>
                  <a:schemeClr val="dk1"/>
                </a:solidFill>
                <a:effectLst/>
                <a:latin typeface="Arial"/>
                <a:ea typeface="Arial"/>
                <a:cs typeface="Arial"/>
                <a:sym typeface="Arial"/>
              </a:rPr>
              <a:t> bond. Beta and gamma phosphate groups are attached by means of </a:t>
            </a:r>
            <a:r>
              <a:rPr lang="en-US" sz="1200" b="0" i="0" u="none" strike="noStrike" kern="1200" cap="none" dirty="0" err="1">
                <a:solidFill>
                  <a:schemeClr val="dk1"/>
                </a:solidFill>
                <a:effectLst/>
                <a:latin typeface="Arial"/>
                <a:ea typeface="Arial"/>
                <a:cs typeface="Arial"/>
                <a:sym typeface="Arial"/>
              </a:rPr>
              <a:t>phosphoanhydride</a:t>
            </a:r>
            <a:r>
              <a:rPr lang="en-US" sz="1200" b="0" i="0" u="none" strike="noStrike" kern="1200" cap="none" dirty="0">
                <a:solidFill>
                  <a:schemeClr val="dk1"/>
                </a:solidFill>
                <a:effectLst/>
                <a:latin typeface="Arial"/>
                <a:ea typeface="Arial"/>
                <a:cs typeface="Arial"/>
                <a:sym typeface="Arial"/>
              </a:rPr>
              <a:t> bonds.  </a:t>
            </a:r>
          </a:p>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23262099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56875202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p>
          <a:p>
            <a:r>
              <a:rPr lang="en-US" sz="1200" b="0" i="0" u="none" strike="noStrike" kern="1200" cap="none" dirty="0">
                <a:solidFill>
                  <a:schemeClr val="dk1"/>
                </a:solidFill>
                <a:effectLst/>
                <a:latin typeface="Arial"/>
                <a:ea typeface="Arial"/>
                <a:cs typeface="Arial"/>
                <a:sym typeface="Arial"/>
              </a:rPr>
              <a:t>Structure (a) of D N A shows a nucleotide chain consisting of a sugar-phosphate backbone. The sequence of nucleosides from 5 dash end to 3 dash end is thymidine, adenosine, </a:t>
            </a:r>
            <a:r>
              <a:rPr lang="en-US" sz="1200" b="0" i="0" u="none" strike="noStrike" kern="1200" cap="none" dirty="0" err="1">
                <a:solidFill>
                  <a:schemeClr val="dk1"/>
                </a:solidFill>
                <a:effectLst/>
                <a:latin typeface="Arial"/>
                <a:ea typeface="Arial"/>
                <a:cs typeface="Arial"/>
                <a:sym typeface="Arial"/>
              </a:rPr>
              <a:t>cytidine</a:t>
            </a:r>
            <a:r>
              <a:rPr lang="en-US" sz="1200" b="0" i="0" u="none" strike="noStrike" kern="1200" cap="none" dirty="0">
                <a:solidFill>
                  <a:schemeClr val="dk1"/>
                </a:solidFill>
                <a:effectLst/>
                <a:latin typeface="Arial"/>
                <a:ea typeface="Arial"/>
                <a:cs typeface="Arial"/>
                <a:sym typeface="Arial"/>
              </a:rPr>
              <a:t>, and </a:t>
            </a:r>
            <a:r>
              <a:rPr lang="en-US" sz="1200" b="0" i="0" u="none" strike="noStrike" kern="1200" cap="none" dirty="0" err="1">
                <a:solidFill>
                  <a:schemeClr val="dk1"/>
                </a:solidFill>
                <a:effectLst/>
                <a:latin typeface="Arial"/>
                <a:ea typeface="Arial"/>
                <a:cs typeface="Arial"/>
                <a:sym typeface="Arial"/>
              </a:rPr>
              <a:t>guanosine</a:t>
            </a:r>
            <a:r>
              <a:rPr lang="en-US" sz="1200" b="0" i="0" u="none" strike="noStrike" kern="1200" cap="none" dirty="0">
                <a:solidFill>
                  <a:schemeClr val="dk1"/>
                </a:solidFill>
                <a:effectLst/>
                <a:latin typeface="Arial"/>
                <a:ea typeface="Arial"/>
                <a:cs typeface="Arial"/>
                <a:sym typeface="Arial"/>
              </a:rPr>
              <a:t> which are linked by </a:t>
            </a:r>
            <a:r>
              <a:rPr lang="en-US" sz="1200" b="0" i="0" u="none" strike="noStrike" kern="1200" cap="none" dirty="0" err="1">
                <a:solidFill>
                  <a:schemeClr val="dk1"/>
                </a:solidFill>
                <a:effectLst/>
                <a:latin typeface="Arial"/>
                <a:ea typeface="Arial"/>
                <a:cs typeface="Arial"/>
                <a:sym typeface="Arial"/>
              </a:rPr>
              <a:t>phosphodiester</a:t>
            </a:r>
            <a:r>
              <a:rPr lang="en-US" sz="1200" b="0" i="0" u="none" strike="noStrike" kern="1200" cap="none" dirty="0">
                <a:solidFill>
                  <a:schemeClr val="dk1"/>
                </a:solidFill>
                <a:effectLst/>
                <a:latin typeface="Arial"/>
                <a:ea typeface="Arial"/>
                <a:cs typeface="Arial"/>
                <a:sym typeface="Arial"/>
              </a:rPr>
              <a:t> bridge. </a:t>
            </a:r>
          </a:p>
          <a:p>
            <a:r>
              <a:rPr lang="en-US" sz="1200" b="0" i="0" u="none" strike="noStrike" kern="1200" cap="none" dirty="0">
                <a:solidFill>
                  <a:schemeClr val="dk1"/>
                </a:solidFill>
                <a:effectLst/>
                <a:latin typeface="Arial"/>
                <a:ea typeface="Arial"/>
                <a:cs typeface="Arial"/>
                <a:sym typeface="Arial"/>
              </a:rPr>
              <a:t>Structure (b) of R N A shows a nucleotide chain consisting of a sugar-phosphate backbone. The sequence of nucleosides from 5 dash end to 3 dash end is </a:t>
            </a:r>
            <a:r>
              <a:rPr lang="en-US" sz="1200" b="0" i="0" u="none" strike="noStrike" kern="1200" cap="none" dirty="0" err="1">
                <a:solidFill>
                  <a:schemeClr val="dk1"/>
                </a:solidFill>
                <a:effectLst/>
                <a:latin typeface="Arial"/>
                <a:ea typeface="Arial"/>
                <a:cs typeface="Arial"/>
                <a:sym typeface="Arial"/>
              </a:rPr>
              <a:t>uridine</a:t>
            </a:r>
            <a:r>
              <a:rPr lang="en-US" sz="1200" b="0" i="0" u="none" strike="noStrike" kern="1200" cap="none" dirty="0">
                <a:solidFill>
                  <a:schemeClr val="dk1"/>
                </a:solidFill>
                <a:effectLst/>
                <a:latin typeface="Arial"/>
                <a:ea typeface="Arial"/>
                <a:cs typeface="Arial"/>
                <a:sym typeface="Arial"/>
              </a:rPr>
              <a:t>, adenosine, </a:t>
            </a:r>
            <a:r>
              <a:rPr lang="en-US" sz="1200" b="0" i="0" u="none" strike="noStrike" kern="1200" cap="none" dirty="0" err="1">
                <a:solidFill>
                  <a:schemeClr val="dk1"/>
                </a:solidFill>
                <a:effectLst/>
                <a:latin typeface="Arial"/>
                <a:ea typeface="Arial"/>
                <a:cs typeface="Arial"/>
                <a:sym typeface="Arial"/>
              </a:rPr>
              <a:t>cytidine</a:t>
            </a:r>
            <a:r>
              <a:rPr lang="en-US" sz="1200" b="0" i="0" u="none" strike="noStrike" kern="1200" cap="none" dirty="0">
                <a:solidFill>
                  <a:schemeClr val="dk1"/>
                </a:solidFill>
                <a:effectLst/>
                <a:latin typeface="Arial"/>
                <a:ea typeface="Arial"/>
                <a:cs typeface="Arial"/>
                <a:sym typeface="Arial"/>
              </a:rPr>
              <a:t>, and </a:t>
            </a:r>
            <a:r>
              <a:rPr lang="en-US" sz="1200" b="0" i="0" u="none" strike="noStrike" kern="1200" cap="none" dirty="0" err="1">
                <a:solidFill>
                  <a:schemeClr val="dk1"/>
                </a:solidFill>
                <a:effectLst/>
                <a:latin typeface="Arial"/>
                <a:ea typeface="Arial"/>
                <a:cs typeface="Arial"/>
                <a:sym typeface="Arial"/>
              </a:rPr>
              <a:t>guanosine</a:t>
            </a:r>
            <a:r>
              <a:rPr lang="en-US" sz="1200" b="0" i="0" u="none" strike="noStrike" kern="1200" cap="none" dirty="0">
                <a:solidFill>
                  <a:schemeClr val="dk1"/>
                </a:solidFill>
                <a:effectLst/>
                <a:latin typeface="Arial"/>
                <a:ea typeface="Arial"/>
                <a:cs typeface="Arial"/>
                <a:sym typeface="Arial"/>
              </a:rPr>
              <a:t> which are linked by </a:t>
            </a:r>
            <a:r>
              <a:rPr lang="en-US" sz="1200" b="0" i="0" u="none" strike="noStrike" kern="1200" cap="none" dirty="0" err="1">
                <a:solidFill>
                  <a:schemeClr val="dk1"/>
                </a:solidFill>
                <a:effectLst/>
                <a:latin typeface="Arial"/>
                <a:ea typeface="Arial"/>
                <a:cs typeface="Arial"/>
                <a:sym typeface="Arial"/>
              </a:rPr>
              <a:t>phosphodiester</a:t>
            </a:r>
            <a:r>
              <a:rPr lang="en-US" sz="1200" b="0" i="0" u="none" strike="noStrike" kern="1200" cap="none" dirty="0">
                <a:solidFill>
                  <a:schemeClr val="dk1"/>
                </a:solidFill>
                <a:effectLst/>
                <a:latin typeface="Arial"/>
                <a:ea typeface="Arial"/>
                <a:cs typeface="Arial"/>
                <a:sym typeface="Arial"/>
              </a:rPr>
              <a:t> bridge. </a:t>
            </a:r>
          </a:p>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95882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45995089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67650455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p>
          <a:p>
            <a:r>
              <a:rPr lang="en-US" sz="1200" b="0" i="0" u="none" strike="noStrike" kern="1200" cap="none" dirty="0">
                <a:solidFill>
                  <a:schemeClr val="dk1"/>
                </a:solidFill>
                <a:effectLst/>
                <a:latin typeface="Arial"/>
                <a:ea typeface="Arial"/>
                <a:cs typeface="Arial"/>
                <a:sym typeface="Arial"/>
              </a:rPr>
              <a:t>The details of the structure are as follows:</a:t>
            </a: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The two strands are antiparallel as their 5 dash to 3 dash direction is opposite to each other. </a:t>
            </a: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The sugar-phosphate backbone is on the sides and the base pairs are in the middle. </a:t>
            </a: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The two nucleotide chains are linked by hydrogen bonding between complementary base pairs. Adenine and thymine are held together by two hydrogen bonds and guanine and cytosine are held together by three hydrogen bonds.</a:t>
            </a:r>
          </a:p>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41747740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35288253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p>
          <a:p>
            <a:r>
              <a:rPr lang="en-US" sz="1200" b="0" i="0" u="none" strike="noStrike" kern="1200" cap="none" dirty="0">
                <a:solidFill>
                  <a:schemeClr val="dk1"/>
                </a:solidFill>
                <a:effectLst/>
                <a:latin typeface="Arial"/>
                <a:ea typeface="Arial"/>
                <a:cs typeface="Arial"/>
                <a:sym typeface="Arial"/>
              </a:rPr>
              <a:t>Double helical model (a) of D N A double helix shows two strands that are wound around each other in the shape of a twisted ladder. The strands run in opposite directions; one strand is 5 dash to 3 dash and the other strand is 3 dash to 5 dash from top to bottom. The sides of the ladder are made of sugar-phosphate backbones and the rungs of the ladder are made of nitrogenous base pairs linked by hydrogen bonds shown as dotted lines. </a:t>
            </a:r>
          </a:p>
          <a:p>
            <a:r>
              <a:rPr lang="en-US" sz="1200" b="0" i="0" u="none" strike="noStrike" kern="1200" cap="none" dirty="0">
                <a:solidFill>
                  <a:schemeClr val="dk1"/>
                </a:solidFill>
                <a:effectLst/>
                <a:latin typeface="Arial"/>
                <a:ea typeface="Arial"/>
                <a:cs typeface="Arial"/>
                <a:sym typeface="Arial"/>
              </a:rPr>
              <a:t>Space-filling model (b) of D N A double helix shows spheres of different colors arranged in the shape of a twisted ladder. Atoms in the backbone which are in the periphery are colored red for O, yellow for P, and blue for C. Atoms in bases which are in the middle are colored orange. </a:t>
            </a:r>
          </a:p>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22974070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1930568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25900844"/>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14861864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p>
          <a:p>
            <a:r>
              <a:rPr lang="en-US" sz="1200" b="0" i="0" u="none" strike="noStrike" kern="1200" cap="none" dirty="0">
                <a:solidFill>
                  <a:schemeClr val="dk1"/>
                </a:solidFill>
                <a:effectLst/>
                <a:latin typeface="Arial"/>
                <a:ea typeface="Arial"/>
                <a:cs typeface="Arial"/>
                <a:sym typeface="Arial"/>
              </a:rPr>
              <a:t>Structure (a) of </a:t>
            </a:r>
            <a:r>
              <a:rPr lang="en-US" sz="1200" b="0" i="0" u="none" strike="noStrike" kern="1200" cap="none" dirty="0" err="1">
                <a:solidFill>
                  <a:schemeClr val="dk1"/>
                </a:solidFill>
                <a:effectLst/>
                <a:latin typeface="Arial"/>
                <a:ea typeface="Arial"/>
                <a:cs typeface="Arial"/>
                <a:sym typeface="Arial"/>
              </a:rPr>
              <a:t>aldosugar</a:t>
            </a:r>
            <a:r>
              <a:rPr lang="en-US" sz="1200" b="0" i="0" u="none" strike="noStrike" kern="1200" cap="none" dirty="0">
                <a:solidFill>
                  <a:schemeClr val="dk1"/>
                </a:solidFill>
                <a:effectLst/>
                <a:latin typeface="Arial"/>
                <a:ea typeface="Arial"/>
                <a:cs typeface="Arial"/>
                <a:sym typeface="Arial"/>
              </a:rPr>
              <a:t> from top to bottom is: Superscript 1 C double-bonded to O above and single-bonded to H on the left; single bond; superscript 2 C single-bonded to H on the left and O H on the right; single bond; (n minus 3) times C single-bonded to H on the left and O H on the right; single bond; superscript n C H subscript 2 single-bonded to O H on the right. Superscript 1 C double-bonded to O is highlighted. </a:t>
            </a:r>
          </a:p>
          <a:p>
            <a:r>
              <a:rPr lang="en-US" sz="1200" b="0" i="0" u="none" strike="noStrike" kern="1200" cap="none" dirty="0">
                <a:solidFill>
                  <a:schemeClr val="dk1"/>
                </a:solidFill>
                <a:effectLst/>
                <a:latin typeface="Arial"/>
                <a:ea typeface="Arial"/>
                <a:cs typeface="Arial"/>
                <a:sym typeface="Arial"/>
              </a:rPr>
              <a:t>Structure (b) of </a:t>
            </a:r>
            <a:r>
              <a:rPr lang="en-US" sz="1200" b="0" i="0" u="none" strike="noStrike" kern="1200" cap="none" dirty="0" err="1">
                <a:solidFill>
                  <a:schemeClr val="dk1"/>
                </a:solidFill>
                <a:effectLst/>
                <a:latin typeface="Arial"/>
                <a:ea typeface="Arial"/>
                <a:cs typeface="Arial"/>
                <a:sym typeface="Arial"/>
              </a:rPr>
              <a:t>ketosugar</a:t>
            </a:r>
            <a:r>
              <a:rPr lang="en-US" sz="1200" b="0" i="0" u="none" strike="noStrike" kern="1200" cap="none" dirty="0">
                <a:solidFill>
                  <a:schemeClr val="dk1"/>
                </a:solidFill>
                <a:effectLst/>
                <a:latin typeface="Arial"/>
                <a:ea typeface="Arial"/>
                <a:cs typeface="Arial"/>
                <a:sym typeface="Arial"/>
              </a:rPr>
              <a:t> from top to bottom is: Superscript 1 C H subscript 2 single-bonded to O H; single bond; superscript 2 C double-bonded to O on the right; single bond; (n minus 3) times C single-bonded to H on the left and O H on the right; single bond; superscript n C H subscript 2 single-bonded to O H on the right. Superscript 2 C double-bonded to O is highlighted.  </a:t>
            </a:r>
          </a:p>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91190118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57113416"/>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697268572"/>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96534439"/>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p>
          <a:p>
            <a:r>
              <a:rPr lang="en-US" sz="1200" b="0" i="0" u="none" strike="noStrike" kern="1200" cap="none" dirty="0">
                <a:solidFill>
                  <a:schemeClr val="dk1"/>
                </a:solidFill>
                <a:effectLst/>
                <a:latin typeface="Arial"/>
                <a:ea typeface="Arial"/>
                <a:cs typeface="Arial"/>
                <a:sym typeface="Arial"/>
              </a:rPr>
              <a:t>Structure (a) shows Fischer projection which is a linear chain of D hyphen glucose. </a:t>
            </a: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The six carbon structure from top to bottom is as </a:t>
            </a:r>
            <a:r>
              <a:rPr lang="en-IN" sz="1200" b="0" i="0" u="none" strike="noStrike" kern="1200" cap="none" dirty="0">
                <a:solidFill>
                  <a:schemeClr val="dk1"/>
                </a:solidFill>
                <a:effectLst/>
                <a:latin typeface="Arial"/>
                <a:ea typeface="Arial"/>
                <a:cs typeface="Arial"/>
                <a:sym typeface="Arial"/>
              </a:rPr>
              <a:t>follows: </a:t>
            </a:r>
            <a:r>
              <a:rPr lang="en-US" sz="1200" b="0" i="0" u="none" strike="noStrike" kern="1200" cap="none" dirty="0">
                <a:solidFill>
                  <a:schemeClr val="dk1"/>
                </a:solidFill>
                <a:effectLst/>
                <a:latin typeface="Arial"/>
                <a:ea typeface="Arial"/>
                <a:cs typeface="Arial"/>
                <a:sym typeface="Arial"/>
              </a:rPr>
              <a:t>A single-bonded, condensed chain of C 1 single-bonded to H on top-left and double-bonded to O on top-right, C 2 single-bonded to H on left and single-bonded to O H on right, C 3 single-bonded to O H on left and single-bonded to H on right, C 4 single-bonded to H on left and single-bonded to O H on right, C 5 single-bonded to H on left and single-bonded to O H on right, C 6 single-bonded to H on left and single-bonded to O H on right, H below. </a:t>
            </a:r>
          </a:p>
          <a:p>
            <a:pPr marL="171450" lvl="0" indent="-171450">
              <a:buFont typeface="Arial" panose="020B0604020202020204" pitchFamily="34" charset="0"/>
              <a:buChar char="•"/>
            </a:pPr>
            <a:r>
              <a:rPr lang="en-IN" sz="1200" b="0" i="0" u="none" strike="noStrike" kern="1200" cap="none" dirty="0">
                <a:solidFill>
                  <a:schemeClr val="dk1"/>
                </a:solidFill>
                <a:effectLst/>
                <a:latin typeface="Arial"/>
                <a:ea typeface="Arial"/>
                <a:cs typeface="Arial"/>
                <a:sym typeface="Arial"/>
              </a:rPr>
              <a:t>The orientation of the O H is reversed in carbon 3 relative to the O H groups on the other carbon atoms.</a:t>
            </a:r>
            <a:endParaRPr lang="en-US" sz="1200" b="0" i="0" u="none" strike="noStrike" kern="1200" cap="none" dirty="0">
              <a:solidFill>
                <a:schemeClr val="dk1"/>
              </a:solidFill>
              <a:effectLst/>
              <a:latin typeface="Arial"/>
              <a:ea typeface="Arial"/>
              <a:cs typeface="Arial"/>
              <a:sym typeface="Arial"/>
            </a:endParaRPr>
          </a:p>
          <a:p>
            <a:pPr marL="171450" lvl="0" indent="-171450">
              <a:buFont typeface="Arial" panose="020B0604020202020204" pitchFamily="34" charset="0"/>
              <a:buChar char="•"/>
            </a:pPr>
            <a:r>
              <a:rPr lang="en-IN" sz="1200" b="0" i="0" u="none" strike="noStrike" kern="1200" cap="none" dirty="0">
                <a:solidFill>
                  <a:schemeClr val="dk1"/>
                </a:solidFill>
                <a:effectLst/>
                <a:latin typeface="Arial"/>
                <a:ea typeface="Arial"/>
                <a:cs typeface="Arial"/>
                <a:sym typeface="Arial"/>
              </a:rPr>
              <a:t>The first carbon forms the aldehyde group C H O. </a:t>
            </a:r>
            <a:endParaRPr lang="en-US"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Structure (b) shows Haworth projection which is a ring form of D hyphen glucose. </a:t>
            </a: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A six-membered ring with O at top-right. C 1 is single-bonded to H above and O H below; C 2 is single-bonded to H above and O H below; C 3 is single-bonded to O H above and H below; C 4 is single-bonded to H above and O H below; and C 5 is single-bonded to C 6 as C H subscript 2 O H above and H below. </a:t>
            </a:r>
          </a:p>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988434373"/>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38694288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Structure (a) shows alpha hyphen D hyphen glucose which is the repeating unit of starch and glycogen. It is a six-membered ring with O at top-right. C 1 is single-bonded to H above and O H below; C 2 is single-bonded to H above and O H below; C 3 is single-bonded to O H above and H below; C 4 is single-bonded to H above and O H below; and C 5 is single-bonded to C 6 as C H subscript 2 O H above and H below. The O H bonded below C 1 is highlighted. </a:t>
            </a:r>
          </a:p>
          <a:p>
            <a:r>
              <a:rPr lang="en-US" sz="1200" b="0" i="0" u="none" strike="noStrike" kern="1200" cap="none" dirty="0">
                <a:solidFill>
                  <a:schemeClr val="dk1"/>
                </a:solidFill>
                <a:effectLst/>
                <a:latin typeface="Arial"/>
                <a:ea typeface="Arial"/>
                <a:cs typeface="Arial"/>
                <a:sym typeface="Arial"/>
              </a:rPr>
              <a:t>Structure (b) shows beta hyphen D hyphen glucose which is the repeating unit of cellulose. It is a six-membered ring with O at top-right. C 1 is single-bonded to O H above and H below; C 2 is single-bonded to H above and O H below; C 3 is single-bonded to O H above and H below; C 4 is single-bonded to H above and O H below; and C 5 is single-bonded to C 6 as C H subscript 2 O H above and H below. The O H bonded above C1 is highlighted.  </a:t>
            </a: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9568335"/>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106210543"/>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769518203"/>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Structure (a) of maltose shows the ring form of two molecules of alpha hyphen D hyphen glucose linked together by alpha hyphen one, four </a:t>
            </a:r>
            <a:r>
              <a:rPr lang="en-US" sz="1200" b="0" i="0" u="none" strike="noStrike" kern="1200" cap="none" dirty="0" err="1">
                <a:solidFill>
                  <a:schemeClr val="dk1"/>
                </a:solidFill>
                <a:effectLst/>
                <a:latin typeface="Arial"/>
                <a:ea typeface="Arial"/>
                <a:cs typeface="Arial"/>
                <a:sym typeface="Arial"/>
              </a:rPr>
              <a:t>glycosidic</a:t>
            </a:r>
            <a:r>
              <a:rPr lang="en-US" sz="1200" b="0" i="0" u="none" strike="noStrike" kern="1200" cap="none" dirty="0">
                <a:solidFill>
                  <a:schemeClr val="dk1"/>
                </a:solidFill>
                <a:effectLst/>
                <a:latin typeface="Arial"/>
                <a:ea typeface="Arial"/>
                <a:cs typeface="Arial"/>
                <a:sym typeface="Arial"/>
              </a:rPr>
              <a:t> bond. </a:t>
            </a:r>
          </a:p>
          <a:p>
            <a:r>
              <a:rPr lang="en-US" sz="1200" b="0" i="0" u="none" strike="noStrike" kern="1200" cap="none" dirty="0">
                <a:solidFill>
                  <a:schemeClr val="dk1"/>
                </a:solidFill>
                <a:effectLst/>
                <a:latin typeface="Arial"/>
                <a:ea typeface="Arial"/>
                <a:cs typeface="Arial"/>
                <a:sym typeface="Arial"/>
              </a:rPr>
              <a:t>Structure (b) of lactose shows the ring form of beta hyphen D hyphen </a:t>
            </a:r>
            <a:r>
              <a:rPr lang="en-US" sz="1200" b="0" i="0" u="none" strike="noStrike" kern="1200" cap="none" dirty="0" err="1">
                <a:solidFill>
                  <a:schemeClr val="dk1"/>
                </a:solidFill>
                <a:effectLst/>
                <a:latin typeface="Arial"/>
                <a:ea typeface="Arial"/>
                <a:cs typeface="Arial"/>
                <a:sym typeface="Arial"/>
              </a:rPr>
              <a:t>galactose</a:t>
            </a:r>
            <a:r>
              <a:rPr lang="en-US" sz="1200" b="0" i="0" u="none" strike="noStrike" kern="1200" cap="none" dirty="0">
                <a:solidFill>
                  <a:schemeClr val="dk1"/>
                </a:solidFill>
                <a:effectLst/>
                <a:latin typeface="Arial"/>
                <a:ea typeface="Arial"/>
                <a:cs typeface="Arial"/>
                <a:sym typeface="Arial"/>
              </a:rPr>
              <a:t> and beta hyphen D hyphen glucose linked together by beta hyphen one, four </a:t>
            </a:r>
            <a:r>
              <a:rPr lang="en-US" sz="1200" b="0" i="0" u="none" strike="noStrike" kern="1200" cap="none" dirty="0" err="1">
                <a:solidFill>
                  <a:schemeClr val="dk1"/>
                </a:solidFill>
                <a:effectLst/>
                <a:latin typeface="Arial"/>
                <a:ea typeface="Arial"/>
                <a:cs typeface="Arial"/>
                <a:sym typeface="Arial"/>
              </a:rPr>
              <a:t>glycosidic</a:t>
            </a:r>
            <a:r>
              <a:rPr lang="en-US" sz="1200" b="0" i="0" u="none" strike="noStrike" kern="1200" cap="none" dirty="0">
                <a:solidFill>
                  <a:schemeClr val="dk1"/>
                </a:solidFill>
                <a:effectLst/>
                <a:latin typeface="Arial"/>
                <a:ea typeface="Arial"/>
                <a:cs typeface="Arial"/>
                <a:sym typeface="Arial"/>
              </a:rPr>
              <a:t> bond. </a:t>
            </a:r>
          </a:p>
          <a:p>
            <a:r>
              <a:rPr lang="en-US" sz="1200" b="0" i="0" u="none" strike="noStrike" kern="1200" cap="none" dirty="0">
                <a:solidFill>
                  <a:schemeClr val="dk1"/>
                </a:solidFill>
                <a:effectLst/>
                <a:latin typeface="Arial"/>
                <a:ea typeface="Arial"/>
                <a:cs typeface="Arial"/>
                <a:sym typeface="Arial"/>
              </a:rPr>
              <a:t>Structure (c) of sucrose shows the ring form of alpha hyphen D hyphen glucose and beta hyphen D hyphen fructose linked together by alpha hyphen one, two </a:t>
            </a:r>
            <a:r>
              <a:rPr lang="en-US" sz="1200" b="0" i="0" u="none" strike="noStrike" kern="1200" cap="none" dirty="0" err="1">
                <a:solidFill>
                  <a:schemeClr val="dk1"/>
                </a:solidFill>
                <a:effectLst/>
                <a:latin typeface="Arial"/>
                <a:ea typeface="Arial"/>
                <a:cs typeface="Arial"/>
                <a:sym typeface="Arial"/>
              </a:rPr>
              <a:t>glycosidic</a:t>
            </a:r>
            <a:r>
              <a:rPr lang="en-US" sz="1200" b="0" i="0" u="none" strike="noStrike" kern="1200" cap="none" dirty="0">
                <a:solidFill>
                  <a:schemeClr val="dk1"/>
                </a:solidFill>
                <a:effectLst/>
                <a:latin typeface="Arial"/>
                <a:ea typeface="Arial"/>
                <a:cs typeface="Arial"/>
                <a:sym typeface="Arial"/>
              </a:rPr>
              <a:t> bond. </a:t>
            </a: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777644324"/>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89689120"/>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Illustration (a) shows a plant with starch. An exploded view of a portion of a leaf shows a micrograph at a scale of 1 micrometer. The micrograph shows starch grains stored in a chloroplast of a plant leaf cell. An exploded view of a starch grain shows its chemical structure. The chemical structure consists of glucose molecules shown as hexagons linked in a linear manner for amylose and in an occasional branched manner for amylopectin. The amylopectin molecule at one of the branch points is highlighted. </a:t>
            </a:r>
          </a:p>
          <a:p>
            <a:r>
              <a:rPr lang="en-US" sz="1200" b="0" i="0" u="none" strike="noStrike" kern="1200" cap="none" dirty="0">
                <a:solidFill>
                  <a:schemeClr val="dk1"/>
                </a:solidFill>
                <a:effectLst/>
                <a:latin typeface="Arial"/>
                <a:ea typeface="Arial"/>
                <a:cs typeface="Arial"/>
                <a:sym typeface="Arial"/>
              </a:rPr>
              <a:t>Illustration (b) shows a rat with glycogen. An exploded view of a portion of the rat shows a micrograph at a scale of 0.5 micrometer. The micrograph shows glycogen granules stored in the cytosol of a liver cell; a few mitochondria are shown near the glycogen granules. An exploded view of a glycogen granule shows its chemical structure. The chemical structure consists of glucose molecules shown as hexagons linked in a compact and branched manner. </a:t>
            </a:r>
          </a:p>
          <a:p>
            <a:r>
              <a:rPr lang="en-US" sz="1200" b="0" i="0" u="none" strike="noStrike" kern="1200" cap="none" dirty="0">
                <a:solidFill>
                  <a:schemeClr val="dk1"/>
                </a:solidFill>
                <a:effectLst/>
                <a:latin typeface="Arial"/>
                <a:ea typeface="Arial"/>
                <a:cs typeface="Arial"/>
                <a:sym typeface="Arial"/>
              </a:rPr>
              <a:t>Illustration (c) shows the exploded view of a branch point of glycogen or amylopectin structure. The linear chain consists of alpha hyphen D hyphen glucose molecules linked by alpha (1 to 4) </a:t>
            </a:r>
            <a:r>
              <a:rPr lang="en-US" sz="1200" b="0" i="0" u="none" strike="noStrike" kern="1200" cap="none" dirty="0" err="1">
                <a:solidFill>
                  <a:schemeClr val="dk1"/>
                </a:solidFill>
                <a:effectLst/>
                <a:latin typeface="Arial"/>
                <a:ea typeface="Arial"/>
                <a:cs typeface="Arial"/>
                <a:sym typeface="Arial"/>
              </a:rPr>
              <a:t>glycosidic</a:t>
            </a:r>
            <a:r>
              <a:rPr lang="en-US" sz="1200" b="0" i="0" u="none" strike="noStrike" kern="1200" cap="none" dirty="0">
                <a:solidFill>
                  <a:schemeClr val="dk1"/>
                </a:solidFill>
                <a:effectLst/>
                <a:latin typeface="Arial"/>
                <a:ea typeface="Arial"/>
                <a:cs typeface="Arial"/>
                <a:sym typeface="Arial"/>
              </a:rPr>
              <a:t> bonds, whereas side chains start from the linear chain at alpha (1 to 6) </a:t>
            </a:r>
            <a:r>
              <a:rPr lang="en-US" sz="1200" b="0" i="0" u="none" strike="noStrike" kern="1200" cap="none" dirty="0" err="1">
                <a:solidFill>
                  <a:schemeClr val="dk1"/>
                </a:solidFill>
                <a:effectLst/>
                <a:latin typeface="Arial"/>
                <a:ea typeface="Arial"/>
                <a:cs typeface="Arial"/>
                <a:sym typeface="Arial"/>
              </a:rPr>
              <a:t>glycosidic</a:t>
            </a:r>
            <a:r>
              <a:rPr lang="en-US" sz="1200" b="0" i="0" u="none" strike="noStrike" kern="1200" cap="none" dirty="0">
                <a:solidFill>
                  <a:schemeClr val="dk1"/>
                </a:solidFill>
                <a:effectLst/>
                <a:latin typeface="Arial"/>
                <a:ea typeface="Arial"/>
                <a:cs typeface="Arial"/>
                <a:sym typeface="Arial"/>
              </a:rPr>
              <a:t> bond. </a:t>
            </a: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77285329"/>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481781983"/>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172879222"/>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584671896"/>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142967987"/>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illustration shows a tree with plant cells. An exploded view of a plant cell shows a micrograph displaying a group of plant cells having rigid cell walls. An exploded view of a portion of the plant cell wall shows a micrograph displaying cellulose </a:t>
            </a:r>
            <a:r>
              <a:rPr lang="en-US" sz="1200" b="0" i="0" u="none" strike="noStrike" kern="1200" cap="none" dirty="0" err="1">
                <a:solidFill>
                  <a:schemeClr val="dk1"/>
                </a:solidFill>
                <a:effectLst/>
                <a:latin typeface="Arial"/>
                <a:ea typeface="Arial"/>
                <a:cs typeface="Arial"/>
                <a:sym typeface="Arial"/>
              </a:rPr>
              <a:t>microfibrils</a:t>
            </a:r>
            <a:r>
              <a:rPr lang="en-US" sz="1200" b="0" i="0" u="none" strike="noStrike" kern="1200" cap="none" dirty="0">
                <a:solidFill>
                  <a:schemeClr val="dk1"/>
                </a:solidFill>
                <a:effectLst/>
                <a:latin typeface="Arial"/>
                <a:ea typeface="Arial"/>
                <a:cs typeface="Arial"/>
                <a:sym typeface="Arial"/>
              </a:rPr>
              <a:t> in parallel arrays. A single </a:t>
            </a:r>
            <a:r>
              <a:rPr lang="en-US" sz="1200" b="0" i="0" u="none" strike="noStrike" kern="1200" cap="none" dirty="0" err="1">
                <a:solidFill>
                  <a:schemeClr val="dk1"/>
                </a:solidFill>
                <a:effectLst/>
                <a:latin typeface="Arial"/>
                <a:ea typeface="Arial"/>
                <a:cs typeface="Arial"/>
                <a:sym typeface="Arial"/>
              </a:rPr>
              <a:t>microfibril</a:t>
            </a:r>
            <a:r>
              <a:rPr lang="en-US" sz="1200" b="0" i="0" u="none" strike="noStrike" kern="1200" cap="none" dirty="0">
                <a:solidFill>
                  <a:schemeClr val="dk1"/>
                </a:solidFill>
                <a:effectLst/>
                <a:latin typeface="Arial"/>
                <a:ea typeface="Arial"/>
                <a:cs typeface="Arial"/>
                <a:sym typeface="Arial"/>
              </a:rPr>
              <a:t> is made of many long, </a:t>
            </a:r>
            <a:r>
              <a:rPr lang="en-US" sz="1200" b="0" i="0" u="none" strike="noStrike" kern="1200" cap="none" dirty="0" err="1">
                <a:solidFill>
                  <a:schemeClr val="dk1"/>
                </a:solidFill>
                <a:effectLst/>
                <a:latin typeface="Arial"/>
                <a:ea typeface="Arial"/>
                <a:cs typeface="Arial"/>
                <a:sym typeface="Arial"/>
              </a:rPr>
              <a:t>unbranched</a:t>
            </a:r>
            <a:r>
              <a:rPr lang="en-US" sz="1200" b="0" i="0" u="none" strike="noStrike" kern="1200" cap="none" dirty="0">
                <a:solidFill>
                  <a:schemeClr val="dk1"/>
                </a:solidFill>
                <a:effectLst/>
                <a:latin typeface="Arial"/>
                <a:ea typeface="Arial"/>
                <a:cs typeface="Arial"/>
                <a:sym typeface="Arial"/>
              </a:rPr>
              <a:t> cellulose chains. Each chain is made of beta hyphen D hyphen glucose molecules arranged in a linear manner and linked together by beta (1 to 4) </a:t>
            </a:r>
            <a:r>
              <a:rPr lang="en-US" sz="1200" b="0" i="0" u="none" strike="noStrike" kern="1200" cap="none" dirty="0" err="1">
                <a:solidFill>
                  <a:schemeClr val="dk1"/>
                </a:solidFill>
                <a:effectLst/>
                <a:latin typeface="Arial"/>
                <a:ea typeface="Arial"/>
                <a:cs typeface="Arial"/>
                <a:sym typeface="Arial"/>
              </a:rPr>
              <a:t>glycosidic</a:t>
            </a:r>
            <a:r>
              <a:rPr lang="en-US" sz="1200" b="0" i="0" u="none" strike="noStrike" kern="1200" cap="none" dirty="0">
                <a:solidFill>
                  <a:schemeClr val="dk1"/>
                </a:solidFill>
                <a:effectLst/>
                <a:latin typeface="Arial"/>
                <a:ea typeface="Arial"/>
                <a:cs typeface="Arial"/>
                <a:sym typeface="Arial"/>
              </a:rPr>
              <a:t> bonds. </a:t>
            </a: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784306799"/>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976874435"/>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087822086"/>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IN" sz="1200" b="0" i="0" u="none" strike="noStrike" kern="1200" cap="none" dirty="0">
                <a:solidFill>
                  <a:schemeClr val="dk1"/>
                </a:solidFill>
                <a:effectLst/>
                <a:latin typeface="Arial"/>
                <a:ea typeface="Arial"/>
                <a:cs typeface="Arial"/>
                <a:sym typeface="Arial"/>
              </a:rPr>
              <a:t>Long description:</a:t>
            </a:r>
          </a:p>
          <a:p>
            <a:r>
              <a:rPr lang="en-US" sz="1200" b="0" i="0" u="none" strike="noStrike" kern="1200" cap="none" dirty="0">
                <a:solidFill>
                  <a:schemeClr val="dk1"/>
                </a:solidFill>
                <a:effectLst/>
                <a:latin typeface="Arial"/>
                <a:ea typeface="Arial"/>
                <a:cs typeface="Arial"/>
                <a:sym typeface="Arial"/>
              </a:rPr>
              <a:t>The structure is described as below:</a:t>
            </a: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Polysaccharide subunits:</a:t>
            </a:r>
          </a:p>
          <a:p>
            <a:pPr marL="628650" lvl="1"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Beta glucosamine: A hexagonal structure shows C H subscript 2 O H, O, N H subscript 2 and three O H bonds in each vertex.</a:t>
            </a:r>
          </a:p>
          <a:p>
            <a:pPr marL="628650" lvl="1"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N hyphen </a:t>
            </a:r>
            <a:r>
              <a:rPr lang="en-US" sz="1200" b="0" i="0" u="none" strike="noStrike" kern="1200" cap="none" dirty="0" err="1">
                <a:solidFill>
                  <a:schemeClr val="dk1"/>
                </a:solidFill>
                <a:effectLst/>
                <a:latin typeface="Arial"/>
                <a:ea typeface="Arial"/>
                <a:cs typeface="Arial"/>
                <a:sym typeface="Arial"/>
              </a:rPr>
              <a:t>acetylglucosamine</a:t>
            </a:r>
            <a:r>
              <a:rPr lang="en-US" sz="1200" b="0" i="0" u="none" strike="noStrike" kern="1200" cap="none" dirty="0">
                <a:solidFill>
                  <a:schemeClr val="dk1"/>
                </a:solidFill>
                <a:effectLst/>
                <a:latin typeface="Arial"/>
                <a:ea typeface="Arial"/>
                <a:cs typeface="Arial"/>
                <a:sym typeface="Arial"/>
              </a:rPr>
              <a:t> (G l c N A c): A hexagonal structure shows C H subscript 2 O H, O bond, a N H single bond C double bond O and a single bond with C H subscript 3, three OH bonds in each vertex.</a:t>
            </a:r>
          </a:p>
          <a:p>
            <a:pPr marL="628650" lvl="1"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N hyphen </a:t>
            </a:r>
            <a:r>
              <a:rPr lang="en-US" sz="1200" b="0" i="0" u="none" strike="noStrike" kern="1200" cap="none" dirty="0" err="1">
                <a:solidFill>
                  <a:schemeClr val="dk1"/>
                </a:solidFill>
                <a:effectLst/>
                <a:latin typeface="Arial"/>
                <a:ea typeface="Arial"/>
                <a:cs typeface="Arial"/>
                <a:sym typeface="Arial"/>
              </a:rPr>
              <a:t>acetylmuramic</a:t>
            </a:r>
            <a:r>
              <a:rPr lang="en-US" sz="1200" b="0" i="0" u="none" strike="noStrike" kern="1200" cap="none" dirty="0">
                <a:solidFill>
                  <a:schemeClr val="dk1"/>
                </a:solidFill>
                <a:effectLst/>
                <a:latin typeface="Arial"/>
                <a:ea typeface="Arial"/>
                <a:cs typeface="Arial"/>
                <a:sym typeface="Arial"/>
              </a:rPr>
              <a:t> acid (M u r N A c): A hexagonal structure shows C H subscript 2 O H, O bond, a N H single bond C double bond O and a single bond with C H subscript 3, two O H bonds and a O to C H single bond C H subscript 3, C double bond O and a single bond to O H in each carbon atom.</a:t>
            </a: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A bacterial cell wall polysaccharide</a:t>
            </a:r>
          </a:p>
          <a:p>
            <a:pPr marL="628650" lvl="1"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There are repeating units of two hexagonal blocks. The first hexagon labeled as “G l c N A c” is a C H subscript 2 O H and N H single bond C double bond O and a single bond CH3, one O and an O H bond. The second hexagon labeled as “M u r N A c” shows a C H subscript 2 O H, one N H single bond C double bond O and single bond C H subscript 3, and an O to C H to C H subscript 3, a C double bond O, and a single bond OH. There is an Oxygen bond between the two hexagons and is a beta 1 to 4 bond.</a:t>
            </a: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The polysaccharide chain</a:t>
            </a:r>
          </a:p>
          <a:p>
            <a:pPr marL="628650" lvl="1"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It shows repeating “G l c N A c” structures. Each is a hexagonal bond of C H subscript 2 O H, O, OH, and an N H to C double bond O single bond C H subscript 3. Between every hexagon structure, there is an oxygen bond labeled as beta 1 to 4 bond.</a:t>
            </a:r>
          </a:p>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067498157"/>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46489807"/>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72908672"/>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100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630780855"/>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101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90873795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structure is described as below:</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Polysaccharide subunits:</a:t>
            </a:r>
            <a:endParaRPr lang="en-IN" sz="1200" b="0" i="0" u="none" strike="noStrike" kern="1200" cap="none" dirty="0">
              <a:solidFill>
                <a:schemeClr val="dk1"/>
              </a:solidFill>
              <a:effectLst/>
              <a:latin typeface="Arial"/>
              <a:ea typeface="Arial"/>
              <a:cs typeface="Arial"/>
              <a:sym typeface="Arial"/>
            </a:endParaRPr>
          </a:p>
          <a:p>
            <a:pPr marL="685800" lvl="1" indent="-228600">
              <a:buFont typeface="+mj-lt"/>
              <a:buAutoNum type="alphaLcPeriod"/>
            </a:pPr>
            <a:r>
              <a:rPr lang="en-US" sz="1200" b="0" i="0" u="none" strike="noStrike" kern="1200" cap="none" dirty="0">
                <a:solidFill>
                  <a:schemeClr val="dk1"/>
                </a:solidFill>
                <a:effectLst/>
                <a:latin typeface="Arial"/>
                <a:ea typeface="Arial"/>
                <a:cs typeface="Arial"/>
                <a:sym typeface="Arial"/>
              </a:rPr>
              <a:t>Beta glucosamine: A hexagonal structure shows C H subscript 2 O H, O, N H subscript 2 and three O H bonds in each vertex.</a:t>
            </a:r>
            <a:endParaRPr lang="en-IN" sz="1200" b="0" i="0" u="none" strike="noStrike" kern="1200" cap="none" dirty="0">
              <a:solidFill>
                <a:schemeClr val="dk1"/>
              </a:solidFill>
              <a:effectLst/>
              <a:latin typeface="Arial"/>
              <a:ea typeface="Arial"/>
              <a:cs typeface="Arial"/>
              <a:sym typeface="Arial"/>
            </a:endParaRPr>
          </a:p>
          <a:p>
            <a:pPr marL="685800" lvl="1" indent="-228600">
              <a:buFont typeface="+mj-lt"/>
              <a:buAutoNum type="alphaLcPeriod"/>
            </a:pPr>
            <a:r>
              <a:rPr lang="en-US" sz="1200" b="0" i="0" u="none" strike="noStrike" kern="1200" cap="none" dirty="0">
                <a:solidFill>
                  <a:schemeClr val="dk1"/>
                </a:solidFill>
                <a:effectLst/>
                <a:latin typeface="Arial"/>
                <a:ea typeface="Arial"/>
                <a:cs typeface="Arial"/>
                <a:sym typeface="Arial"/>
              </a:rPr>
              <a:t>N hyphen </a:t>
            </a:r>
            <a:r>
              <a:rPr lang="en-US" sz="1200" b="0" i="0" u="none" strike="noStrike" kern="1200" cap="none" dirty="0" err="1">
                <a:solidFill>
                  <a:schemeClr val="dk1"/>
                </a:solidFill>
                <a:effectLst/>
                <a:latin typeface="Arial"/>
                <a:ea typeface="Arial"/>
                <a:cs typeface="Arial"/>
                <a:sym typeface="Arial"/>
              </a:rPr>
              <a:t>acetylglucosamine</a:t>
            </a:r>
            <a:r>
              <a:rPr lang="en-US" sz="1200" b="0" i="0" u="none" strike="noStrike" kern="1200" cap="none" dirty="0">
                <a:solidFill>
                  <a:schemeClr val="dk1"/>
                </a:solidFill>
                <a:effectLst/>
                <a:latin typeface="Arial"/>
                <a:ea typeface="Arial"/>
                <a:cs typeface="Arial"/>
                <a:sym typeface="Arial"/>
              </a:rPr>
              <a:t> (G l c N A c): A hexagonal structure shows C H subscript 2 O H, O bond, a N H single bond C double bond O and a single bond with C H subscript 3, three OH bonds in each vertex.</a:t>
            </a:r>
            <a:endParaRPr lang="en-IN" sz="1200" b="0" i="0" u="none" strike="noStrike" kern="1200" cap="none" dirty="0">
              <a:solidFill>
                <a:schemeClr val="dk1"/>
              </a:solidFill>
              <a:effectLst/>
              <a:latin typeface="Arial"/>
              <a:ea typeface="Arial"/>
              <a:cs typeface="Arial"/>
              <a:sym typeface="Arial"/>
            </a:endParaRPr>
          </a:p>
          <a:p>
            <a:pPr marL="685800" lvl="1" indent="-228600">
              <a:buFont typeface="+mj-lt"/>
              <a:buAutoNum type="alphaLcPeriod"/>
            </a:pPr>
            <a:r>
              <a:rPr lang="en-US" sz="1200" b="0" i="0" u="none" strike="noStrike" kern="1200" cap="none" dirty="0">
                <a:solidFill>
                  <a:schemeClr val="dk1"/>
                </a:solidFill>
                <a:effectLst/>
                <a:latin typeface="Arial"/>
                <a:ea typeface="Arial"/>
                <a:cs typeface="Arial"/>
                <a:sym typeface="Arial"/>
              </a:rPr>
              <a:t>N hyphen </a:t>
            </a:r>
            <a:r>
              <a:rPr lang="en-US" sz="1200" b="0" i="0" u="none" strike="noStrike" kern="1200" cap="none" dirty="0" err="1">
                <a:solidFill>
                  <a:schemeClr val="dk1"/>
                </a:solidFill>
                <a:effectLst/>
                <a:latin typeface="Arial"/>
                <a:ea typeface="Arial"/>
                <a:cs typeface="Arial"/>
                <a:sym typeface="Arial"/>
              </a:rPr>
              <a:t>acetylmuramic</a:t>
            </a:r>
            <a:r>
              <a:rPr lang="en-US" sz="1200" b="0" i="0" u="none" strike="noStrike" kern="1200" cap="none" dirty="0">
                <a:solidFill>
                  <a:schemeClr val="dk1"/>
                </a:solidFill>
                <a:effectLst/>
                <a:latin typeface="Arial"/>
                <a:ea typeface="Arial"/>
                <a:cs typeface="Arial"/>
                <a:sym typeface="Arial"/>
              </a:rPr>
              <a:t> acid (M u r N A c): A hexagonal structure shows C H subscript 2 O H, O bond, a N H single bond C double bond O and a single bond with C H subscript 3, two O H bonds and a O to C H single bond C H subscript 3, C double bond O and a single bond to O H in each carbon atom.</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A bacterial cell wall polysaccharide</a:t>
            </a:r>
            <a:endParaRPr lang="en-IN" sz="1200" b="0" i="0" u="none" strike="noStrike" kern="1200" cap="none" dirty="0">
              <a:solidFill>
                <a:schemeClr val="dk1"/>
              </a:solidFill>
              <a:effectLst/>
              <a:latin typeface="Arial"/>
              <a:ea typeface="Arial"/>
              <a:cs typeface="Arial"/>
              <a:sym typeface="Arial"/>
            </a:endParaRPr>
          </a:p>
          <a:p>
            <a:pPr marL="685800" lvl="1" indent="-228600">
              <a:buFont typeface="+mj-lt"/>
              <a:buAutoNum type="alphaLcPeriod"/>
            </a:pPr>
            <a:r>
              <a:rPr lang="en-US" sz="1200" b="0" i="0" u="none" strike="noStrike" kern="1200" cap="none" dirty="0">
                <a:solidFill>
                  <a:schemeClr val="dk1"/>
                </a:solidFill>
                <a:effectLst/>
                <a:latin typeface="Arial"/>
                <a:ea typeface="Arial"/>
                <a:cs typeface="Arial"/>
                <a:sym typeface="Arial"/>
              </a:rPr>
              <a:t>There are repeating units of two hexagonal blocks. The first hexagon labeled as “G l c N A c” is a C H subscript 2 O H and N H single bond C double bond O and a single bond CH3, one O and an O H bond. The second hexagon labeled as “M u r N A c” shows a C H subscript 2 O H, one N H single bond C double bond O and single bond C H subscript 3, and an O to C H to C H subscript 3, a C double bond O, and a single bond OH. There is an Oxygen bond between the two hexagons and is a beta 1 to 4 bond.</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The polysaccharide chain</a:t>
            </a:r>
            <a:endParaRPr lang="en-IN" sz="1200" b="0" i="0" u="none" strike="noStrike" kern="1200" cap="none" dirty="0">
              <a:solidFill>
                <a:schemeClr val="dk1"/>
              </a:solidFill>
              <a:effectLst/>
              <a:latin typeface="Arial"/>
              <a:ea typeface="Arial"/>
              <a:cs typeface="Arial"/>
              <a:sym typeface="Arial"/>
            </a:endParaRPr>
          </a:p>
          <a:p>
            <a:pPr marL="685800" lvl="1" indent="-228600">
              <a:buFont typeface="+mj-lt"/>
              <a:buAutoNum type="alphaLcPeriod"/>
            </a:pPr>
            <a:r>
              <a:rPr lang="en-US" sz="1200" b="0" i="0" u="none" strike="noStrike" kern="1200" cap="none" dirty="0">
                <a:solidFill>
                  <a:schemeClr val="dk1"/>
                </a:solidFill>
                <a:effectLst/>
                <a:latin typeface="Arial"/>
                <a:ea typeface="Arial"/>
                <a:cs typeface="Arial"/>
                <a:sym typeface="Arial"/>
              </a:rPr>
              <a:t>It shows repeating “G l c N A c” structures. Each is a hexagonal bond of C H subscript 2 O H, O, OH, and an N H to C double bond O single bond C H subscript 3. Between every hexagon structure, there is an oxygen bond labeled as beta 1 to 4 bond.</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102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117457677"/>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103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964678385"/>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104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240746259"/>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106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092457712"/>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IN" sz="1200" b="0" i="0" u="none" strike="noStrike" kern="1200" cap="none" dirty="0">
                <a:solidFill>
                  <a:schemeClr val="dk1"/>
                </a:solidFill>
                <a:effectLst/>
                <a:latin typeface="Arial"/>
                <a:ea typeface="Arial"/>
                <a:cs typeface="Arial"/>
                <a:sym typeface="Arial"/>
              </a:rPr>
              <a:t>Long description:</a:t>
            </a:r>
          </a:p>
          <a:p>
            <a:r>
              <a:rPr lang="en-US" sz="1200" b="0" i="0" u="none" strike="noStrike" kern="1200" cap="none" dirty="0" err="1">
                <a:solidFill>
                  <a:schemeClr val="dk1"/>
                </a:solidFill>
                <a:effectLst/>
                <a:latin typeface="Arial"/>
                <a:ea typeface="Arial"/>
                <a:cs typeface="Arial"/>
                <a:sym typeface="Arial"/>
              </a:rPr>
              <a:t>Palmitate</a:t>
            </a:r>
            <a:r>
              <a:rPr lang="en-US" sz="1200" b="0" i="0" u="none" strike="noStrike" kern="1200" cap="none" dirty="0">
                <a:solidFill>
                  <a:schemeClr val="dk1"/>
                </a:solidFill>
                <a:effectLst/>
                <a:latin typeface="Arial"/>
                <a:ea typeface="Arial"/>
                <a:cs typeface="Arial"/>
                <a:sym typeface="Arial"/>
              </a:rPr>
              <a:t> has sixteen carbon molecules as fourteen single bond C H subscript 2 molecules and one C with double bond to oxygen and single bond to O negative. It shows a vertical structure of C H subscript 2 on the left and right sides alternating with a single bond and ends with a C H subscript 3.</a:t>
            </a:r>
          </a:p>
          <a:p>
            <a:r>
              <a:rPr lang="en-US" sz="1200" b="0" i="0" u="none" strike="noStrike" kern="1200" cap="none" dirty="0" err="1">
                <a:solidFill>
                  <a:schemeClr val="dk1"/>
                </a:solidFill>
                <a:effectLst/>
                <a:latin typeface="Arial"/>
                <a:ea typeface="Arial"/>
                <a:cs typeface="Arial"/>
                <a:sym typeface="Arial"/>
              </a:rPr>
              <a:t>Oleate</a:t>
            </a:r>
            <a:r>
              <a:rPr lang="en-US" sz="1200" b="0" i="0" u="none" strike="noStrike" kern="1200" cap="none" dirty="0">
                <a:solidFill>
                  <a:schemeClr val="dk1"/>
                </a:solidFill>
                <a:effectLst/>
                <a:latin typeface="Arial"/>
                <a:ea typeface="Arial"/>
                <a:cs typeface="Arial"/>
                <a:sym typeface="Arial"/>
              </a:rPr>
              <a:t> has eighteen carbon molecules of fourteen single bond C H subscript 2 and one C H to C H double bond at the center. There is a C to O double bond and C to O negative single bond. The chain ends with a C H subscript 3. The structure looks inclined at an angle beyond the double bond.</a:t>
            </a:r>
          </a:p>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107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167671578"/>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108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52328254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IN" sz="1200" b="0" i="0" u="none" strike="noStrike" kern="1200" cap="none" dirty="0">
                <a:solidFill>
                  <a:schemeClr val="dk1"/>
                </a:solidFill>
                <a:effectLst/>
                <a:latin typeface="Arial"/>
                <a:ea typeface="Arial"/>
                <a:cs typeface="Arial"/>
                <a:sym typeface="Arial"/>
              </a:rPr>
              <a:t>Long description:</a:t>
            </a:r>
          </a:p>
          <a:p>
            <a:r>
              <a:rPr lang="en-US" sz="1200" b="0" i="0" u="none" strike="noStrike" kern="1200" cap="none" dirty="0">
                <a:solidFill>
                  <a:schemeClr val="dk1"/>
                </a:solidFill>
                <a:effectLst/>
                <a:latin typeface="Arial"/>
                <a:ea typeface="Arial"/>
                <a:cs typeface="Arial"/>
                <a:sym typeface="Arial"/>
              </a:rPr>
              <a:t>The</a:t>
            </a:r>
            <a:r>
              <a:rPr lang="en-US" sz="1200" b="1" i="0" u="none" strike="noStrike" kern="1200" cap="none" dirty="0">
                <a:solidFill>
                  <a:schemeClr val="dk1"/>
                </a:solidFill>
                <a:effectLst/>
                <a:latin typeface="Arial"/>
                <a:ea typeface="Arial"/>
                <a:cs typeface="Arial"/>
                <a:sym typeface="Arial"/>
              </a:rPr>
              <a:t> </a:t>
            </a:r>
            <a:r>
              <a:rPr lang="en-US" sz="1200" b="0" i="0" u="none" strike="noStrike" kern="1200" cap="none" dirty="0">
                <a:solidFill>
                  <a:schemeClr val="dk1"/>
                </a:solidFill>
                <a:effectLst/>
                <a:latin typeface="Arial"/>
                <a:ea typeface="Arial"/>
                <a:cs typeface="Arial"/>
                <a:sym typeface="Arial"/>
              </a:rPr>
              <a:t>structures of various compounds are described below:</a:t>
            </a: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Fatty acids:</a:t>
            </a:r>
          </a:p>
          <a:p>
            <a:pPr marL="0" indent="0">
              <a:buFont typeface="+mj-lt"/>
              <a:buNone/>
            </a:pPr>
            <a:r>
              <a:rPr lang="en-US" sz="1200" b="0" i="0" u="none" strike="noStrike" kern="1200" cap="none" dirty="0">
                <a:solidFill>
                  <a:schemeClr val="dk1"/>
                </a:solidFill>
                <a:effectLst/>
                <a:latin typeface="Arial"/>
                <a:ea typeface="Arial"/>
                <a:cs typeface="Arial"/>
                <a:sym typeface="Arial"/>
              </a:rPr>
              <a:t>Saturated fatty acids are </a:t>
            </a:r>
            <a:r>
              <a:rPr lang="en-US" sz="1200" b="0" i="0" u="none" strike="noStrike" kern="1200" cap="none" dirty="0" err="1">
                <a:solidFill>
                  <a:schemeClr val="dk1"/>
                </a:solidFill>
                <a:effectLst/>
                <a:latin typeface="Arial"/>
                <a:ea typeface="Arial"/>
                <a:cs typeface="Arial"/>
                <a:sym typeface="Arial"/>
              </a:rPr>
              <a:t>palmitic</a:t>
            </a:r>
            <a:r>
              <a:rPr lang="en-US" sz="1200" b="0" i="0" u="none" strike="noStrike" kern="1200" cap="none" dirty="0">
                <a:solidFill>
                  <a:schemeClr val="dk1"/>
                </a:solidFill>
                <a:effectLst/>
                <a:latin typeface="Arial"/>
                <a:ea typeface="Arial"/>
                <a:cs typeface="Arial"/>
                <a:sym typeface="Arial"/>
              </a:rPr>
              <a:t> acid and stearic acid, which are single bonds of C O </a:t>
            </a:r>
            <a:r>
              <a:rPr lang="en-US" sz="1200" b="0" i="0" u="none" strike="noStrike" kern="1200" cap="none" dirty="0" err="1">
                <a:solidFill>
                  <a:schemeClr val="dk1"/>
                </a:solidFill>
                <a:effectLst/>
                <a:latin typeface="Arial"/>
                <a:ea typeface="Arial"/>
                <a:cs typeface="Arial"/>
                <a:sym typeface="Arial"/>
              </a:rPr>
              <a:t>O</a:t>
            </a:r>
            <a:r>
              <a:rPr lang="en-US" sz="1200" b="0" i="0" u="none" strike="noStrike" kern="1200" cap="none" dirty="0">
                <a:solidFill>
                  <a:schemeClr val="dk1"/>
                </a:solidFill>
                <a:effectLst/>
                <a:latin typeface="Arial"/>
                <a:ea typeface="Arial"/>
                <a:cs typeface="Arial"/>
                <a:sym typeface="Arial"/>
              </a:rPr>
              <a:t> H. Unsaturated fatty acids are oleic acid and linoleic acid, which are single bonds of C O </a:t>
            </a:r>
            <a:r>
              <a:rPr lang="en-US" sz="1200" b="0" i="0" u="none" strike="noStrike" kern="1200" cap="none" dirty="0" err="1">
                <a:solidFill>
                  <a:schemeClr val="dk1"/>
                </a:solidFill>
                <a:effectLst/>
                <a:latin typeface="Arial"/>
                <a:ea typeface="Arial"/>
                <a:cs typeface="Arial"/>
                <a:sym typeface="Arial"/>
              </a:rPr>
              <a:t>O</a:t>
            </a:r>
            <a:r>
              <a:rPr lang="en-US" sz="1200" b="0" i="0" u="none" strike="noStrike" kern="1200" cap="none" dirty="0">
                <a:solidFill>
                  <a:schemeClr val="dk1"/>
                </a:solidFill>
                <a:effectLst/>
                <a:latin typeface="Arial"/>
                <a:ea typeface="Arial"/>
                <a:cs typeface="Arial"/>
                <a:sym typeface="Arial"/>
              </a:rPr>
              <a:t> H with a couple of double bonds in between. Where there is a double bond in oleic acid and two double bonds in linoleic acid, the structure tends to take an inclined angle.</a:t>
            </a:r>
          </a:p>
          <a:p>
            <a:pPr marL="0" lvl="0" indent="0">
              <a:buFont typeface="+mj-lt"/>
              <a:buNone/>
            </a:pPr>
            <a:r>
              <a:rPr lang="en-US" sz="1200" b="0" i="0" u="none" strike="noStrike" kern="1200" cap="none" dirty="0">
                <a:solidFill>
                  <a:schemeClr val="dk1"/>
                </a:solidFill>
                <a:effectLst/>
                <a:latin typeface="Arial"/>
                <a:ea typeface="Arial"/>
                <a:cs typeface="Arial"/>
                <a:sym typeface="Arial"/>
              </a:rPr>
              <a:t>2.  </a:t>
            </a:r>
            <a:r>
              <a:rPr lang="en-US" sz="1200" b="0" i="0" u="none" strike="noStrike" kern="1200" cap="none" dirty="0" err="1">
                <a:solidFill>
                  <a:schemeClr val="dk1"/>
                </a:solidFill>
                <a:effectLst/>
                <a:latin typeface="Arial"/>
                <a:ea typeface="Arial"/>
                <a:cs typeface="Arial"/>
                <a:sym typeface="Arial"/>
              </a:rPr>
              <a:t>Triacylglycerols</a:t>
            </a:r>
            <a:r>
              <a:rPr lang="en-US" sz="1200" b="0" i="0" u="none" strike="noStrike" kern="1200" cap="none" dirty="0">
                <a:solidFill>
                  <a:schemeClr val="dk1"/>
                </a:solidFill>
                <a:effectLst/>
                <a:latin typeface="Arial"/>
                <a:ea typeface="Arial"/>
                <a:cs typeface="Arial"/>
                <a:sym typeface="Arial"/>
              </a:rPr>
              <a:t> and their synthesis:</a:t>
            </a:r>
          </a:p>
          <a:p>
            <a:pPr marL="0" indent="0">
              <a:buFont typeface="+mj-lt"/>
              <a:buNone/>
            </a:pPr>
            <a:r>
              <a:rPr lang="en-US" sz="1200" b="0" i="0" u="none" strike="noStrike" kern="1200" cap="none" dirty="0">
                <a:solidFill>
                  <a:schemeClr val="dk1"/>
                </a:solidFill>
                <a:effectLst/>
                <a:latin typeface="Arial"/>
                <a:ea typeface="Arial"/>
                <a:cs typeface="Arial"/>
                <a:sym typeface="Arial"/>
              </a:rPr>
              <a:t>The equation shows glycerol plus three fatty acids gives triacylglycerol and gives out three molecules of water. Glycerol shows three C molecules single bond to O H and H, and additional two H atoms. Three fatty acids show three C double bond O and single bond O H. </a:t>
            </a:r>
            <a:r>
              <a:rPr lang="en-US" sz="1200" b="0" i="0" u="none" strike="noStrike" kern="1200" cap="none" dirty="0" err="1">
                <a:solidFill>
                  <a:schemeClr val="dk1"/>
                </a:solidFill>
                <a:effectLst/>
                <a:latin typeface="Arial"/>
                <a:ea typeface="Arial"/>
                <a:cs typeface="Arial"/>
                <a:sym typeface="Arial"/>
              </a:rPr>
              <a:t>Triacylglecerol</a:t>
            </a:r>
            <a:r>
              <a:rPr lang="en-US" sz="1200" b="0" i="0" u="none" strike="noStrike" kern="1200" cap="none" dirty="0">
                <a:solidFill>
                  <a:schemeClr val="dk1"/>
                </a:solidFill>
                <a:effectLst/>
                <a:latin typeface="Arial"/>
                <a:ea typeface="Arial"/>
                <a:cs typeface="Arial"/>
                <a:sym typeface="Arial"/>
              </a:rPr>
              <a:t> shows a C single bond to H, H, O and the O has a single bond to C double bond O molecule. Thus structure repeats thrice for </a:t>
            </a:r>
            <a:r>
              <a:rPr lang="en-US" sz="1200" b="0" i="0" u="none" strike="noStrike" kern="1200" cap="none" dirty="0" err="1">
                <a:solidFill>
                  <a:schemeClr val="dk1"/>
                </a:solidFill>
                <a:effectLst/>
                <a:latin typeface="Arial"/>
                <a:ea typeface="Arial"/>
                <a:cs typeface="Arial"/>
                <a:sym typeface="Arial"/>
              </a:rPr>
              <a:t>Triacylglecerol</a:t>
            </a:r>
            <a:r>
              <a:rPr lang="en-US" sz="1200" b="0" i="0" u="none" strike="noStrike" kern="1200" cap="none" dirty="0">
                <a:solidFill>
                  <a:schemeClr val="dk1"/>
                </a:solidFill>
                <a:effectLst/>
                <a:latin typeface="Arial"/>
                <a:ea typeface="Arial"/>
                <a:cs typeface="Arial"/>
                <a:sym typeface="Arial"/>
              </a:rPr>
              <a:t>. The third structure in inclined to the bottom at a double bond.</a:t>
            </a:r>
          </a:p>
          <a:p>
            <a:pPr marL="0" lvl="0" indent="0">
              <a:buFont typeface="+mj-lt"/>
              <a:buNone/>
            </a:pPr>
            <a:r>
              <a:rPr lang="en-US" sz="1200" b="0" i="0" u="none" strike="noStrike" kern="1200" cap="none" dirty="0">
                <a:solidFill>
                  <a:schemeClr val="dk1"/>
                </a:solidFill>
                <a:effectLst/>
                <a:latin typeface="Arial"/>
                <a:ea typeface="Arial"/>
                <a:cs typeface="Arial"/>
                <a:sym typeface="Arial"/>
              </a:rPr>
              <a:t>3.  Phospholipids where R equals any of several hydrophilic compounds.</a:t>
            </a:r>
          </a:p>
          <a:p>
            <a:pPr marL="1143000" lvl="2" indent="-228600">
              <a:buFont typeface="+mj-lt"/>
              <a:buAutoNum type="alphaLcParenR"/>
            </a:pPr>
            <a:r>
              <a:rPr lang="en-US" sz="1200" b="0" i="0" u="none" strike="noStrike" kern="1200" cap="none" dirty="0" err="1">
                <a:solidFill>
                  <a:schemeClr val="dk1"/>
                </a:solidFill>
                <a:effectLst/>
                <a:latin typeface="Arial"/>
                <a:ea typeface="Arial"/>
                <a:cs typeface="Arial"/>
                <a:sym typeface="Arial"/>
              </a:rPr>
              <a:t>Phosphoglycerides</a:t>
            </a:r>
            <a:endParaRPr lang="en-US" sz="1200" b="0" i="0" u="none" strike="noStrike" kern="1200" cap="none" dirty="0">
              <a:solidFill>
                <a:schemeClr val="dk1"/>
              </a:solidFill>
              <a:effectLst/>
              <a:latin typeface="Arial"/>
              <a:ea typeface="Arial"/>
              <a:cs typeface="Arial"/>
              <a:sym typeface="Arial"/>
            </a:endParaRPr>
          </a:p>
          <a:p>
            <a:pPr marL="457200" lvl="1" indent="0">
              <a:buFont typeface="+mj-lt"/>
              <a:buNone/>
            </a:pPr>
            <a:r>
              <a:rPr lang="en-US" sz="1200" b="0" i="0" u="none" strike="noStrike" kern="1200" cap="none" dirty="0">
                <a:solidFill>
                  <a:schemeClr val="dk1"/>
                </a:solidFill>
                <a:effectLst/>
                <a:latin typeface="Arial"/>
                <a:ea typeface="Arial"/>
                <a:cs typeface="Arial"/>
                <a:sym typeface="Arial"/>
              </a:rPr>
              <a:t>             </a:t>
            </a:r>
            <a:r>
              <a:rPr lang="en-US" sz="1200" b="0" i="0" u="none" strike="noStrike" kern="1200" cap="none" baseline="0" dirty="0">
                <a:solidFill>
                  <a:schemeClr val="dk1"/>
                </a:solidFill>
                <a:effectLst/>
                <a:latin typeface="Arial"/>
                <a:ea typeface="Arial"/>
                <a:cs typeface="Arial"/>
                <a:sym typeface="Arial"/>
              </a:rPr>
              <a:t>  </a:t>
            </a:r>
            <a:r>
              <a:rPr lang="en-US" sz="1200" b="0" i="0" u="none" strike="noStrike" kern="1200" cap="none" dirty="0">
                <a:solidFill>
                  <a:schemeClr val="dk1"/>
                </a:solidFill>
                <a:effectLst/>
                <a:latin typeface="Arial"/>
                <a:ea typeface="Arial"/>
                <a:cs typeface="Arial"/>
                <a:sym typeface="Arial"/>
              </a:rPr>
              <a:t>R single bond P single bond glycerol. The glycerol structure is two C molecules       single bond to O H and H, C H subscript 2, and the O are bonded to C double bond O.</a:t>
            </a:r>
          </a:p>
          <a:p>
            <a:pPr marL="914400" lvl="2" indent="0">
              <a:buFont typeface="+mj-lt"/>
              <a:buNone/>
            </a:pPr>
            <a:r>
              <a:rPr lang="en-US" sz="1200" b="0" i="0" u="none" strike="noStrike" kern="1200" cap="none" dirty="0">
                <a:solidFill>
                  <a:schemeClr val="dk1"/>
                </a:solidFill>
                <a:effectLst/>
                <a:latin typeface="Arial"/>
                <a:ea typeface="Arial"/>
                <a:cs typeface="Arial"/>
                <a:sym typeface="Arial"/>
              </a:rPr>
              <a:t>b)</a:t>
            </a:r>
            <a:r>
              <a:rPr lang="en-US" sz="1200" b="0" i="0" u="none" strike="noStrike" kern="1200" cap="none" baseline="0" dirty="0">
                <a:solidFill>
                  <a:schemeClr val="dk1"/>
                </a:solidFill>
                <a:effectLst/>
                <a:latin typeface="Arial"/>
                <a:ea typeface="Arial"/>
                <a:cs typeface="Arial"/>
                <a:sym typeface="Arial"/>
              </a:rPr>
              <a:t>  </a:t>
            </a:r>
            <a:r>
              <a:rPr lang="en-US" sz="1200" b="0" i="0" u="none" strike="noStrike" kern="1200" cap="none" dirty="0" err="1">
                <a:solidFill>
                  <a:schemeClr val="dk1"/>
                </a:solidFill>
                <a:effectLst/>
                <a:latin typeface="Arial"/>
                <a:ea typeface="Arial"/>
                <a:cs typeface="Arial"/>
                <a:sym typeface="Arial"/>
              </a:rPr>
              <a:t>Sphingolipids</a:t>
            </a:r>
            <a:endParaRPr lang="en-US" sz="1200" b="0" i="0" u="none" strike="noStrike" kern="1200" cap="none" dirty="0">
              <a:solidFill>
                <a:schemeClr val="dk1"/>
              </a:solidFill>
              <a:effectLst/>
              <a:latin typeface="Arial"/>
              <a:ea typeface="Arial"/>
              <a:cs typeface="Arial"/>
              <a:sym typeface="Arial"/>
            </a:endParaRPr>
          </a:p>
          <a:p>
            <a:pPr marL="457200" lvl="1" indent="0">
              <a:buFont typeface="+mj-lt"/>
              <a:buNone/>
            </a:pPr>
            <a:r>
              <a:rPr lang="en-US" sz="1200" b="0" i="0" u="none" strike="noStrike" kern="1200" cap="none" dirty="0">
                <a:solidFill>
                  <a:schemeClr val="dk1"/>
                </a:solidFill>
                <a:effectLst/>
                <a:latin typeface="Arial"/>
                <a:ea typeface="Arial"/>
                <a:cs typeface="Arial"/>
                <a:sym typeface="Arial"/>
              </a:rPr>
              <a:t>               R single bond P single bond </a:t>
            </a:r>
            <a:r>
              <a:rPr lang="en-US" sz="1200" b="0" i="0" u="none" strike="noStrike" kern="1200" cap="none" dirty="0" err="1">
                <a:solidFill>
                  <a:schemeClr val="dk1"/>
                </a:solidFill>
                <a:effectLst/>
                <a:latin typeface="Arial"/>
                <a:ea typeface="Arial"/>
                <a:cs typeface="Arial"/>
                <a:sym typeface="Arial"/>
              </a:rPr>
              <a:t>sphingosine</a:t>
            </a:r>
            <a:r>
              <a:rPr lang="en-US" sz="1200" b="0" i="0" u="none" strike="noStrike" kern="1200" cap="none" dirty="0">
                <a:solidFill>
                  <a:schemeClr val="dk1"/>
                </a:solidFill>
                <a:effectLst/>
                <a:latin typeface="Arial"/>
                <a:ea typeface="Arial"/>
                <a:cs typeface="Arial"/>
                <a:sym typeface="Arial"/>
              </a:rPr>
              <a:t>. The </a:t>
            </a:r>
            <a:r>
              <a:rPr lang="en-US" sz="1200" b="0" i="0" u="none" strike="noStrike" kern="1200" cap="none" dirty="0" err="1">
                <a:solidFill>
                  <a:schemeClr val="dk1"/>
                </a:solidFill>
                <a:effectLst/>
                <a:latin typeface="Arial"/>
                <a:ea typeface="Arial"/>
                <a:cs typeface="Arial"/>
                <a:sym typeface="Arial"/>
              </a:rPr>
              <a:t>Sphingosine</a:t>
            </a:r>
            <a:r>
              <a:rPr lang="en-US" sz="1200" b="0" i="0" u="none" strike="noStrike" kern="1200" cap="none" dirty="0">
                <a:solidFill>
                  <a:schemeClr val="dk1"/>
                </a:solidFill>
                <a:effectLst/>
                <a:latin typeface="Arial"/>
                <a:ea typeface="Arial"/>
                <a:cs typeface="Arial"/>
                <a:sym typeface="Arial"/>
              </a:rPr>
              <a:t> is two C molecules, where the first C is single bond O H, H, C to H, to double bond with another C. The second C is single bond H, bond N H, single bond to C double bond to O. The second has a single bond to C H subscript 2, which is turn has a single bond with P.</a:t>
            </a:r>
          </a:p>
          <a:p>
            <a:pPr marL="0" lvl="0" indent="0">
              <a:buFont typeface="+mj-lt"/>
              <a:buNone/>
            </a:pPr>
            <a:r>
              <a:rPr lang="en-US" sz="1200" b="0" i="0" u="none" strike="noStrike" kern="1200" cap="none" dirty="0">
                <a:solidFill>
                  <a:schemeClr val="dk1"/>
                </a:solidFill>
                <a:effectLst/>
                <a:latin typeface="Arial"/>
                <a:ea typeface="Arial"/>
                <a:cs typeface="Arial"/>
                <a:sym typeface="Arial"/>
              </a:rPr>
              <a:t>4.   Glycolipids where R is carbohydrate chain of 1 to 6 monosaccharide units. It shows a </a:t>
            </a:r>
            <a:r>
              <a:rPr lang="en-US" sz="1200" b="0" i="0" u="none" strike="noStrike" kern="1200" cap="none" dirty="0" err="1">
                <a:solidFill>
                  <a:schemeClr val="dk1"/>
                </a:solidFill>
                <a:effectLst/>
                <a:latin typeface="Arial"/>
                <a:ea typeface="Arial"/>
                <a:cs typeface="Arial"/>
                <a:sym typeface="Arial"/>
              </a:rPr>
              <a:t>Sphingosine</a:t>
            </a:r>
            <a:r>
              <a:rPr lang="en-US" sz="1200" b="0" i="0" u="none" strike="noStrike" kern="1200" cap="none" dirty="0">
                <a:solidFill>
                  <a:schemeClr val="dk1"/>
                </a:solidFill>
                <a:effectLst/>
                <a:latin typeface="Arial"/>
                <a:ea typeface="Arial"/>
                <a:cs typeface="Arial"/>
                <a:sym typeface="Arial"/>
              </a:rPr>
              <a:t> bond with a C double bond O. The </a:t>
            </a:r>
            <a:r>
              <a:rPr lang="en-US" sz="1200" b="0" i="0" u="none" strike="noStrike" kern="1200" cap="none" dirty="0" err="1">
                <a:solidFill>
                  <a:schemeClr val="dk1"/>
                </a:solidFill>
                <a:effectLst/>
                <a:latin typeface="Arial"/>
                <a:ea typeface="Arial"/>
                <a:cs typeface="Arial"/>
                <a:sym typeface="Arial"/>
              </a:rPr>
              <a:t>Sphingosine</a:t>
            </a:r>
            <a:r>
              <a:rPr lang="en-US" sz="1200" b="0" i="0" u="none" strike="noStrike" kern="1200" cap="none" dirty="0">
                <a:solidFill>
                  <a:schemeClr val="dk1"/>
                </a:solidFill>
                <a:effectLst/>
                <a:latin typeface="Arial"/>
                <a:ea typeface="Arial"/>
                <a:cs typeface="Arial"/>
                <a:sym typeface="Arial"/>
              </a:rPr>
              <a:t> is two C molecules, where the first C is single bond O H, H, C to H, to double bond with another C. The second C is single bond H, bond N H, single bond to C double bond to O. The second has a single bond to C H subscript 2.</a:t>
            </a:r>
          </a:p>
          <a:p>
            <a:pPr marL="0" lvl="0" indent="0">
              <a:buFont typeface="+mj-lt"/>
              <a:buNone/>
            </a:pPr>
            <a:r>
              <a:rPr lang="en-US" sz="1200" b="0" i="0" u="none" strike="noStrike" kern="1200" cap="none" dirty="0">
                <a:solidFill>
                  <a:schemeClr val="dk1"/>
                </a:solidFill>
                <a:effectLst/>
                <a:latin typeface="Arial"/>
                <a:ea typeface="Arial"/>
                <a:cs typeface="Arial"/>
                <a:sym typeface="Arial"/>
              </a:rPr>
              <a:t>5.   Steroids: It shows four ringed hydrocarbon skeleton of steroids. The vertex of the three hexagons are numbered as 1 to 5, 6 to 10, and 11 to 14 respectively. The fourth pentagon shows vertices 15 to 17. Number 18 and 19 and bonds between the first and second hydrocarbon and third and fourth hydrocarbons. The second structure shows the position of O H.</a:t>
            </a:r>
          </a:p>
          <a:p>
            <a:pPr marL="0" lvl="0" indent="0">
              <a:buFont typeface="+mj-lt"/>
              <a:buNone/>
            </a:pPr>
            <a:r>
              <a:rPr lang="en-US" sz="1200" b="0" i="0" u="none" strike="noStrike" kern="1200" cap="none" dirty="0">
                <a:solidFill>
                  <a:schemeClr val="dk1"/>
                </a:solidFill>
                <a:effectLst/>
                <a:latin typeface="Arial"/>
                <a:ea typeface="Arial"/>
                <a:cs typeface="Arial"/>
                <a:sym typeface="Arial"/>
              </a:rPr>
              <a:t>6.   </a:t>
            </a:r>
            <a:r>
              <a:rPr lang="en-US" sz="1200" b="0" i="0" u="none" strike="noStrike" kern="1200" cap="none" dirty="0" err="1">
                <a:solidFill>
                  <a:schemeClr val="dk1"/>
                </a:solidFill>
                <a:effectLst/>
                <a:latin typeface="Arial"/>
                <a:ea typeface="Arial"/>
                <a:cs typeface="Arial"/>
                <a:sym typeface="Arial"/>
              </a:rPr>
              <a:t>Terpenes</a:t>
            </a:r>
            <a:r>
              <a:rPr lang="en-US" sz="1200" b="0" i="0" u="none" strike="noStrike" kern="1200" cap="none" dirty="0">
                <a:solidFill>
                  <a:schemeClr val="dk1"/>
                </a:solidFill>
                <a:effectLst/>
                <a:latin typeface="Arial"/>
                <a:ea typeface="Arial"/>
                <a:cs typeface="Arial"/>
                <a:sym typeface="Arial"/>
              </a:rPr>
              <a:t>: It is labeled Vitamin A. It shows isoprene getting delineated to isoprene units of vitamin A. An isoprene is a C double bond C H subscript 2, single bond C H subscript 3, single bond C H with a double bond C H subscript 2. The delineated isoprene unit is a structure of C H single bond C single bond C H subscript 3, the C has a double bond with C single bond H single bond C H and H. The second isoprene unit has a C H subscript 2 O H to C. The structure has a hexagon on the top with a C single bond H connecting with the double bond with the isoprene structures.</a:t>
            </a:r>
          </a:p>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109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169455014"/>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110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185931805"/>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111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055743570"/>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112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117580492"/>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IN" sz="1200" b="0" i="0" u="none" strike="noStrike" kern="1200" cap="none" dirty="0">
                <a:solidFill>
                  <a:schemeClr val="dk1"/>
                </a:solidFill>
                <a:effectLst/>
                <a:latin typeface="Arial"/>
                <a:ea typeface="Arial"/>
                <a:cs typeface="Arial"/>
                <a:sym typeface="Arial"/>
              </a:rPr>
              <a:t>Long description:</a:t>
            </a:r>
          </a:p>
          <a:p>
            <a:r>
              <a:rPr lang="en-US" sz="1200" b="0" i="0" u="none" strike="noStrike" kern="1200" cap="none" dirty="0">
                <a:solidFill>
                  <a:schemeClr val="dk1"/>
                </a:solidFill>
                <a:effectLst/>
                <a:latin typeface="Arial"/>
                <a:ea typeface="Arial"/>
                <a:cs typeface="Arial"/>
                <a:sym typeface="Arial"/>
              </a:rPr>
              <a:t>The</a:t>
            </a:r>
            <a:r>
              <a:rPr lang="en-US" sz="1200" b="1" i="0" u="none" strike="noStrike" kern="1200" cap="none" dirty="0">
                <a:solidFill>
                  <a:schemeClr val="dk1"/>
                </a:solidFill>
                <a:effectLst/>
                <a:latin typeface="Arial"/>
                <a:ea typeface="Arial"/>
                <a:cs typeface="Arial"/>
                <a:sym typeface="Arial"/>
              </a:rPr>
              <a:t> </a:t>
            </a:r>
            <a:r>
              <a:rPr lang="en-US" sz="1200" b="0" i="0" u="none" strike="noStrike" kern="1200" cap="none" dirty="0">
                <a:solidFill>
                  <a:schemeClr val="dk1"/>
                </a:solidFill>
                <a:effectLst/>
                <a:latin typeface="Arial"/>
                <a:ea typeface="Arial"/>
                <a:cs typeface="Arial"/>
                <a:sym typeface="Arial"/>
              </a:rPr>
              <a:t>structures of various compounds are described below:</a:t>
            </a: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Fatty acids:</a:t>
            </a:r>
          </a:p>
          <a:p>
            <a:pPr marL="0" indent="0">
              <a:buFont typeface="+mj-lt"/>
              <a:buNone/>
            </a:pPr>
            <a:r>
              <a:rPr lang="en-US" sz="1200" b="0" i="0" u="none" strike="noStrike" kern="1200" cap="none" dirty="0">
                <a:solidFill>
                  <a:schemeClr val="dk1"/>
                </a:solidFill>
                <a:effectLst/>
                <a:latin typeface="Arial"/>
                <a:ea typeface="Arial"/>
                <a:cs typeface="Arial"/>
                <a:sym typeface="Arial"/>
              </a:rPr>
              <a:t>Saturated fatty acids are </a:t>
            </a:r>
            <a:r>
              <a:rPr lang="en-US" sz="1200" b="0" i="0" u="none" strike="noStrike" kern="1200" cap="none" dirty="0" err="1">
                <a:solidFill>
                  <a:schemeClr val="dk1"/>
                </a:solidFill>
                <a:effectLst/>
                <a:latin typeface="Arial"/>
                <a:ea typeface="Arial"/>
                <a:cs typeface="Arial"/>
                <a:sym typeface="Arial"/>
              </a:rPr>
              <a:t>palmitic</a:t>
            </a:r>
            <a:r>
              <a:rPr lang="en-US" sz="1200" b="0" i="0" u="none" strike="noStrike" kern="1200" cap="none" dirty="0">
                <a:solidFill>
                  <a:schemeClr val="dk1"/>
                </a:solidFill>
                <a:effectLst/>
                <a:latin typeface="Arial"/>
                <a:ea typeface="Arial"/>
                <a:cs typeface="Arial"/>
                <a:sym typeface="Arial"/>
              </a:rPr>
              <a:t> acid and stearic acid, which are single bonds of C O </a:t>
            </a:r>
            <a:r>
              <a:rPr lang="en-US" sz="1200" b="0" i="0" u="none" strike="noStrike" kern="1200" cap="none" dirty="0" err="1">
                <a:solidFill>
                  <a:schemeClr val="dk1"/>
                </a:solidFill>
                <a:effectLst/>
                <a:latin typeface="Arial"/>
                <a:ea typeface="Arial"/>
                <a:cs typeface="Arial"/>
                <a:sym typeface="Arial"/>
              </a:rPr>
              <a:t>O</a:t>
            </a:r>
            <a:r>
              <a:rPr lang="en-US" sz="1200" b="0" i="0" u="none" strike="noStrike" kern="1200" cap="none" dirty="0">
                <a:solidFill>
                  <a:schemeClr val="dk1"/>
                </a:solidFill>
                <a:effectLst/>
                <a:latin typeface="Arial"/>
                <a:ea typeface="Arial"/>
                <a:cs typeface="Arial"/>
                <a:sym typeface="Arial"/>
              </a:rPr>
              <a:t> H. Unsaturated fatty acids are oleic acid and linoleic acid, which are single bonds of C O </a:t>
            </a:r>
            <a:r>
              <a:rPr lang="en-US" sz="1200" b="0" i="0" u="none" strike="noStrike" kern="1200" cap="none" dirty="0" err="1">
                <a:solidFill>
                  <a:schemeClr val="dk1"/>
                </a:solidFill>
                <a:effectLst/>
                <a:latin typeface="Arial"/>
                <a:ea typeface="Arial"/>
                <a:cs typeface="Arial"/>
                <a:sym typeface="Arial"/>
              </a:rPr>
              <a:t>O</a:t>
            </a:r>
            <a:r>
              <a:rPr lang="en-US" sz="1200" b="0" i="0" u="none" strike="noStrike" kern="1200" cap="none" dirty="0">
                <a:solidFill>
                  <a:schemeClr val="dk1"/>
                </a:solidFill>
                <a:effectLst/>
                <a:latin typeface="Arial"/>
                <a:ea typeface="Arial"/>
                <a:cs typeface="Arial"/>
                <a:sym typeface="Arial"/>
              </a:rPr>
              <a:t> H with a couple of double bonds in between. Where there is a double bond in oleic acid and two double bonds in linoleic acid, the structure tends to take an inclined angle.</a:t>
            </a:r>
          </a:p>
          <a:p>
            <a:pPr marL="0" lvl="0" indent="0">
              <a:buFont typeface="+mj-lt"/>
              <a:buNone/>
            </a:pPr>
            <a:r>
              <a:rPr lang="en-US" sz="1200" b="0" i="0" u="none" strike="noStrike" kern="1200" cap="none" dirty="0">
                <a:solidFill>
                  <a:schemeClr val="dk1"/>
                </a:solidFill>
                <a:effectLst/>
                <a:latin typeface="Arial"/>
                <a:ea typeface="Arial"/>
                <a:cs typeface="Arial"/>
                <a:sym typeface="Arial"/>
              </a:rPr>
              <a:t>2.  </a:t>
            </a:r>
            <a:r>
              <a:rPr lang="en-US" sz="1200" b="0" i="0" u="none" strike="noStrike" kern="1200" cap="none" dirty="0" err="1">
                <a:solidFill>
                  <a:schemeClr val="dk1"/>
                </a:solidFill>
                <a:effectLst/>
                <a:latin typeface="Arial"/>
                <a:ea typeface="Arial"/>
                <a:cs typeface="Arial"/>
                <a:sym typeface="Arial"/>
              </a:rPr>
              <a:t>Triacylglycerols</a:t>
            </a:r>
            <a:r>
              <a:rPr lang="en-US" sz="1200" b="0" i="0" u="none" strike="noStrike" kern="1200" cap="none" dirty="0">
                <a:solidFill>
                  <a:schemeClr val="dk1"/>
                </a:solidFill>
                <a:effectLst/>
                <a:latin typeface="Arial"/>
                <a:ea typeface="Arial"/>
                <a:cs typeface="Arial"/>
                <a:sym typeface="Arial"/>
              </a:rPr>
              <a:t> and their synthesis:</a:t>
            </a:r>
          </a:p>
          <a:p>
            <a:pPr marL="0" indent="0">
              <a:buFont typeface="+mj-lt"/>
              <a:buNone/>
            </a:pPr>
            <a:r>
              <a:rPr lang="en-US" sz="1200" b="0" i="0" u="none" strike="noStrike" kern="1200" cap="none" dirty="0">
                <a:solidFill>
                  <a:schemeClr val="dk1"/>
                </a:solidFill>
                <a:effectLst/>
                <a:latin typeface="Arial"/>
                <a:ea typeface="Arial"/>
                <a:cs typeface="Arial"/>
                <a:sym typeface="Arial"/>
              </a:rPr>
              <a:t>The equation shows glycerol plus three fatty acids gives triacylglycerol and gives out three molecules of water. Glycerol shows three C molecules single bond to O H and H, and additional two H atoms. Three fatty acids show three C double bond O and single bond O H. </a:t>
            </a:r>
            <a:r>
              <a:rPr lang="en-US" sz="1200" b="0" i="0" u="none" strike="noStrike" kern="1200" cap="none" dirty="0" err="1">
                <a:solidFill>
                  <a:schemeClr val="dk1"/>
                </a:solidFill>
                <a:effectLst/>
                <a:latin typeface="Arial"/>
                <a:ea typeface="Arial"/>
                <a:cs typeface="Arial"/>
                <a:sym typeface="Arial"/>
              </a:rPr>
              <a:t>Triacylglecerol</a:t>
            </a:r>
            <a:r>
              <a:rPr lang="en-US" sz="1200" b="0" i="0" u="none" strike="noStrike" kern="1200" cap="none" dirty="0">
                <a:solidFill>
                  <a:schemeClr val="dk1"/>
                </a:solidFill>
                <a:effectLst/>
                <a:latin typeface="Arial"/>
                <a:ea typeface="Arial"/>
                <a:cs typeface="Arial"/>
                <a:sym typeface="Arial"/>
              </a:rPr>
              <a:t> shows a C single bond to H, H, O and the O has a single bond to C double bond O molecule. Thus structure repeats thrice for </a:t>
            </a:r>
            <a:r>
              <a:rPr lang="en-US" sz="1200" b="0" i="0" u="none" strike="noStrike" kern="1200" cap="none" dirty="0" err="1">
                <a:solidFill>
                  <a:schemeClr val="dk1"/>
                </a:solidFill>
                <a:effectLst/>
                <a:latin typeface="Arial"/>
                <a:ea typeface="Arial"/>
                <a:cs typeface="Arial"/>
                <a:sym typeface="Arial"/>
              </a:rPr>
              <a:t>Triacylglecerol</a:t>
            </a:r>
            <a:r>
              <a:rPr lang="en-US" sz="1200" b="0" i="0" u="none" strike="noStrike" kern="1200" cap="none" dirty="0">
                <a:solidFill>
                  <a:schemeClr val="dk1"/>
                </a:solidFill>
                <a:effectLst/>
                <a:latin typeface="Arial"/>
                <a:ea typeface="Arial"/>
                <a:cs typeface="Arial"/>
                <a:sym typeface="Arial"/>
              </a:rPr>
              <a:t>. The third structure in inclined to the bottom at a double bond.</a:t>
            </a:r>
          </a:p>
          <a:p>
            <a:pPr marL="0" lvl="0" indent="0">
              <a:buFont typeface="+mj-lt"/>
              <a:buNone/>
            </a:pPr>
            <a:r>
              <a:rPr lang="en-US" sz="1200" b="0" i="0" u="none" strike="noStrike" kern="1200" cap="none" dirty="0">
                <a:solidFill>
                  <a:schemeClr val="dk1"/>
                </a:solidFill>
                <a:effectLst/>
                <a:latin typeface="Arial"/>
                <a:ea typeface="Arial"/>
                <a:cs typeface="Arial"/>
                <a:sym typeface="Arial"/>
              </a:rPr>
              <a:t>3.  Phospholipids where R equals any of several hydrophilic compounds.</a:t>
            </a:r>
          </a:p>
          <a:p>
            <a:pPr marL="1143000" lvl="2" indent="-228600">
              <a:buFont typeface="+mj-lt"/>
              <a:buAutoNum type="alphaLcParenR"/>
            </a:pPr>
            <a:r>
              <a:rPr lang="en-US" sz="1200" b="0" i="0" u="none" strike="noStrike" kern="1200" cap="none" dirty="0" err="1">
                <a:solidFill>
                  <a:schemeClr val="dk1"/>
                </a:solidFill>
                <a:effectLst/>
                <a:latin typeface="Arial"/>
                <a:ea typeface="Arial"/>
                <a:cs typeface="Arial"/>
                <a:sym typeface="Arial"/>
              </a:rPr>
              <a:t>Phosphoglycerides</a:t>
            </a:r>
            <a:endParaRPr lang="en-US" sz="1200" b="0" i="0" u="none" strike="noStrike" kern="1200" cap="none" dirty="0">
              <a:solidFill>
                <a:schemeClr val="dk1"/>
              </a:solidFill>
              <a:effectLst/>
              <a:latin typeface="Arial"/>
              <a:ea typeface="Arial"/>
              <a:cs typeface="Arial"/>
              <a:sym typeface="Arial"/>
            </a:endParaRPr>
          </a:p>
          <a:p>
            <a:pPr marL="457200" lvl="1" indent="0">
              <a:buFont typeface="+mj-lt"/>
              <a:buNone/>
            </a:pPr>
            <a:r>
              <a:rPr lang="en-US" sz="1200" b="0" i="0" u="none" strike="noStrike" kern="1200" cap="none" dirty="0">
                <a:solidFill>
                  <a:schemeClr val="dk1"/>
                </a:solidFill>
                <a:effectLst/>
                <a:latin typeface="Arial"/>
                <a:ea typeface="Arial"/>
                <a:cs typeface="Arial"/>
                <a:sym typeface="Arial"/>
              </a:rPr>
              <a:t>             </a:t>
            </a:r>
            <a:r>
              <a:rPr lang="en-US" sz="1200" b="0" i="0" u="none" strike="noStrike" kern="1200" cap="none" baseline="0" dirty="0">
                <a:solidFill>
                  <a:schemeClr val="dk1"/>
                </a:solidFill>
                <a:effectLst/>
                <a:latin typeface="Arial"/>
                <a:ea typeface="Arial"/>
                <a:cs typeface="Arial"/>
                <a:sym typeface="Arial"/>
              </a:rPr>
              <a:t>  </a:t>
            </a:r>
            <a:r>
              <a:rPr lang="en-US" sz="1200" b="0" i="0" u="none" strike="noStrike" kern="1200" cap="none" dirty="0">
                <a:solidFill>
                  <a:schemeClr val="dk1"/>
                </a:solidFill>
                <a:effectLst/>
                <a:latin typeface="Arial"/>
                <a:ea typeface="Arial"/>
                <a:cs typeface="Arial"/>
                <a:sym typeface="Arial"/>
              </a:rPr>
              <a:t>R single bond P single bond glycerol. The glycerol structure is two C molecules       single bond to O H and H, C H subscript 2, and the O are bonded to C double bond O.</a:t>
            </a:r>
          </a:p>
          <a:p>
            <a:pPr marL="914400" lvl="2" indent="0">
              <a:buFont typeface="+mj-lt"/>
              <a:buNone/>
            </a:pPr>
            <a:r>
              <a:rPr lang="en-US" sz="1200" b="0" i="0" u="none" strike="noStrike" kern="1200" cap="none" dirty="0">
                <a:solidFill>
                  <a:schemeClr val="dk1"/>
                </a:solidFill>
                <a:effectLst/>
                <a:latin typeface="Arial"/>
                <a:ea typeface="Arial"/>
                <a:cs typeface="Arial"/>
                <a:sym typeface="Arial"/>
              </a:rPr>
              <a:t>b)</a:t>
            </a:r>
            <a:r>
              <a:rPr lang="en-US" sz="1200" b="0" i="0" u="none" strike="noStrike" kern="1200" cap="none" baseline="0" dirty="0">
                <a:solidFill>
                  <a:schemeClr val="dk1"/>
                </a:solidFill>
                <a:effectLst/>
                <a:latin typeface="Arial"/>
                <a:ea typeface="Arial"/>
                <a:cs typeface="Arial"/>
                <a:sym typeface="Arial"/>
              </a:rPr>
              <a:t>  </a:t>
            </a:r>
            <a:r>
              <a:rPr lang="en-US" sz="1200" b="0" i="0" u="none" strike="noStrike" kern="1200" cap="none" dirty="0" err="1">
                <a:solidFill>
                  <a:schemeClr val="dk1"/>
                </a:solidFill>
                <a:effectLst/>
                <a:latin typeface="Arial"/>
                <a:ea typeface="Arial"/>
                <a:cs typeface="Arial"/>
                <a:sym typeface="Arial"/>
              </a:rPr>
              <a:t>Sphingolipids</a:t>
            </a:r>
            <a:endParaRPr lang="en-US" sz="1200" b="0" i="0" u="none" strike="noStrike" kern="1200" cap="none" dirty="0">
              <a:solidFill>
                <a:schemeClr val="dk1"/>
              </a:solidFill>
              <a:effectLst/>
              <a:latin typeface="Arial"/>
              <a:ea typeface="Arial"/>
              <a:cs typeface="Arial"/>
              <a:sym typeface="Arial"/>
            </a:endParaRPr>
          </a:p>
          <a:p>
            <a:pPr marL="457200" lvl="1" indent="0">
              <a:buFont typeface="+mj-lt"/>
              <a:buNone/>
            </a:pPr>
            <a:r>
              <a:rPr lang="en-US" sz="1200" b="0" i="0" u="none" strike="noStrike" kern="1200" cap="none" dirty="0">
                <a:solidFill>
                  <a:schemeClr val="dk1"/>
                </a:solidFill>
                <a:effectLst/>
                <a:latin typeface="Arial"/>
                <a:ea typeface="Arial"/>
                <a:cs typeface="Arial"/>
                <a:sym typeface="Arial"/>
              </a:rPr>
              <a:t>               R single bond P single bond </a:t>
            </a:r>
            <a:r>
              <a:rPr lang="en-US" sz="1200" b="0" i="0" u="none" strike="noStrike" kern="1200" cap="none" dirty="0" err="1">
                <a:solidFill>
                  <a:schemeClr val="dk1"/>
                </a:solidFill>
                <a:effectLst/>
                <a:latin typeface="Arial"/>
                <a:ea typeface="Arial"/>
                <a:cs typeface="Arial"/>
                <a:sym typeface="Arial"/>
              </a:rPr>
              <a:t>sphingosine</a:t>
            </a:r>
            <a:r>
              <a:rPr lang="en-US" sz="1200" b="0" i="0" u="none" strike="noStrike" kern="1200" cap="none" dirty="0">
                <a:solidFill>
                  <a:schemeClr val="dk1"/>
                </a:solidFill>
                <a:effectLst/>
                <a:latin typeface="Arial"/>
                <a:ea typeface="Arial"/>
                <a:cs typeface="Arial"/>
                <a:sym typeface="Arial"/>
              </a:rPr>
              <a:t>. The </a:t>
            </a:r>
            <a:r>
              <a:rPr lang="en-US" sz="1200" b="0" i="0" u="none" strike="noStrike" kern="1200" cap="none" dirty="0" err="1">
                <a:solidFill>
                  <a:schemeClr val="dk1"/>
                </a:solidFill>
                <a:effectLst/>
                <a:latin typeface="Arial"/>
                <a:ea typeface="Arial"/>
                <a:cs typeface="Arial"/>
                <a:sym typeface="Arial"/>
              </a:rPr>
              <a:t>Sphingosine</a:t>
            </a:r>
            <a:r>
              <a:rPr lang="en-US" sz="1200" b="0" i="0" u="none" strike="noStrike" kern="1200" cap="none" dirty="0">
                <a:solidFill>
                  <a:schemeClr val="dk1"/>
                </a:solidFill>
                <a:effectLst/>
                <a:latin typeface="Arial"/>
                <a:ea typeface="Arial"/>
                <a:cs typeface="Arial"/>
                <a:sym typeface="Arial"/>
              </a:rPr>
              <a:t> is two C molecules, where the first C is single bond O H, H, C to H, to double bond with another C. The second C is single bond H, bond N H, single bond to C double bond to O. The second has a single bond to C H subscript 2, which is turn has a single bond with P.</a:t>
            </a:r>
          </a:p>
          <a:p>
            <a:pPr marL="0" lvl="0" indent="0">
              <a:buFont typeface="+mj-lt"/>
              <a:buNone/>
            </a:pPr>
            <a:r>
              <a:rPr lang="en-US" sz="1200" b="0" i="0" u="none" strike="noStrike" kern="1200" cap="none" dirty="0">
                <a:solidFill>
                  <a:schemeClr val="dk1"/>
                </a:solidFill>
                <a:effectLst/>
                <a:latin typeface="Arial"/>
                <a:ea typeface="Arial"/>
                <a:cs typeface="Arial"/>
                <a:sym typeface="Arial"/>
              </a:rPr>
              <a:t>4.   Glycolipids where R is carbohydrate chain of 1 to 6 monosaccharide units. It shows a </a:t>
            </a:r>
            <a:r>
              <a:rPr lang="en-US" sz="1200" b="0" i="0" u="none" strike="noStrike" kern="1200" cap="none" dirty="0" err="1">
                <a:solidFill>
                  <a:schemeClr val="dk1"/>
                </a:solidFill>
                <a:effectLst/>
                <a:latin typeface="Arial"/>
                <a:ea typeface="Arial"/>
                <a:cs typeface="Arial"/>
                <a:sym typeface="Arial"/>
              </a:rPr>
              <a:t>Sphingosine</a:t>
            </a:r>
            <a:r>
              <a:rPr lang="en-US" sz="1200" b="0" i="0" u="none" strike="noStrike" kern="1200" cap="none" dirty="0">
                <a:solidFill>
                  <a:schemeClr val="dk1"/>
                </a:solidFill>
                <a:effectLst/>
                <a:latin typeface="Arial"/>
                <a:ea typeface="Arial"/>
                <a:cs typeface="Arial"/>
                <a:sym typeface="Arial"/>
              </a:rPr>
              <a:t> bond with a C double bond O. The </a:t>
            </a:r>
            <a:r>
              <a:rPr lang="en-US" sz="1200" b="0" i="0" u="none" strike="noStrike" kern="1200" cap="none" dirty="0" err="1">
                <a:solidFill>
                  <a:schemeClr val="dk1"/>
                </a:solidFill>
                <a:effectLst/>
                <a:latin typeface="Arial"/>
                <a:ea typeface="Arial"/>
                <a:cs typeface="Arial"/>
                <a:sym typeface="Arial"/>
              </a:rPr>
              <a:t>Sphingosine</a:t>
            </a:r>
            <a:r>
              <a:rPr lang="en-US" sz="1200" b="0" i="0" u="none" strike="noStrike" kern="1200" cap="none" dirty="0">
                <a:solidFill>
                  <a:schemeClr val="dk1"/>
                </a:solidFill>
                <a:effectLst/>
                <a:latin typeface="Arial"/>
                <a:ea typeface="Arial"/>
                <a:cs typeface="Arial"/>
                <a:sym typeface="Arial"/>
              </a:rPr>
              <a:t> is two C molecules, where the first C is single bond O H, H, C to H, to double bond with another C. The second C is single bond H, bond N H, single bond to C double bond to O. The second has a single bond to C H subscript 2.</a:t>
            </a:r>
          </a:p>
          <a:p>
            <a:pPr marL="0" lvl="0" indent="0">
              <a:buFont typeface="+mj-lt"/>
              <a:buNone/>
            </a:pPr>
            <a:r>
              <a:rPr lang="en-US" sz="1200" b="0" i="0" u="none" strike="noStrike" kern="1200" cap="none" dirty="0">
                <a:solidFill>
                  <a:schemeClr val="dk1"/>
                </a:solidFill>
                <a:effectLst/>
                <a:latin typeface="Arial"/>
                <a:ea typeface="Arial"/>
                <a:cs typeface="Arial"/>
                <a:sym typeface="Arial"/>
              </a:rPr>
              <a:t>5.   Steroids: It shows four ringed hydrocarbon skeleton of steroids. The vertex of the three hexagons are numbered as 1 to 5, 6 to 10, and 11 to 14 respectively. The fourth pentagon shows vertices 15 to 17. Number 18 and 19 and bonds between the first and second hydrocarbon and third and fourth hydrocarbons. The second structure shows the position of O H.</a:t>
            </a:r>
          </a:p>
          <a:p>
            <a:pPr marL="0" lvl="0" indent="0">
              <a:buFont typeface="+mj-lt"/>
              <a:buNone/>
            </a:pPr>
            <a:r>
              <a:rPr lang="en-US" sz="1200" b="0" i="0" u="none" strike="noStrike" kern="1200" cap="none" dirty="0">
                <a:solidFill>
                  <a:schemeClr val="dk1"/>
                </a:solidFill>
                <a:effectLst/>
                <a:latin typeface="Arial"/>
                <a:ea typeface="Arial"/>
                <a:cs typeface="Arial"/>
                <a:sym typeface="Arial"/>
              </a:rPr>
              <a:t>6.   </a:t>
            </a:r>
            <a:r>
              <a:rPr lang="en-US" sz="1200" b="0" i="0" u="none" strike="noStrike" kern="1200" cap="none" dirty="0" err="1">
                <a:solidFill>
                  <a:schemeClr val="dk1"/>
                </a:solidFill>
                <a:effectLst/>
                <a:latin typeface="Arial"/>
                <a:ea typeface="Arial"/>
                <a:cs typeface="Arial"/>
                <a:sym typeface="Arial"/>
              </a:rPr>
              <a:t>Terpenes</a:t>
            </a:r>
            <a:r>
              <a:rPr lang="en-US" sz="1200" b="0" i="0" u="none" strike="noStrike" kern="1200" cap="none" dirty="0">
                <a:solidFill>
                  <a:schemeClr val="dk1"/>
                </a:solidFill>
                <a:effectLst/>
                <a:latin typeface="Arial"/>
                <a:ea typeface="Arial"/>
                <a:cs typeface="Arial"/>
                <a:sym typeface="Arial"/>
              </a:rPr>
              <a:t>: It is labeled Vitamin A. It shows isoprene getting delineated to isoprene units of vitamin A. An isoprene is a C double bond C H subscript 2, single bond C H subscript 3, single bond C H with a double bond C H subscript 2. The delineated isoprene unit is a structure of C H single bond C single bond C H subscript 3, the C has a double bond with C single bond H single bond C H and H. The second isoprene unit has a C H subscript 2 O H to C. The structure has a hexagon on the top with a C single bond H connecting with the double bond with the isoprene structures.</a:t>
            </a:r>
          </a:p>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113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117733868"/>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114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57450735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115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764798530"/>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IN" sz="1200" b="0" i="0" u="none" strike="noStrike" kern="1200" cap="none" dirty="0">
                <a:solidFill>
                  <a:schemeClr val="dk1"/>
                </a:solidFill>
                <a:effectLst/>
                <a:latin typeface="Arial"/>
                <a:ea typeface="Arial"/>
                <a:cs typeface="Arial"/>
                <a:sym typeface="Arial"/>
              </a:rPr>
              <a:t>Long description:</a:t>
            </a:r>
          </a:p>
          <a:p>
            <a:r>
              <a:rPr lang="en-US" sz="1200" b="0" i="0" u="none" strike="noStrike" kern="1200" cap="none" dirty="0">
                <a:solidFill>
                  <a:schemeClr val="dk1"/>
                </a:solidFill>
                <a:effectLst/>
                <a:latin typeface="Arial"/>
                <a:ea typeface="Arial"/>
                <a:cs typeface="Arial"/>
                <a:sym typeface="Arial"/>
              </a:rPr>
              <a:t>Structure of</a:t>
            </a:r>
            <a:r>
              <a:rPr lang="en-US" sz="1200" b="1" i="0" u="none" strike="noStrike" kern="1200" cap="none" dirty="0">
                <a:solidFill>
                  <a:schemeClr val="dk1"/>
                </a:solidFill>
                <a:effectLst/>
                <a:latin typeface="Arial"/>
                <a:ea typeface="Arial"/>
                <a:cs typeface="Arial"/>
                <a:sym typeface="Arial"/>
              </a:rPr>
              <a:t> </a:t>
            </a:r>
            <a:r>
              <a:rPr lang="en-US" sz="1200" b="0" i="0" u="none" strike="noStrike" kern="1200" cap="none" dirty="0" err="1">
                <a:solidFill>
                  <a:schemeClr val="dk1"/>
                </a:solidFill>
                <a:effectLst/>
                <a:latin typeface="Arial"/>
                <a:ea typeface="Arial"/>
                <a:cs typeface="Arial"/>
                <a:sym typeface="Arial"/>
              </a:rPr>
              <a:t>phosphoglyceride</a:t>
            </a:r>
            <a:r>
              <a:rPr lang="en-US" sz="1200" b="0" i="0" u="none" strike="noStrike" kern="1200" cap="none" dirty="0">
                <a:solidFill>
                  <a:schemeClr val="dk1"/>
                </a:solidFill>
                <a:effectLst/>
                <a:latin typeface="Arial"/>
                <a:ea typeface="Arial"/>
                <a:cs typeface="Arial"/>
                <a:sym typeface="Arial"/>
              </a:rPr>
              <a:t>: R single bond P single bond C H subscript 2 single bond C O C double bond O. Another link shows C single bond C H subscript 2 O C double bond O. The entire bond from P molecule is termed as </a:t>
            </a:r>
            <a:r>
              <a:rPr lang="en-US" sz="1200" b="0" i="0" u="none" strike="noStrike" kern="1200" cap="none" dirty="0" err="1">
                <a:solidFill>
                  <a:schemeClr val="dk1"/>
                </a:solidFill>
                <a:effectLst/>
                <a:latin typeface="Arial"/>
                <a:ea typeface="Arial"/>
                <a:cs typeface="Arial"/>
                <a:sym typeface="Arial"/>
              </a:rPr>
              <a:t>phosphatidic</a:t>
            </a:r>
            <a:r>
              <a:rPr lang="en-US" sz="1200" b="0" i="0" u="none" strike="noStrike" kern="1200" cap="none" dirty="0">
                <a:solidFill>
                  <a:schemeClr val="dk1"/>
                </a:solidFill>
                <a:effectLst/>
                <a:latin typeface="Arial"/>
                <a:ea typeface="Arial"/>
                <a:cs typeface="Arial"/>
                <a:sym typeface="Arial"/>
              </a:rPr>
              <a:t> acid.</a:t>
            </a:r>
          </a:p>
          <a:p>
            <a:r>
              <a:rPr lang="en-US" sz="1200" b="0" i="0" u="none" strike="noStrike" kern="1200" cap="none" dirty="0">
                <a:solidFill>
                  <a:schemeClr val="dk1"/>
                </a:solidFill>
                <a:effectLst/>
                <a:latin typeface="Arial"/>
                <a:ea typeface="Arial"/>
                <a:cs typeface="Arial"/>
                <a:sym typeface="Arial"/>
              </a:rPr>
              <a:t>Structure of the most common R groups in </a:t>
            </a:r>
            <a:r>
              <a:rPr lang="en-US" sz="1200" b="0" i="0" u="none" strike="noStrike" kern="1200" cap="none" dirty="0" err="1">
                <a:solidFill>
                  <a:schemeClr val="dk1"/>
                </a:solidFill>
                <a:effectLst/>
                <a:latin typeface="Arial"/>
                <a:ea typeface="Arial"/>
                <a:cs typeface="Arial"/>
                <a:sym typeface="Arial"/>
              </a:rPr>
              <a:t>phosphoglycerides</a:t>
            </a:r>
            <a:r>
              <a:rPr lang="en-US" sz="1200" b="0" i="0" u="none" strike="noStrike" kern="1200" cap="none" dirty="0">
                <a:solidFill>
                  <a:schemeClr val="dk1"/>
                </a:solidFill>
                <a:effectLst/>
                <a:latin typeface="Arial"/>
                <a:ea typeface="Arial"/>
                <a:cs typeface="Arial"/>
                <a:sym typeface="Arial"/>
              </a:rPr>
              <a:t>: </a:t>
            </a: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Serine: A carbon atom bonds with N positive H subscript 3, C H subscript 2 single bond O H, H, and C double bond O and a single bond O negative.</a:t>
            </a: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Ethanolamine: N positive H subscript 3 single bond C H subscript 2 single bond C H subscript 2 single O H.</a:t>
            </a: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Choline: Molecule of N plus with three C H subscript 3 single bonds and one single bond of C H subscript 2 single bond C H subscript 2 O H.</a:t>
            </a: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Inositol: One hexagon having O H single bond H in all the vertices.</a:t>
            </a: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O H is highlighted in all these four structures.</a:t>
            </a:r>
          </a:p>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116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564024009"/>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117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97849827"/>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118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130583456"/>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IN" sz="1200" b="0" i="0" u="none" strike="noStrike" kern="1200" cap="none" dirty="0">
                <a:solidFill>
                  <a:schemeClr val="dk1"/>
                </a:solidFill>
                <a:effectLst/>
                <a:latin typeface="Arial"/>
                <a:ea typeface="Arial"/>
                <a:cs typeface="Arial"/>
                <a:sym typeface="Arial"/>
              </a:rPr>
              <a:t>Long description:</a:t>
            </a:r>
          </a:p>
          <a:p>
            <a:r>
              <a:rPr lang="en-US" sz="1200" b="0" i="0" u="none" strike="noStrike" kern="1200" cap="none" dirty="0">
                <a:solidFill>
                  <a:schemeClr val="dk1"/>
                </a:solidFill>
                <a:effectLst/>
                <a:latin typeface="Arial"/>
                <a:ea typeface="Arial"/>
                <a:cs typeface="Arial"/>
                <a:sym typeface="Arial"/>
              </a:rPr>
              <a:t>The</a:t>
            </a:r>
            <a:r>
              <a:rPr lang="en-US" sz="1200" b="1" i="0" u="none" strike="noStrike" kern="1200" cap="none" dirty="0">
                <a:solidFill>
                  <a:schemeClr val="dk1"/>
                </a:solidFill>
                <a:effectLst/>
                <a:latin typeface="Arial"/>
                <a:ea typeface="Arial"/>
                <a:cs typeface="Arial"/>
                <a:sym typeface="Arial"/>
              </a:rPr>
              <a:t> </a:t>
            </a:r>
            <a:r>
              <a:rPr lang="en-US" sz="1200" b="0" i="0" u="none" strike="noStrike" kern="1200" cap="none" dirty="0">
                <a:solidFill>
                  <a:schemeClr val="dk1"/>
                </a:solidFill>
                <a:effectLst/>
                <a:latin typeface="Arial"/>
                <a:ea typeface="Arial"/>
                <a:cs typeface="Arial"/>
                <a:sym typeface="Arial"/>
              </a:rPr>
              <a:t>structures of various compounds are described below:</a:t>
            </a: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Fatty acids:</a:t>
            </a:r>
          </a:p>
          <a:p>
            <a:pPr marL="0" indent="0">
              <a:buFont typeface="+mj-lt"/>
              <a:buNone/>
            </a:pPr>
            <a:r>
              <a:rPr lang="en-US" sz="1200" b="0" i="0" u="none" strike="noStrike" kern="1200" cap="none" dirty="0">
                <a:solidFill>
                  <a:schemeClr val="dk1"/>
                </a:solidFill>
                <a:effectLst/>
                <a:latin typeface="Arial"/>
                <a:ea typeface="Arial"/>
                <a:cs typeface="Arial"/>
                <a:sym typeface="Arial"/>
              </a:rPr>
              <a:t>Saturated fatty acids are </a:t>
            </a:r>
            <a:r>
              <a:rPr lang="en-US" sz="1200" b="0" i="0" u="none" strike="noStrike" kern="1200" cap="none" dirty="0" err="1">
                <a:solidFill>
                  <a:schemeClr val="dk1"/>
                </a:solidFill>
                <a:effectLst/>
                <a:latin typeface="Arial"/>
                <a:ea typeface="Arial"/>
                <a:cs typeface="Arial"/>
                <a:sym typeface="Arial"/>
              </a:rPr>
              <a:t>palmitic</a:t>
            </a:r>
            <a:r>
              <a:rPr lang="en-US" sz="1200" b="0" i="0" u="none" strike="noStrike" kern="1200" cap="none" dirty="0">
                <a:solidFill>
                  <a:schemeClr val="dk1"/>
                </a:solidFill>
                <a:effectLst/>
                <a:latin typeface="Arial"/>
                <a:ea typeface="Arial"/>
                <a:cs typeface="Arial"/>
                <a:sym typeface="Arial"/>
              </a:rPr>
              <a:t> acid and stearic acid, which are single bonds of C O </a:t>
            </a:r>
            <a:r>
              <a:rPr lang="en-US" sz="1200" b="0" i="0" u="none" strike="noStrike" kern="1200" cap="none" dirty="0" err="1">
                <a:solidFill>
                  <a:schemeClr val="dk1"/>
                </a:solidFill>
                <a:effectLst/>
                <a:latin typeface="Arial"/>
                <a:ea typeface="Arial"/>
                <a:cs typeface="Arial"/>
                <a:sym typeface="Arial"/>
              </a:rPr>
              <a:t>O</a:t>
            </a:r>
            <a:r>
              <a:rPr lang="en-US" sz="1200" b="0" i="0" u="none" strike="noStrike" kern="1200" cap="none" dirty="0">
                <a:solidFill>
                  <a:schemeClr val="dk1"/>
                </a:solidFill>
                <a:effectLst/>
                <a:latin typeface="Arial"/>
                <a:ea typeface="Arial"/>
                <a:cs typeface="Arial"/>
                <a:sym typeface="Arial"/>
              </a:rPr>
              <a:t> H. Unsaturated fatty acids are oleic acid and linoleic acid, which are single bonds of C O </a:t>
            </a:r>
            <a:r>
              <a:rPr lang="en-US" sz="1200" b="0" i="0" u="none" strike="noStrike" kern="1200" cap="none" dirty="0" err="1">
                <a:solidFill>
                  <a:schemeClr val="dk1"/>
                </a:solidFill>
                <a:effectLst/>
                <a:latin typeface="Arial"/>
                <a:ea typeface="Arial"/>
                <a:cs typeface="Arial"/>
                <a:sym typeface="Arial"/>
              </a:rPr>
              <a:t>O</a:t>
            </a:r>
            <a:r>
              <a:rPr lang="en-US" sz="1200" b="0" i="0" u="none" strike="noStrike" kern="1200" cap="none" dirty="0">
                <a:solidFill>
                  <a:schemeClr val="dk1"/>
                </a:solidFill>
                <a:effectLst/>
                <a:latin typeface="Arial"/>
                <a:ea typeface="Arial"/>
                <a:cs typeface="Arial"/>
                <a:sym typeface="Arial"/>
              </a:rPr>
              <a:t> H with a couple of double bonds in between. Where there is a double bond in oleic acid and two double bonds in linoleic acid, the structure tends to take an inclined angle.</a:t>
            </a:r>
          </a:p>
          <a:p>
            <a:pPr marL="0" lvl="0" indent="0">
              <a:buFont typeface="+mj-lt"/>
              <a:buNone/>
            </a:pPr>
            <a:r>
              <a:rPr lang="en-US" sz="1200" b="0" i="0" u="none" strike="noStrike" kern="1200" cap="none" dirty="0">
                <a:solidFill>
                  <a:schemeClr val="dk1"/>
                </a:solidFill>
                <a:effectLst/>
                <a:latin typeface="Arial"/>
                <a:ea typeface="Arial"/>
                <a:cs typeface="Arial"/>
                <a:sym typeface="Arial"/>
              </a:rPr>
              <a:t>2.  </a:t>
            </a:r>
            <a:r>
              <a:rPr lang="en-US" sz="1200" b="0" i="0" u="none" strike="noStrike" kern="1200" cap="none" dirty="0" err="1">
                <a:solidFill>
                  <a:schemeClr val="dk1"/>
                </a:solidFill>
                <a:effectLst/>
                <a:latin typeface="Arial"/>
                <a:ea typeface="Arial"/>
                <a:cs typeface="Arial"/>
                <a:sym typeface="Arial"/>
              </a:rPr>
              <a:t>Triacylglycerols</a:t>
            </a:r>
            <a:r>
              <a:rPr lang="en-US" sz="1200" b="0" i="0" u="none" strike="noStrike" kern="1200" cap="none" dirty="0">
                <a:solidFill>
                  <a:schemeClr val="dk1"/>
                </a:solidFill>
                <a:effectLst/>
                <a:latin typeface="Arial"/>
                <a:ea typeface="Arial"/>
                <a:cs typeface="Arial"/>
                <a:sym typeface="Arial"/>
              </a:rPr>
              <a:t> and their synthesis:</a:t>
            </a:r>
          </a:p>
          <a:p>
            <a:pPr marL="0" indent="0">
              <a:buFont typeface="+mj-lt"/>
              <a:buNone/>
            </a:pPr>
            <a:r>
              <a:rPr lang="en-US" sz="1200" b="0" i="0" u="none" strike="noStrike" kern="1200" cap="none" dirty="0">
                <a:solidFill>
                  <a:schemeClr val="dk1"/>
                </a:solidFill>
                <a:effectLst/>
                <a:latin typeface="Arial"/>
                <a:ea typeface="Arial"/>
                <a:cs typeface="Arial"/>
                <a:sym typeface="Arial"/>
              </a:rPr>
              <a:t>The equation shows glycerol plus three fatty acids gives triacylglycerol and gives out three molecules of water. Glycerol shows three C molecules single bond to O H and H, and additional two H atoms. Three fatty acids show three C double bond O and single bond O H. </a:t>
            </a:r>
            <a:r>
              <a:rPr lang="en-US" sz="1200" b="0" i="0" u="none" strike="noStrike" kern="1200" cap="none" dirty="0" err="1">
                <a:solidFill>
                  <a:schemeClr val="dk1"/>
                </a:solidFill>
                <a:effectLst/>
                <a:latin typeface="Arial"/>
                <a:ea typeface="Arial"/>
                <a:cs typeface="Arial"/>
                <a:sym typeface="Arial"/>
              </a:rPr>
              <a:t>Triacylglecerol</a:t>
            </a:r>
            <a:r>
              <a:rPr lang="en-US" sz="1200" b="0" i="0" u="none" strike="noStrike" kern="1200" cap="none" dirty="0">
                <a:solidFill>
                  <a:schemeClr val="dk1"/>
                </a:solidFill>
                <a:effectLst/>
                <a:latin typeface="Arial"/>
                <a:ea typeface="Arial"/>
                <a:cs typeface="Arial"/>
                <a:sym typeface="Arial"/>
              </a:rPr>
              <a:t> shows a C single bond to H, H, O and the O has a single bond to C double bond O molecule. Thus structure repeats thrice for </a:t>
            </a:r>
            <a:r>
              <a:rPr lang="en-US" sz="1200" b="0" i="0" u="none" strike="noStrike" kern="1200" cap="none" dirty="0" err="1">
                <a:solidFill>
                  <a:schemeClr val="dk1"/>
                </a:solidFill>
                <a:effectLst/>
                <a:latin typeface="Arial"/>
                <a:ea typeface="Arial"/>
                <a:cs typeface="Arial"/>
                <a:sym typeface="Arial"/>
              </a:rPr>
              <a:t>Triacylglecerol</a:t>
            </a:r>
            <a:r>
              <a:rPr lang="en-US" sz="1200" b="0" i="0" u="none" strike="noStrike" kern="1200" cap="none" dirty="0">
                <a:solidFill>
                  <a:schemeClr val="dk1"/>
                </a:solidFill>
                <a:effectLst/>
                <a:latin typeface="Arial"/>
                <a:ea typeface="Arial"/>
                <a:cs typeface="Arial"/>
                <a:sym typeface="Arial"/>
              </a:rPr>
              <a:t>. The third structure in inclined to the bottom at a double bond.</a:t>
            </a:r>
          </a:p>
          <a:p>
            <a:pPr marL="0" lvl="0" indent="0">
              <a:buFont typeface="+mj-lt"/>
              <a:buNone/>
            </a:pPr>
            <a:r>
              <a:rPr lang="en-US" sz="1200" b="0" i="0" u="none" strike="noStrike" kern="1200" cap="none" dirty="0">
                <a:solidFill>
                  <a:schemeClr val="dk1"/>
                </a:solidFill>
                <a:effectLst/>
                <a:latin typeface="Arial"/>
                <a:ea typeface="Arial"/>
                <a:cs typeface="Arial"/>
                <a:sym typeface="Arial"/>
              </a:rPr>
              <a:t>3.  Phospholipids where R equals any of several hydrophilic compounds.</a:t>
            </a:r>
          </a:p>
          <a:p>
            <a:pPr marL="1143000" lvl="2" indent="-228600">
              <a:buFont typeface="+mj-lt"/>
              <a:buAutoNum type="alphaLcParenR"/>
            </a:pPr>
            <a:r>
              <a:rPr lang="en-US" sz="1200" b="0" i="0" u="none" strike="noStrike" kern="1200" cap="none" dirty="0" err="1">
                <a:solidFill>
                  <a:schemeClr val="dk1"/>
                </a:solidFill>
                <a:effectLst/>
                <a:latin typeface="Arial"/>
                <a:ea typeface="Arial"/>
                <a:cs typeface="Arial"/>
                <a:sym typeface="Arial"/>
              </a:rPr>
              <a:t>Phosphoglycerides</a:t>
            </a:r>
            <a:endParaRPr lang="en-US" sz="1200" b="0" i="0" u="none" strike="noStrike" kern="1200" cap="none" dirty="0">
              <a:solidFill>
                <a:schemeClr val="dk1"/>
              </a:solidFill>
              <a:effectLst/>
              <a:latin typeface="Arial"/>
              <a:ea typeface="Arial"/>
              <a:cs typeface="Arial"/>
              <a:sym typeface="Arial"/>
            </a:endParaRPr>
          </a:p>
          <a:p>
            <a:pPr marL="457200" lvl="1" indent="0">
              <a:buFont typeface="+mj-lt"/>
              <a:buNone/>
            </a:pPr>
            <a:r>
              <a:rPr lang="en-US" sz="1200" b="0" i="0" u="none" strike="noStrike" kern="1200" cap="none" dirty="0">
                <a:solidFill>
                  <a:schemeClr val="dk1"/>
                </a:solidFill>
                <a:effectLst/>
                <a:latin typeface="Arial"/>
                <a:ea typeface="Arial"/>
                <a:cs typeface="Arial"/>
                <a:sym typeface="Arial"/>
              </a:rPr>
              <a:t>             </a:t>
            </a:r>
            <a:r>
              <a:rPr lang="en-US" sz="1200" b="0" i="0" u="none" strike="noStrike" kern="1200" cap="none" baseline="0" dirty="0">
                <a:solidFill>
                  <a:schemeClr val="dk1"/>
                </a:solidFill>
                <a:effectLst/>
                <a:latin typeface="Arial"/>
                <a:ea typeface="Arial"/>
                <a:cs typeface="Arial"/>
                <a:sym typeface="Arial"/>
              </a:rPr>
              <a:t>  </a:t>
            </a:r>
            <a:r>
              <a:rPr lang="en-US" sz="1200" b="0" i="0" u="none" strike="noStrike" kern="1200" cap="none" dirty="0">
                <a:solidFill>
                  <a:schemeClr val="dk1"/>
                </a:solidFill>
                <a:effectLst/>
                <a:latin typeface="Arial"/>
                <a:ea typeface="Arial"/>
                <a:cs typeface="Arial"/>
                <a:sym typeface="Arial"/>
              </a:rPr>
              <a:t>R single bond P single bond glycerol. The glycerol structure is two C molecules       single bond to O H and H, C H subscript 2, and the O are bonded to C double bond O.</a:t>
            </a:r>
          </a:p>
          <a:p>
            <a:pPr marL="914400" lvl="2" indent="0">
              <a:buFont typeface="+mj-lt"/>
              <a:buNone/>
            </a:pPr>
            <a:r>
              <a:rPr lang="en-US" sz="1200" b="0" i="0" u="none" strike="noStrike" kern="1200" cap="none" dirty="0">
                <a:solidFill>
                  <a:schemeClr val="dk1"/>
                </a:solidFill>
                <a:effectLst/>
                <a:latin typeface="Arial"/>
                <a:ea typeface="Arial"/>
                <a:cs typeface="Arial"/>
                <a:sym typeface="Arial"/>
              </a:rPr>
              <a:t>b)</a:t>
            </a:r>
            <a:r>
              <a:rPr lang="en-US" sz="1200" b="0" i="0" u="none" strike="noStrike" kern="1200" cap="none" baseline="0" dirty="0">
                <a:solidFill>
                  <a:schemeClr val="dk1"/>
                </a:solidFill>
                <a:effectLst/>
                <a:latin typeface="Arial"/>
                <a:ea typeface="Arial"/>
                <a:cs typeface="Arial"/>
                <a:sym typeface="Arial"/>
              </a:rPr>
              <a:t>  </a:t>
            </a:r>
            <a:r>
              <a:rPr lang="en-US" sz="1200" b="0" i="0" u="none" strike="noStrike" kern="1200" cap="none" dirty="0" err="1">
                <a:solidFill>
                  <a:schemeClr val="dk1"/>
                </a:solidFill>
                <a:effectLst/>
                <a:latin typeface="Arial"/>
                <a:ea typeface="Arial"/>
                <a:cs typeface="Arial"/>
                <a:sym typeface="Arial"/>
              </a:rPr>
              <a:t>Sphingolipids</a:t>
            </a:r>
            <a:endParaRPr lang="en-US" sz="1200" b="0" i="0" u="none" strike="noStrike" kern="1200" cap="none" dirty="0">
              <a:solidFill>
                <a:schemeClr val="dk1"/>
              </a:solidFill>
              <a:effectLst/>
              <a:latin typeface="Arial"/>
              <a:ea typeface="Arial"/>
              <a:cs typeface="Arial"/>
              <a:sym typeface="Arial"/>
            </a:endParaRPr>
          </a:p>
          <a:p>
            <a:pPr marL="457200" lvl="1" indent="0">
              <a:buFont typeface="+mj-lt"/>
              <a:buNone/>
            </a:pPr>
            <a:r>
              <a:rPr lang="en-US" sz="1200" b="0" i="0" u="none" strike="noStrike" kern="1200" cap="none" dirty="0">
                <a:solidFill>
                  <a:schemeClr val="dk1"/>
                </a:solidFill>
                <a:effectLst/>
                <a:latin typeface="Arial"/>
                <a:ea typeface="Arial"/>
                <a:cs typeface="Arial"/>
                <a:sym typeface="Arial"/>
              </a:rPr>
              <a:t>               R single bond P single bond </a:t>
            </a:r>
            <a:r>
              <a:rPr lang="en-US" sz="1200" b="0" i="0" u="none" strike="noStrike" kern="1200" cap="none" dirty="0" err="1">
                <a:solidFill>
                  <a:schemeClr val="dk1"/>
                </a:solidFill>
                <a:effectLst/>
                <a:latin typeface="Arial"/>
                <a:ea typeface="Arial"/>
                <a:cs typeface="Arial"/>
                <a:sym typeface="Arial"/>
              </a:rPr>
              <a:t>sphingosine</a:t>
            </a:r>
            <a:r>
              <a:rPr lang="en-US" sz="1200" b="0" i="0" u="none" strike="noStrike" kern="1200" cap="none" dirty="0">
                <a:solidFill>
                  <a:schemeClr val="dk1"/>
                </a:solidFill>
                <a:effectLst/>
                <a:latin typeface="Arial"/>
                <a:ea typeface="Arial"/>
                <a:cs typeface="Arial"/>
                <a:sym typeface="Arial"/>
              </a:rPr>
              <a:t>. The </a:t>
            </a:r>
            <a:r>
              <a:rPr lang="en-US" sz="1200" b="0" i="0" u="none" strike="noStrike" kern="1200" cap="none" dirty="0" err="1">
                <a:solidFill>
                  <a:schemeClr val="dk1"/>
                </a:solidFill>
                <a:effectLst/>
                <a:latin typeface="Arial"/>
                <a:ea typeface="Arial"/>
                <a:cs typeface="Arial"/>
                <a:sym typeface="Arial"/>
              </a:rPr>
              <a:t>Sphingosine</a:t>
            </a:r>
            <a:r>
              <a:rPr lang="en-US" sz="1200" b="0" i="0" u="none" strike="noStrike" kern="1200" cap="none" dirty="0">
                <a:solidFill>
                  <a:schemeClr val="dk1"/>
                </a:solidFill>
                <a:effectLst/>
                <a:latin typeface="Arial"/>
                <a:ea typeface="Arial"/>
                <a:cs typeface="Arial"/>
                <a:sym typeface="Arial"/>
              </a:rPr>
              <a:t> is two C molecules, where the first C is single bond O H, H, C to H, to double bond with another C. The second C is single bond H, bond N H, single bond to C double bond to O. The second has a single bond to C H subscript 2, which is turn has a single bond with P.</a:t>
            </a:r>
          </a:p>
          <a:p>
            <a:pPr marL="0" lvl="0" indent="0">
              <a:buFont typeface="+mj-lt"/>
              <a:buNone/>
            </a:pPr>
            <a:r>
              <a:rPr lang="en-US" sz="1200" b="0" i="0" u="none" strike="noStrike" kern="1200" cap="none" dirty="0">
                <a:solidFill>
                  <a:schemeClr val="dk1"/>
                </a:solidFill>
                <a:effectLst/>
                <a:latin typeface="Arial"/>
                <a:ea typeface="Arial"/>
                <a:cs typeface="Arial"/>
                <a:sym typeface="Arial"/>
              </a:rPr>
              <a:t>4.   Glycolipids where R is carbohydrate chain of 1 to 6 monosaccharide units. It shows a </a:t>
            </a:r>
            <a:r>
              <a:rPr lang="en-US" sz="1200" b="0" i="0" u="none" strike="noStrike" kern="1200" cap="none" dirty="0" err="1">
                <a:solidFill>
                  <a:schemeClr val="dk1"/>
                </a:solidFill>
                <a:effectLst/>
                <a:latin typeface="Arial"/>
                <a:ea typeface="Arial"/>
                <a:cs typeface="Arial"/>
                <a:sym typeface="Arial"/>
              </a:rPr>
              <a:t>Sphingosine</a:t>
            </a:r>
            <a:r>
              <a:rPr lang="en-US" sz="1200" b="0" i="0" u="none" strike="noStrike" kern="1200" cap="none" dirty="0">
                <a:solidFill>
                  <a:schemeClr val="dk1"/>
                </a:solidFill>
                <a:effectLst/>
                <a:latin typeface="Arial"/>
                <a:ea typeface="Arial"/>
                <a:cs typeface="Arial"/>
                <a:sym typeface="Arial"/>
              </a:rPr>
              <a:t> bond with a C double bond O. The </a:t>
            </a:r>
            <a:r>
              <a:rPr lang="en-US" sz="1200" b="0" i="0" u="none" strike="noStrike" kern="1200" cap="none" dirty="0" err="1">
                <a:solidFill>
                  <a:schemeClr val="dk1"/>
                </a:solidFill>
                <a:effectLst/>
                <a:latin typeface="Arial"/>
                <a:ea typeface="Arial"/>
                <a:cs typeface="Arial"/>
                <a:sym typeface="Arial"/>
              </a:rPr>
              <a:t>Sphingosine</a:t>
            </a:r>
            <a:r>
              <a:rPr lang="en-US" sz="1200" b="0" i="0" u="none" strike="noStrike" kern="1200" cap="none" dirty="0">
                <a:solidFill>
                  <a:schemeClr val="dk1"/>
                </a:solidFill>
                <a:effectLst/>
                <a:latin typeface="Arial"/>
                <a:ea typeface="Arial"/>
                <a:cs typeface="Arial"/>
                <a:sym typeface="Arial"/>
              </a:rPr>
              <a:t> is two C molecules, where the first C is single bond O H, H, C to H, to double bond with another C. The second C is single bond H, bond N H, single bond to C double bond to O. The second has a single bond to C H subscript 2.</a:t>
            </a:r>
          </a:p>
          <a:p>
            <a:pPr marL="0" lvl="0" indent="0">
              <a:buFont typeface="+mj-lt"/>
              <a:buNone/>
            </a:pPr>
            <a:r>
              <a:rPr lang="en-US" sz="1200" b="0" i="0" u="none" strike="noStrike" kern="1200" cap="none" dirty="0">
                <a:solidFill>
                  <a:schemeClr val="dk1"/>
                </a:solidFill>
                <a:effectLst/>
                <a:latin typeface="Arial"/>
                <a:ea typeface="Arial"/>
                <a:cs typeface="Arial"/>
                <a:sym typeface="Arial"/>
              </a:rPr>
              <a:t>5.   Steroids: It shows four ringed hydrocarbon skeleton of steroids. The vertex of the three hexagons are numbered as 1 to 5, 6 to 10, and 11 to 14 respectively. The fourth pentagon shows vertices 15 to 17. Number 18 and 19 and bonds between the first and second hydrocarbon and third and fourth hydrocarbons. The second structure shows the position of O H.</a:t>
            </a:r>
          </a:p>
          <a:p>
            <a:pPr marL="0" lvl="0" indent="0">
              <a:buFont typeface="+mj-lt"/>
              <a:buNone/>
            </a:pPr>
            <a:r>
              <a:rPr lang="en-US" sz="1200" b="0" i="0" u="none" strike="noStrike" kern="1200" cap="none" dirty="0">
                <a:solidFill>
                  <a:schemeClr val="dk1"/>
                </a:solidFill>
                <a:effectLst/>
                <a:latin typeface="Arial"/>
                <a:ea typeface="Arial"/>
                <a:cs typeface="Arial"/>
                <a:sym typeface="Arial"/>
              </a:rPr>
              <a:t>6.   </a:t>
            </a:r>
            <a:r>
              <a:rPr lang="en-US" sz="1200" b="0" i="0" u="none" strike="noStrike" kern="1200" cap="none" dirty="0" err="1">
                <a:solidFill>
                  <a:schemeClr val="dk1"/>
                </a:solidFill>
                <a:effectLst/>
                <a:latin typeface="Arial"/>
                <a:ea typeface="Arial"/>
                <a:cs typeface="Arial"/>
                <a:sym typeface="Arial"/>
              </a:rPr>
              <a:t>Terpenes</a:t>
            </a:r>
            <a:r>
              <a:rPr lang="en-US" sz="1200" b="0" i="0" u="none" strike="noStrike" kern="1200" cap="none" dirty="0">
                <a:solidFill>
                  <a:schemeClr val="dk1"/>
                </a:solidFill>
                <a:effectLst/>
                <a:latin typeface="Arial"/>
                <a:ea typeface="Arial"/>
                <a:cs typeface="Arial"/>
                <a:sym typeface="Arial"/>
              </a:rPr>
              <a:t>: It is labeled Vitamin A. It shows isoprene getting delineated to isoprene units of vitamin A. An isoprene is a C double bond C H subscript 2, single bond C H subscript 3, single bond C H with a double bond C H subscript 2. The delineated isoprene unit is a structure of C H single bond C single bond C H subscript 3, the C has a double bond with C single bond H single bond C H and H. The second isoprene unit has a C H subscript 2 O H to C. The structure has a hexagon on the top with a C single bond H connecting with the double bond with the isoprene structures.</a:t>
            </a:r>
          </a:p>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119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652726063"/>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120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538837940"/>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121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177510569"/>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IN" sz="1200" b="0" i="0" u="none" strike="noStrike" kern="1200" cap="none" dirty="0">
                <a:solidFill>
                  <a:schemeClr val="dk1"/>
                </a:solidFill>
                <a:effectLst/>
                <a:latin typeface="Arial"/>
                <a:ea typeface="Arial"/>
                <a:cs typeface="Arial"/>
                <a:sym typeface="Arial"/>
              </a:rPr>
              <a:t>Long description:</a:t>
            </a:r>
          </a:p>
          <a:p>
            <a:r>
              <a:rPr lang="en-US" sz="1200" b="0" i="0" u="none" strike="noStrike" kern="1200" cap="none" dirty="0">
                <a:solidFill>
                  <a:schemeClr val="dk1"/>
                </a:solidFill>
                <a:effectLst/>
                <a:latin typeface="Arial"/>
                <a:ea typeface="Arial"/>
                <a:cs typeface="Arial"/>
                <a:sym typeface="Arial"/>
              </a:rPr>
              <a:t>The</a:t>
            </a:r>
            <a:r>
              <a:rPr lang="en-US" sz="1200" b="1" i="0" u="none" strike="noStrike" kern="1200" cap="none" dirty="0">
                <a:solidFill>
                  <a:schemeClr val="dk1"/>
                </a:solidFill>
                <a:effectLst/>
                <a:latin typeface="Arial"/>
                <a:ea typeface="Arial"/>
                <a:cs typeface="Arial"/>
                <a:sym typeface="Arial"/>
              </a:rPr>
              <a:t> </a:t>
            </a:r>
            <a:r>
              <a:rPr lang="en-US" sz="1200" b="0" i="0" u="none" strike="noStrike" kern="1200" cap="none" dirty="0">
                <a:solidFill>
                  <a:schemeClr val="dk1"/>
                </a:solidFill>
                <a:effectLst/>
                <a:latin typeface="Arial"/>
                <a:ea typeface="Arial"/>
                <a:cs typeface="Arial"/>
                <a:sym typeface="Arial"/>
              </a:rPr>
              <a:t>structures of various compounds are described below:</a:t>
            </a: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Fatty acids:</a:t>
            </a:r>
          </a:p>
          <a:p>
            <a:pPr marL="0" indent="0">
              <a:buFont typeface="+mj-lt"/>
              <a:buNone/>
            </a:pPr>
            <a:r>
              <a:rPr lang="en-US" sz="1200" b="0" i="0" u="none" strike="noStrike" kern="1200" cap="none" dirty="0">
                <a:solidFill>
                  <a:schemeClr val="dk1"/>
                </a:solidFill>
                <a:effectLst/>
                <a:latin typeface="Arial"/>
                <a:ea typeface="Arial"/>
                <a:cs typeface="Arial"/>
                <a:sym typeface="Arial"/>
              </a:rPr>
              <a:t>Saturated fatty acids are </a:t>
            </a:r>
            <a:r>
              <a:rPr lang="en-US" sz="1200" b="0" i="0" u="none" strike="noStrike" kern="1200" cap="none" dirty="0" err="1">
                <a:solidFill>
                  <a:schemeClr val="dk1"/>
                </a:solidFill>
                <a:effectLst/>
                <a:latin typeface="Arial"/>
                <a:ea typeface="Arial"/>
                <a:cs typeface="Arial"/>
                <a:sym typeface="Arial"/>
              </a:rPr>
              <a:t>palmitic</a:t>
            </a:r>
            <a:r>
              <a:rPr lang="en-US" sz="1200" b="0" i="0" u="none" strike="noStrike" kern="1200" cap="none" dirty="0">
                <a:solidFill>
                  <a:schemeClr val="dk1"/>
                </a:solidFill>
                <a:effectLst/>
                <a:latin typeface="Arial"/>
                <a:ea typeface="Arial"/>
                <a:cs typeface="Arial"/>
                <a:sym typeface="Arial"/>
              </a:rPr>
              <a:t> acid and stearic acid, which are single bonds of C O </a:t>
            </a:r>
            <a:r>
              <a:rPr lang="en-US" sz="1200" b="0" i="0" u="none" strike="noStrike" kern="1200" cap="none" dirty="0" err="1">
                <a:solidFill>
                  <a:schemeClr val="dk1"/>
                </a:solidFill>
                <a:effectLst/>
                <a:latin typeface="Arial"/>
                <a:ea typeface="Arial"/>
                <a:cs typeface="Arial"/>
                <a:sym typeface="Arial"/>
              </a:rPr>
              <a:t>O</a:t>
            </a:r>
            <a:r>
              <a:rPr lang="en-US" sz="1200" b="0" i="0" u="none" strike="noStrike" kern="1200" cap="none" dirty="0">
                <a:solidFill>
                  <a:schemeClr val="dk1"/>
                </a:solidFill>
                <a:effectLst/>
                <a:latin typeface="Arial"/>
                <a:ea typeface="Arial"/>
                <a:cs typeface="Arial"/>
                <a:sym typeface="Arial"/>
              </a:rPr>
              <a:t> H. Unsaturated fatty acids are oleic acid and linoleic acid, which are single bonds of C O </a:t>
            </a:r>
            <a:r>
              <a:rPr lang="en-US" sz="1200" b="0" i="0" u="none" strike="noStrike" kern="1200" cap="none" dirty="0" err="1">
                <a:solidFill>
                  <a:schemeClr val="dk1"/>
                </a:solidFill>
                <a:effectLst/>
                <a:latin typeface="Arial"/>
                <a:ea typeface="Arial"/>
                <a:cs typeface="Arial"/>
                <a:sym typeface="Arial"/>
              </a:rPr>
              <a:t>O</a:t>
            </a:r>
            <a:r>
              <a:rPr lang="en-US" sz="1200" b="0" i="0" u="none" strike="noStrike" kern="1200" cap="none" dirty="0">
                <a:solidFill>
                  <a:schemeClr val="dk1"/>
                </a:solidFill>
                <a:effectLst/>
                <a:latin typeface="Arial"/>
                <a:ea typeface="Arial"/>
                <a:cs typeface="Arial"/>
                <a:sym typeface="Arial"/>
              </a:rPr>
              <a:t> H with a couple of double bonds in between. Where there is a double bond in oleic acid and two double bonds in linoleic acid, the structure tends to take an inclined angle.</a:t>
            </a:r>
          </a:p>
          <a:p>
            <a:pPr marL="0" lvl="0" indent="0">
              <a:buFont typeface="+mj-lt"/>
              <a:buNone/>
            </a:pPr>
            <a:r>
              <a:rPr lang="en-US" sz="1200" b="0" i="0" u="none" strike="noStrike" kern="1200" cap="none" dirty="0">
                <a:solidFill>
                  <a:schemeClr val="dk1"/>
                </a:solidFill>
                <a:effectLst/>
                <a:latin typeface="Arial"/>
                <a:ea typeface="Arial"/>
                <a:cs typeface="Arial"/>
                <a:sym typeface="Arial"/>
              </a:rPr>
              <a:t>2.  </a:t>
            </a:r>
            <a:r>
              <a:rPr lang="en-US" sz="1200" b="0" i="0" u="none" strike="noStrike" kern="1200" cap="none" dirty="0" err="1">
                <a:solidFill>
                  <a:schemeClr val="dk1"/>
                </a:solidFill>
                <a:effectLst/>
                <a:latin typeface="Arial"/>
                <a:ea typeface="Arial"/>
                <a:cs typeface="Arial"/>
                <a:sym typeface="Arial"/>
              </a:rPr>
              <a:t>Triacylglycerols</a:t>
            </a:r>
            <a:r>
              <a:rPr lang="en-US" sz="1200" b="0" i="0" u="none" strike="noStrike" kern="1200" cap="none" dirty="0">
                <a:solidFill>
                  <a:schemeClr val="dk1"/>
                </a:solidFill>
                <a:effectLst/>
                <a:latin typeface="Arial"/>
                <a:ea typeface="Arial"/>
                <a:cs typeface="Arial"/>
                <a:sym typeface="Arial"/>
              </a:rPr>
              <a:t> and their synthesis:</a:t>
            </a:r>
          </a:p>
          <a:p>
            <a:pPr marL="0" indent="0">
              <a:buFont typeface="+mj-lt"/>
              <a:buNone/>
            </a:pPr>
            <a:r>
              <a:rPr lang="en-US" sz="1200" b="0" i="0" u="none" strike="noStrike" kern="1200" cap="none" dirty="0">
                <a:solidFill>
                  <a:schemeClr val="dk1"/>
                </a:solidFill>
                <a:effectLst/>
                <a:latin typeface="Arial"/>
                <a:ea typeface="Arial"/>
                <a:cs typeface="Arial"/>
                <a:sym typeface="Arial"/>
              </a:rPr>
              <a:t>The equation shows glycerol plus three fatty acids gives triacylglycerol and gives out three molecules of water. Glycerol shows three C molecules single bond to O H and H, and additional two H atoms. Three fatty acids show three C double bond O and single bond O H. </a:t>
            </a:r>
            <a:r>
              <a:rPr lang="en-US" sz="1200" b="0" i="0" u="none" strike="noStrike" kern="1200" cap="none" dirty="0" err="1">
                <a:solidFill>
                  <a:schemeClr val="dk1"/>
                </a:solidFill>
                <a:effectLst/>
                <a:latin typeface="Arial"/>
                <a:ea typeface="Arial"/>
                <a:cs typeface="Arial"/>
                <a:sym typeface="Arial"/>
              </a:rPr>
              <a:t>Triacylglecerol</a:t>
            </a:r>
            <a:r>
              <a:rPr lang="en-US" sz="1200" b="0" i="0" u="none" strike="noStrike" kern="1200" cap="none" dirty="0">
                <a:solidFill>
                  <a:schemeClr val="dk1"/>
                </a:solidFill>
                <a:effectLst/>
                <a:latin typeface="Arial"/>
                <a:ea typeface="Arial"/>
                <a:cs typeface="Arial"/>
                <a:sym typeface="Arial"/>
              </a:rPr>
              <a:t> shows a C single bond to H, H, O and the O has a single bond to C double bond O molecule. Thus structure repeats thrice for </a:t>
            </a:r>
            <a:r>
              <a:rPr lang="en-US" sz="1200" b="0" i="0" u="none" strike="noStrike" kern="1200" cap="none" dirty="0" err="1">
                <a:solidFill>
                  <a:schemeClr val="dk1"/>
                </a:solidFill>
                <a:effectLst/>
                <a:latin typeface="Arial"/>
                <a:ea typeface="Arial"/>
                <a:cs typeface="Arial"/>
                <a:sym typeface="Arial"/>
              </a:rPr>
              <a:t>Triacylglecerol</a:t>
            </a:r>
            <a:r>
              <a:rPr lang="en-US" sz="1200" b="0" i="0" u="none" strike="noStrike" kern="1200" cap="none" dirty="0">
                <a:solidFill>
                  <a:schemeClr val="dk1"/>
                </a:solidFill>
                <a:effectLst/>
                <a:latin typeface="Arial"/>
                <a:ea typeface="Arial"/>
                <a:cs typeface="Arial"/>
                <a:sym typeface="Arial"/>
              </a:rPr>
              <a:t>. The third structure in inclined to the bottom at a double bond.</a:t>
            </a:r>
          </a:p>
          <a:p>
            <a:pPr marL="0" lvl="0" indent="0">
              <a:buFont typeface="+mj-lt"/>
              <a:buNone/>
            </a:pPr>
            <a:r>
              <a:rPr lang="en-US" sz="1200" b="0" i="0" u="none" strike="noStrike" kern="1200" cap="none" dirty="0">
                <a:solidFill>
                  <a:schemeClr val="dk1"/>
                </a:solidFill>
                <a:effectLst/>
                <a:latin typeface="Arial"/>
                <a:ea typeface="Arial"/>
                <a:cs typeface="Arial"/>
                <a:sym typeface="Arial"/>
              </a:rPr>
              <a:t>3.  Phospholipids where R equals any of several hydrophilic compounds.</a:t>
            </a:r>
          </a:p>
          <a:p>
            <a:pPr marL="1143000" lvl="2" indent="-228600">
              <a:buFont typeface="+mj-lt"/>
              <a:buAutoNum type="alphaLcParenR"/>
            </a:pPr>
            <a:r>
              <a:rPr lang="en-US" sz="1200" b="0" i="0" u="none" strike="noStrike" kern="1200" cap="none" dirty="0" err="1">
                <a:solidFill>
                  <a:schemeClr val="dk1"/>
                </a:solidFill>
                <a:effectLst/>
                <a:latin typeface="Arial"/>
                <a:ea typeface="Arial"/>
                <a:cs typeface="Arial"/>
                <a:sym typeface="Arial"/>
              </a:rPr>
              <a:t>Phosphoglycerides</a:t>
            </a:r>
            <a:endParaRPr lang="en-US" sz="1200" b="0" i="0" u="none" strike="noStrike" kern="1200" cap="none" dirty="0">
              <a:solidFill>
                <a:schemeClr val="dk1"/>
              </a:solidFill>
              <a:effectLst/>
              <a:latin typeface="Arial"/>
              <a:ea typeface="Arial"/>
              <a:cs typeface="Arial"/>
              <a:sym typeface="Arial"/>
            </a:endParaRPr>
          </a:p>
          <a:p>
            <a:pPr marL="457200" lvl="1" indent="0">
              <a:buFont typeface="+mj-lt"/>
              <a:buNone/>
            </a:pPr>
            <a:r>
              <a:rPr lang="en-US" sz="1200" b="0" i="0" u="none" strike="noStrike" kern="1200" cap="none" dirty="0">
                <a:solidFill>
                  <a:schemeClr val="dk1"/>
                </a:solidFill>
                <a:effectLst/>
                <a:latin typeface="Arial"/>
                <a:ea typeface="Arial"/>
                <a:cs typeface="Arial"/>
                <a:sym typeface="Arial"/>
              </a:rPr>
              <a:t>             </a:t>
            </a:r>
            <a:r>
              <a:rPr lang="en-US" sz="1200" b="0" i="0" u="none" strike="noStrike" kern="1200" cap="none" baseline="0" dirty="0">
                <a:solidFill>
                  <a:schemeClr val="dk1"/>
                </a:solidFill>
                <a:effectLst/>
                <a:latin typeface="Arial"/>
                <a:ea typeface="Arial"/>
                <a:cs typeface="Arial"/>
                <a:sym typeface="Arial"/>
              </a:rPr>
              <a:t>  </a:t>
            </a:r>
            <a:r>
              <a:rPr lang="en-US" sz="1200" b="0" i="0" u="none" strike="noStrike" kern="1200" cap="none" dirty="0">
                <a:solidFill>
                  <a:schemeClr val="dk1"/>
                </a:solidFill>
                <a:effectLst/>
                <a:latin typeface="Arial"/>
                <a:ea typeface="Arial"/>
                <a:cs typeface="Arial"/>
                <a:sym typeface="Arial"/>
              </a:rPr>
              <a:t>R single bond P single bond glycerol. The glycerol structure is two C molecules       single bond to O H and H, C H subscript 2, and the O are bonded to C double bond O.</a:t>
            </a:r>
          </a:p>
          <a:p>
            <a:pPr marL="914400" lvl="2" indent="0">
              <a:buFont typeface="+mj-lt"/>
              <a:buNone/>
            </a:pPr>
            <a:r>
              <a:rPr lang="en-US" sz="1200" b="0" i="0" u="none" strike="noStrike" kern="1200" cap="none" dirty="0">
                <a:solidFill>
                  <a:schemeClr val="dk1"/>
                </a:solidFill>
                <a:effectLst/>
                <a:latin typeface="Arial"/>
                <a:ea typeface="Arial"/>
                <a:cs typeface="Arial"/>
                <a:sym typeface="Arial"/>
              </a:rPr>
              <a:t>b)</a:t>
            </a:r>
            <a:r>
              <a:rPr lang="en-US" sz="1200" b="0" i="0" u="none" strike="noStrike" kern="1200" cap="none" baseline="0" dirty="0">
                <a:solidFill>
                  <a:schemeClr val="dk1"/>
                </a:solidFill>
                <a:effectLst/>
                <a:latin typeface="Arial"/>
                <a:ea typeface="Arial"/>
                <a:cs typeface="Arial"/>
                <a:sym typeface="Arial"/>
              </a:rPr>
              <a:t>  </a:t>
            </a:r>
            <a:r>
              <a:rPr lang="en-US" sz="1200" b="0" i="0" u="none" strike="noStrike" kern="1200" cap="none" dirty="0" err="1">
                <a:solidFill>
                  <a:schemeClr val="dk1"/>
                </a:solidFill>
                <a:effectLst/>
                <a:latin typeface="Arial"/>
                <a:ea typeface="Arial"/>
                <a:cs typeface="Arial"/>
                <a:sym typeface="Arial"/>
              </a:rPr>
              <a:t>Sphingolipids</a:t>
            </a:r>
            <a:endParaRPr lang="en-US" sz="1200" b="0" i="0" u="none" strike="noStrike" kern="1200" cap="none" dirty="0">
              <a:solidFill>
                <a:schemeClr val="dk1"/>
              </a:solidFill>
              <a:effectLst/>
              <a:latin typeface="Arial"/>
              <a:ea typeface="Arial"/>
              <a:cs typeface="Arial"/>
              <a:sym typeface="Arial"/>
            </a:endParaRPr>
          </a:p>
          <a:p>
            <a:pPr marL="457200" lvl="1" indent="0">
              <a:buFont typeface="+mj-lt"/>
              <a:buNone/>
            </a:pPr>
            <a:r>
              <a:rPr lang="en-US" sz="1200" b="0" i="0" u="none" strike="noStrike" kern="1200" cap="none" dirty="0">
                <a:solidFill>
                  <a:schemeClr val="dk1"/>
                </a:solidFill>
                <a:effectLst/>
                <a:latin typeface="Arial"/>
                <a:ea typeface="Arial"/>
                <a:cs typeface="Arial"/>
                <a:sym typeface="Arial"/>
              </a:rPr>
              <a:t>               R single bond P single bond </a:t>
            </a:r>
            <a:r>
              <a:rPr lang="en-US" sz="1200" b="0" i="0" u="none" strike="noStrike" kern="1200" cap="none" dirty="0" err="1">
                <a:solidFill>
                  <a:schemeClr val="dk1"/>
                </a:solidFill>
                <a:effectLst/>
                <a:latin typeface="Arial"/>
                <a:ea typeface="Arial"/>
                <a:cs typeface="Arial"/>
                <a:sym typeface="Arial"/>
              </a:rPr>
              <a:t>sphingosine</a:t>
            </a:r>
            <a:r>
              <a:rPr lang="en-US" sz="1200" b="0" i="0" u="none" strike="noStrike" kern="1200" cap="none" dirty="0">
                <a:solidFill>
                  <a:schemeClr val="dk1"/>
                </a:solidFill>
                <a:effectLst/>
                <a:latin typeface="Arial"/>
                <a:ea typeface="Arial"/>
                <a:cs typeface="Arial"/>
                <a:sym typeface="Arial"/>
              </a:rPr>
              <a:t>. The </a:t>
            </a:r>
            <a:r>
              <a:rPr lang="en-US" sz="1200" b="0" i="0" u="none" strike="noStrike" kern="1200" cap="none" dirty="0" err="1">
                <a:solidFill>
                  <a:schemeClr val="dk1"/>
                </a:solidFill>
                <a:effectLst/>
                <a:latin typeface="Arial"/>
                <a:ea typeface="Arial"/>
                <a:cs typeface="Arial"/>
                <a:sym typeface="Arial"/>
              </a:rPr>
              <a:t>Sphingosine</a:t>
            </a:r>
            <a:r>
              <a:rPr lang="en-US" sz="1200" b="0" i="0" u="none" strike="noStrike" kern="1200" cap="none" dirty="0">
                <a:solidFill>
                  <a:schemeClr val="dk1"/>
                </a:solidFill>
                <a:effectLst/>
                <a:latin typeface="Arial"/>
                <a:ea typeface="Arial"/>
                <a:cs typeface="Arial"/>
                <a:sym typeface="Arial"/>
              </a:rPr>
              <a:t> is two C molecules, where the first C is single bond O H, H, C to H, to double bond with another C. The second C is single bond H, bond N H, single bond to C double bond to O. The second has a single bond to C H subscript 2, which is turn has a single bond with P.</a:t>
            </a:r>
          </a:p>
          <a:p>
            <a:pPr marL="0" lvl="0" indent="0">
              <a:buFont typeface="+mj-lt"/>
              <a:buNone/>
            </a:pPr>
            <a:r>
              <a:rPr lang="en-US" sz="1200" b="0" i="0" u="none" strike="noStrike" kern="1200" cap="none" dirty="0">
                <a:solidFill>
                  <a:schemeClr val="dk1"/>
                </a:solidFill>
                <a:effectLst/>
                <a:latin typeface="Arial"/>
                <a:ea typeface="Arial"/>
                <a:cs typeface="Arial"/>
                <a:sym typeface="Arial"/>
              </a:rPr>
              <a:t>4.   Glycolipids where R is carbohydrate chain of 1 to 6 monosaccharide units. It shows a </a:t>
            </a:r>
            <a:r>
              <a:rPr lang="en-US" sz="1200" b="0" i="0" u="none" strike="noStrike" kern="1200" cap="none" dirty="0" err="1">
                <a:solidFill>
                  <a:schemeClr val="dk1"/>
                </a:solidFill>
                <a:effectLst/>
                <a:latin typeface="Arial"/>
                <a:ea typeface="Arial"/>
                <a:cs typeface="Arial"/>
                <a:sym typeface="Arial"/>
              </a:rPr>
              <a:t>Sphingosine</a:t>
            </a:r>
            <a:r>
              <a:rPr lang="en-US" sz="1200" b="0" i="0" u="none" strike="noStrike" kern="1200" cap="none" dirty="0">
                <a:solidFill>
                  <a:schemeClr val="dk1"/>
                </a:solidFill>
                <a:effectLst/>
                <a:latin typeface="Arial"/>
                <a:ea typeface="Arial"/>
                <a:cs typeface="Arial"/>
                <a:sym typeface="Arial"/>
              </a:rPr>
              <a:t> bond with a C double bond O. The </a:t>
            </a:r>
            <a:r>
              <a:rPr lang="en-US" sz="1200" b="0" i="0" u="none" strike="noStrike" kern="1200" cap="none" dirty="0" err="1">
                <a:solidFill>
                  <a:schemeClr val="dk1"/>
                </a:solidFill>
                <a:effectLst/>
                <a:latin typeface="Arial"/>
                <a:ea typeface="Arial"/>
                <a:cs typeface="Arial"/>
                <a:sym typeface="Arial"/>
              </a:rPr>
              <a:t>Sphingosine</a:t>
            </a:r>
            <a:r>
              <a:rPr lang="en-US" sz="1200" b="0" i="0" u="none" strike="noStrike" kern="1200" cap="none" dirty="0">
                <a:solidFill>
                  <a:schemeClr val="dk1"/>
                </a:solidFill>
                <a:effectLst/>
                <a:latin typeface="Arial"/>
                <a:ea typeface="Arial"/>
                <a:cs typeface="Arial"/>
                <a:sym typeface="Arial"/>
              </a:rPr>
              <a:t> is two C molecules, where the first C is single bond O H, H, C to H, to double bond with another C. The second C is single bond H, bond N H, single bond to C double bond to O. The second has a single bond to C H subscript 2.</a:t>
            </a:r>
          </a:p>
          <a:p>
            <a:pPr marL="0" lvl="0" indent="0">
              <a:buFont typeface="+mj-lt"/>
              <a:buNone/>
            </a:pPr>
            <a:r>
              <a:rPr lang="en-US" sz="1200" b="0" i="0" u="none" strike="noStrike" kern="1200" cap="none" dirty="0">
                <a:solidFill>
                  <a:schemeClr val="dk1"/>
                </a:solidFill>
                <a:effectLst/>
                <a:latin typeface="Arial"/>
                <a:ea typeface="Arial"/>
                <a:cs typeface="Arial"/>
                <a:sym typeface="Arial"/>
              </a:rPr>
              <a:t>5.   Steroids: It shows four ringed hydrocarbon skeleton of steroids. The vertex of the three hexagons are numbered as 1 to 5, 6 to 10, and 11 to 14 respectively. The fourth pentagon shows vertices 15 to 17. Number 18 and 19 and bonds between the first and second hydrocarbon and third and fourth hydrocarbons. The second structure shows the position of O H.</a:t>
            </a:r>
          </a:p>
          <a:p>
            <a:pPr marL="0" lvl="0" indent="0">
              <a:buFont typeface="+mj-lt"/>
              <a:buNone/>
            </a:pPr>
            <a:r>
              <a:rPr lang="en-US" sz="1200" b="0" i="0" u="none" strike="noStrike" kern="1200" cap="none" dirty="0">
                <a:solidFill>
                  <a:schemeClr val="dk1"/>
                </a:solidFill>
                <a:effectLst/>
                <a:latin typeface="Arial"/>
                <a:ea typeface="Arial"/>
                <a:cs typeface="Arial"/>
                <a:sym typeface="Arial"/>
              </a:rPr>
              <a:t>6.   </a:t>
            </a:r>
            <a:r>
              <a:rPr lang="en-US" sz="1200" b="0" i="0" u="none" strike="noStrike" kern="1200" cap="none" dirty="0" err="1">
                <a:solidFill>
                  <a:schemeClr val="dk1"/>
                </a:solidFill>
                <a:effectLst/>
                <a:latin typeface="Arial"/>
                <a:ea typeface="Arial"/>
                <a:cs typeface="Arial"/>
                <a:sym typeface="Arial"/>
              </a:rPr>
              <a:t>Terpenes</a:t>
            </a:r>
            <a:r>
              <a:rPr lang="en-US" sz="1200" b="0" i="0" u="none" strike="noStrike" kern="1200" cap="none" dirty="0">
                <a:solidFill>
                  <a:schemeClr val="dk1"/>
                </a:solidFill>
                <a:effectLst/>
                <a:latin typeface="Arial"/>
                <a:ea typeface="Arial"/>
                <a:cs typeface="Arial"/>
                <a:sym typeface="Arial"/>
              </a:rPr>
              <a:t>: It is labeled Vitamin A. It shows isoprene getting delineated to isoprene units of vitamin A. An isoprene is a C double bond C H subscript 2, single bond C H subscript 3, single bond C H with a double bond C H subscript 2. The delineated isoprene unit is a structure of C H single bond C single bond C H subscript 3, the C has a double bond with C single bond H single bond C H and H. The second isoprene unit has a C H subscript 2 O H to C. The structure has a hexagon on the top with a C single bond H connecting with the double bond with the isoprene structures.</a:t>
            </a:r>
          </a:p>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122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214351833"/>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123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998122877"/>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structures are described as below:</a:t>
            </a: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Estradiol: A hexagonal molecule with three alternate double bonds and a single bond with O H. Two more hexagon molecules and a pentagon molecule with a single bond of O H are attached to it.</a:t>
            </a: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Testosterone: A hexagonal molecule with one double bond and a double bond with O. Two more hexagon molecules and a pentagon molecule with a single bond of O H are attached to it.</a:t>
            </a: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Cortisol: A hexagonal molecule with one double bond and a double bond with O. Two more hexagon molecules and a pentagon molecule of a C molecule with double bond O, single bond O H and a single bond C H subscript 2 O H are attached to it. One of the hexagon molecule has a single O H bond.</a:t>
            </a: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Aldosterone: A hexagonal molecule with one double bond and a double bond with O. Two more hexagon molecules and a pentagon molecule of a C H molecule with double bond O and a C double bond O single bond C H subscript 2 O H are attached to it. One of the hexagon molecule has a single O H bond.</a:t>
            </a: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124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335039737"/>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125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320664360"/>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126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82901885"/>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127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255621224"/>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IN" sz="1200" b="0" i="0" u="none" strike="noStrike" kern="1200" cap="none" dirty="0">
                <a:solidFill>
                  <a:schemeClr val="dk1"/>
                </a:solidFill>
                <a:effectLst/>
                <a:latin typeface="Arial"/>
                <a:ea typeface="Arial"/>
                <a:cs typeface="Arial"/>
                <a:sym typeface="Arial"/>
              </a:rPr>
              <a:t>Long description:</a:t>
            </a:r>
          </a:p>
          <a:p>
            <a:r>
              <a:rPr lang="en-US" sz="1200" b="0" i="0" u="none" strike="noStrike" kern="1200" cap="none" dirty="0">
                <a:solidFill>
                  <a:schemeClr val="dk1"/>
                </a:solidFill>
                <a:effectLst/>
                <a:latin typeface="Arial"/>
                <a:ea typeface="Arial"/>
                <a:cs typeface="Arial"/>
                <a:sym typeface="Arial"/>
              </a:rPr>
              <a:t>The</a:t>
            </a:r>
            <a:r>
              <a:rPr lang="en-US" sz="1200" b="1" i="0" u="none" strike="noStrike" kern="1200" cap="none" dirty="0">
                <a:solidFill>
                  <a:schemeClr val="dk1"/>
                </a:solidFill>
                <a:effectLst/>
                <a:latin typeface="Arial"/>
                <a:ea typeface="Arial"/>
                <a:cs typeface="Arial"/>
                <a:sym typeface="Arial"/>
              </a:rPr>
              <a:t> </a:t>
            </a:r>
            <a:r>
              <a:rPr lang="en-US" sz="1200" b="0" i="0" u="none" strike="noStrike" kern="1200" cap="none" dirty="0">
                <a:solidFill>
                  <a:schemeClr val="dk1"/>
                </a:solidFill>
                <a:effectLst/>
                <a:latin typeface="Arial"/>
                <a:ea typeface="Arial"/>
                <a:cs typeface="Arial"/>
                <a:sym typeface="Arial"/>
              </a:rPr>
              <a:t>structures of various compounds are described below:</a:t>
            </a: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Fatty acids:</a:t>
            </a:r>
          </a:p>
          <a:p>
            <a:pPr marL="0" indent="0">
              <a:buFont typeface="+mj-lt"/>
              <a:buNone/>
            </a:pPr>
            <a:r>
              <a:rPr lang="en-US" sz="1200" b="0" i="0" u="none" strike="noStrike" kern="1200" cap="none" dirty="0">
                <a:solidFill>
                  <a:schemeClr val="dk1"/>
                </a:solidFill>
                <a:effectLst/>
                <a:latin typeface="Arial"/>
                <a:ea typeface="Arial"/>
                <a:cs typeface="Arial"/>
                <a:sym typeface="Arial"/>
              </a:rPr>
              <a:t>Saturated fatty acids are </a:t>
            </a:r>
            <a:r>
              <a:rPr lang="en-US" sz="1200" b="0" i="0" u="none" strike="noStrike" kern="1200" cap="none" dirty="0" err="1">
                <a:solidFill>
                  <a:schemeClr val="dk1"/>
                </a:solidFill>
                <a:effectLst/>
                <a:latin typeface="Arial"/>
                <a:ea typeface="Arial"/>
                <a:cs typeface="Arial"/>
                <a:sym typeface="Arial"/>
              </a:rPr>
              <a:t>palmitic</a:t>
            </a:r>
            <a:r>
              <a:rPr lang="en-US" sz="1200" b="0" i="0" u="none" strike="noStrike" kern="1200" cap="none" dirty="0">
                <a:solidFill>
                  <a:schemeClr val="dk1"/>
                </a:solidFill>
                <a:effectLst/>
                <a:latin typeface="Arial"/>
                <a:ea typeface="Arial"/>
                <a:cs typeface="Arial"/>
                <a:sym typeface="Arial"/>
              </a:rPr>
              <a:t> acid and stearic acid, which are single bonds of C O </a:t>
            </a:r>
            <a:r>
              <a:rPr lang="en-US" sz="1200" b="0" i="0" u="none" strike="noStrike" kern="1200" cap="none" dirty="0" err="1">
                <a:solidFill>
                  <a:schemeClr val="dk1"/>
                </a:solidFill>
                <a:effectLst/>
                <a:latin typeface="Arial"/>
                <a:ea typeface="Arial"/>
                <a:cs typeface="Arial"/>
                <a:sym typeface="Arial"/>
              </a:rPr>
              <a:t>O</a:t>
            </a:r>
            <a:r>
              <a:rPr lang="en-US" sz="1200" b="0" i="0" u="none" strike="noStrike" kern="1200" cap="none" dirty="0">
                <a:solidFill>
                  <a:schemeClr val="dk1"/>
                </a:solidFill>
                <a:effectLst/>
                <a:latin typeface="Arial"/>
                <a:ea typeface="Arial"/>
                <a:cs typeface="Arial"/>
                <a:sym typeface="Arial"/>
              </a:rPr>
              <a:t> H. Unsaturated fatty acids are oleic acid and linoleic acid, which are single bonds of C O </a:t>
            </a:r>
            <a:r>
              <a:rPr lang="en-US" sz="1200" b="0" i="0" u="none" strike="noStrike" kern="1200" cap="none" dirty="0" err="1">
                <a:solidFill>
                  <a:schemeClr val="dk1"/>
                </a:solidFill>
                <a:effectLst/>
                <a:latin typeface="Arial"/>
                <a:ea typeface="Arial"/>
                <a:cs typeface="Arial"/>
                <a:sym typeface="Arial"/>
              </a:rPr>
              <a:t>O</a:t>
            </a:r>
            <a:r>
              <a:rPr lang="en-US" sz="1200" b="0" i="0" u="none" strike="noStrike" kern="1200" cap="none" dirty="0">
                <a:solidFill>
                  <a:schemeClr val="dk1"/>
                </a:solidFill>
                <a:effectLst/>
                <a:latin typeface="Arial"/>
                <a:ea typeface="Arial"/>
                <a:cs typeface="Arial"/>
                <a:sym typeface="Arial"/>
              </a:rPr>
              <a:t> H with a couple of double bonds in between. Where there is a double bond in oleic acid and two double bonds in linoleic acid, the structure tends to take an inclined angle.</a:t>
            </a:r>
          </a:p>
          <a:p>
            <a:pPr marL="0" lvl="0" indent="0">
              <a:buFont typeface="+mj-lt"/>
              <a:buNone/>
            </a:pPr>
            <a:r>
              <a:rPr lang="en-US" sz="1200" b="0" i="0" u="none" strike="noStrike" kern="1200" cap="none" dirty="0">
                <a:solidFill>
                  <a:schemeClr val="dk1"/>
                </a:solidFill>
                <a:effectLst/>
                <a:latin typeface="Arial"/>
                <a:ea typeface="Arial"/>
                <a:cs typeface="Arial"/>
                <a:sym typeface="Arial"/>
              </a:rPr>
              <a:t>2.  </a:t>
            </a:r>
            <a:r>
              <a:rPr lang="en-US" sz="1200" b="0" i="0" u="none" strike="noStrike" kern="1200" cap="none" dirty="0" err="1">
                <a:solidFill>
                  <a:schemeClr val="dk1"/>
                </a:solidFill>
                <a:effectLst/>
                <a:latin typeface="Arial"/>
                <a:ea typeface="Arial"/>
                <a:cs typeface="Arial"/>
                <a:sym typeface="Arial"/>
              </a:rPr>
              <a:t>Triacylglycerols</a:t>
            </a:r>
            <a:r>
              <a:rPr lang="en-US" sz="1200" b="0" i="0" u="none" strike="noStrike" kern="1200" cap="none" dirty="0">
                <a:solidFill>
                  <a:schemeClr val="dk1"/>
                </a:solidFill>
                <a:effectLst/>
                <a:latin typeface="Arial"/>
                <a:ea typeface="Arial"/>
                <a:cs typeface="Arial"/>
                <a:sym typeface="Arial"/>
              </a:rPr>
              <a:t> and their synthesis:</a:t>
            </a:r>
          </a:p>
          <a:p>
            <a:pPr marL="0" indent="0">
              <a:buFont typeface="+mj-lt"/>
              <a:buNone/>
            </a:pPr>
            <a:r>
              <a:rPr lang="en-US" sz="1200" b="0" i="0" u="none" strike="noStrike" kern="1200" cap="none" dirty="0">
                <a:solidFill>
                  <a:schemeClr val="dk1"/>
                </a:solidFill>
                <a:effectLst/>
                <a:latin typeface="Arial"/>
                <a:ea typeface="Arial"/>
                <a:cs typeface="Arial"/>
                <a:sym typeface="Arial"/>
              </a:rPr>
              <a:t>The equation shows glycerol plus three fatty acids gives triacylglycerol and gives out three molecules of water. Glycerol shows three C molecules single bond to O H and H, and additional two H atoms. Three fatty acids show three C double bond O and single bond O H. </a:t>
            </a:r>
            <a:r>
              <a:rPr lang="en-US" sz="1200" b="0" i="0" u="none" strike="noStrike" kern="1200" cap="none" dirty="0" err="1">
                <a:solidFill>
                  <a:schemeClr val="dk1"/>
                </a:solidFill>
                <a:effectLst/>
                <a:latin typeface="Arial"/>
                <a:ea typeface="Arial"/>
                <a:cs typeface="Arial"/>
                <a:sym typeface="Arial"/>
              </a:rPr>
              <a:t>Triacylglecerol</a:t>
            </a:r>
            <a:r>
              <a:rPr lang="en-US" sz="1200" b="0" i="0" u="none" strike="noStrike" kern="1200" cap="none" dirty="0">
                <a:solidFill>
                  <a:schemeClr val="dk1"/>
                </a:solidFill>
                <a:effectLst/>
                <a:latin typeface="Arial"/>
                <a:ea typeface="Arial"/>
                <a:cs typeface="Arial"/>
                <a:sym typeface="Arial"/>
              </a:rPr>
              <a:t> shows a C single bond to H, H, O and the O has a single bond to C double bond O molecule. Thus structure repeats thrice for </a:t>
            </a:r>
            <a:r>
              <a:rPr lang="en-US" sz="1200" b="0" i="0" u="none" strike="noStrike" kern="1200" cap="none" dirty="0" err="1">
                <a:solidFill>
                  <a:schemeClr val="dk1"/>
                </a:solidFill>
                <a:effectLst/>
                <a:latin typeface="Arial"/>
                <a:ea typeface="Arial"/>
                <a:cs typeface="Arial"/>
                <a:sym typeface="Arial"/>
              </a:rPr>
              <a:t>Triacylglecerol</a:t>
            </a:r>
            <a:r>
              <a:rPr lang="en-US" sz="1200" b="0" i="0" u="none" strike="noStrike" kern="1200" cap="none" dirty="0">
                <a:solidFill>
                  <a:schemeClr val="dk1"/>
                </a:solidFill>
                <a:effectLst/>
                <a:latin typeface="Arial"/>
                <a:ea typeface="Arial"/>
                <a:cs typeface="Arial"/>
                <a:sym typeface="Arial"/>
              </a:rPr>
              <a:t>. The third structure in inclined to the bottom at a double bond.</a:t>
            </a:r>
          </a:p>
          <a:p>
            <a:pPr marL="0" lvl="0" indent="0">
              <a:buFont typeface="+mj-lt"/>
              <a:buNone/>
            </a:pPr>
            <a:r>
              <a:rPr lang="en-US" sz="1200" b="0" i="0" u="none" strike="noStrike" kern="1200" cap="none" dirty="0">
                <a:solidFill>
                  <a:schemeClr val="dk1"/>
                </a:solidFill>
                <a:effectLst/>
                <a:latin typeface="Arial"/>
                <a:ea typeface="Arial"/>
                <a:cs typeface="Arial"/>
                <a:sym typeface="Arial"/>
              </a:rPr>
              <a:t>3.  Phospholipids where R equals any of several hydrophilic compounds.</a:t>
            </a:r>
          </a:p>
          <a:p>
            <a:pPr marL="1143000" lvl="2" indent="-228600">
              <a:buFont typeface="+mj-lt"/>
              <a:buAutoNum type="alphaLcParenR"/>
            </a:pPr>
            <a:r>
              <a:rPr lang="en-US" sz="1200" b="0" i="0" u="none" strike="noStrike" kern="1200" cap="none" dirty="0" err="1">
                <a:solidFill>
                  <a:schemeClr val="dk1"/>
                </a:solidFill>
                <a:effectLst/>
                <a:latin typeface="Arial"/>
                <a:ea typeface="Arial"/>
                <a:cs typeface="Arial"/>
                <a:sym typeface="Arial"/>
              </a:rPr>
              <a:t>Phosphoglycerides</a:t>
            </a:r>
            <a:endParaRPr lang="en-US" sz="1200" b="0" i="0" u="none" strike="noStrike" kern="1200" cap="none" dirty="0">
              <a:solidFill>
                <a:schemeClr val="dk1"/>
              </a:solidFill>
              <a:effectLst/>
              <a:latin typeface="Arial"/>
              <a:ea typeface="Arial"/>
              <a:cs typeface="Arial"/>
              <a:sym typeface="Arial"/>
            </a:endParaRPr>
          </a:p>
          <a:p>
            <a:pPr marL="457200" lvl="1" indent="0">
              <a:buFont typeface="+mj-lt"/>
              <a:buNone/>
            </a:pPr>
            <a:r>
              <a:rPr lang="en-US" sz="1200" b="0" i="0" u="none" strike="noStrike" kern="1200" cap="none" dirty="0">
                <a:solidFill>
                  <a:schemeClr val="dk1"/>
                </a:solidFill>
                <a:effectLst/>
                <a:latin typeface="Arial"/>
                <a:ea typeface="Arial"/>
                <a:cs typeface="Arial"/>
                <a:sym typeface="Arial"/>
              </a:rPr>
              <a:t>             </a:t>
            </a:r>
            <a:r>
              <a:rPr lang="en-US" sz="1200" b="0" i="0" u="none" strike="noStrike" kern="1200" cap="none" baseline="0" dirty="0">
                <a:solidFill>
                  <a:schemeClr val="dk1"/>
                </a:solidFill>
                <a:effectLst/>
                <a:latin typeface="Arial"/>
                <a:ea typeface="Arial"/>
                <a:cs typeface="Arial"/>
                <a:sym typeface="Arial"/>
              </a:rPr>
              <a:t>  </a:t>
            </a:r>
            <a:r>
              <a:rPr lang="en-US" sz="1200" b="0" i="0" u="none" strike="noStrike" kern="1200" cap="none" dirty="0">
                <a:solidFill>
                  <a:schemeClr val="dk1"/>
                </a:solidFill>
                <a:effectLst/>
                <a:latin typeface="Arial"/>
                <a:ea typeface="Arial"/>
                <a:cs typeface="Arial"/>
                <a:sym typeface="Arial"/>
              </a:rPr>
              <a:t>R single bond P single bond glycerol. The glycerol structure is two C molecules       single bond to O H and H, C H subscript 2, and the O are bonded to C double bond O.</a:t>
            </a:r>
          </a:p>
          <a:p>
            <a:pPr marL="914400" lvl="2" indent="0">
              <a:buFont typeface="+mj-lt"/>
              <a:buNone/>
            </a:pPr>
            <a:r>
              <a:rPr lang="en-US" sz="1200" b="0" i="0" u="none" strike="noStrike" kern="1200" cap="none" dirty="0">
                <a:solidFill>
                  <a:schemeClr val="dk1"/>
                </a:solidFill>
                <a:effectLst/>
                <a:latin typeface="Arial"/>
                <a:ea typeface="Arial"/>
                <a:cs typeface="Arial"/>
                <a:sym typeface="Arial"/>
              </a:rPr>
              <a:t>b)</a:t>
            </a:r>
            <a:r>
              <a:rPr lang="en-US" sz="1200" b="0" i="0" u="none" strike="noStrike" kern="1200" cap="none" baseline="0" dirty="0">
                <a:solidFill>
                  <a:schemeClr val="dk1"/>
                </a:solidFill>
                <a:effectLst/>
                <a:latin typeface="Arial"/>
                <a:ea typeface="Arial"/>
                <a:cs typeface="Arial"/>
                <a:sym typeface="Arial"/>
              </a:rPr>
              <a:t>  </a:t>
            </a:r>
            <a:r>
              <a:rPr lang="en-US" sz="1200" b="0" i="0" u="none" strike="noStrike" kern="1200" cap="none" dirty="0" err="1">
                <a:solidFill>
                  <a:schemeClr val="dk1"/>
                </a:solidFill>
                <a:effectLst/>
                <a:latin typeface="Arial"/>
                <a:ea typeface="Arial"/>
                <a:cs typeface="Arial"/>
                <a:sym typeface="Arial"/>
              </a:rPr>
              <a:t>Sphingolipids</a:t>
            </a:r>
            <a:endParaRPr lang="en-US" sz="1200" b="0" i="0" u="none" strike="noStrike" kern="1200" cap="none" dirty="0">
              <a:solidFill>
                <a:schemeClr val="dk1"/>
              </a:solidFill>
              <a:effectLst/>
              <a:latin typeface="Arial"/>
              <a:ea typeface="Arial"/>
              <a:cs typeface="Arial"/>
              <a:sym typeface="Arial"/>
            </a:endParaRPr>
          </a:p>
          <a:p>
            <a:pPr marL="457200" lvl="1" indent="0">
              <a:buFont typeface="+mj-lt"/>
              <a:buNone/>
            </a:pPr>
            <a:r>
              <a:rPr lang="en-US" sz="1200" b="0" i="0" u="none" strike="noStrike" kern="1200" cap="none" dirty="0">
                <a:solidFill>
                  <a:schemeClr val="dk1"/>
                </a:solidFill>
                <a:effectLst/>
                <a:latin typeface="Arial"/>
                <a:ea typeface="Arial"/>
                <a:cs typeface="Arial"/>
                <a:sym typeface="Arial"/>
              </a:rPr>
              <a:t>               R single bond P single bond </a:t>
            </a:r>
            <a:r>
              <a:rPr lang="en-US" sz="1200" b="0" i="0" u="none" strike="noStrike" kern="1200" cap="none" dirty="0" err="1">
                <a:solidFill>
                  <a:schemeClr val="dk1"/>
                </a:solidFill>
                <a:effectLst/>
                <a:latin typeface="Arial"/>
                <a:ea typeface="Arial"/>
                <a:cs typeface="Arial"/>
                <a:sym typeface="Arial"/>
              </a:rPr>
              <a:t>sphingosine</a:t>
            </a:r>
            <a:r>
              <a:rPr lang="en-US" sz="1200" b="0" i="0" u="none" strike="noStrike" kern="1200" cap="none" dirty="0">
                <a:solidFill>
                  <a:schemeClr val="dk1"/>
                </a:solidFill>
                <a:effectLst/>
                <a:latin typeface="Arial"/>
                <a:ea typeface="Arial"/>
                <a:cs typeface="Arial"/>
                <a:sym typeface="Arial"/>
              </a:rPr>
              <a:t>. The </a:t>
            </a:r>
            <a:r>
              <a:rPr lang="en-US" sz="1200" b="0" i="0" u="none" strike="noStrike" kern="1200" cap="none" dirty="0" err="1">
                <a:solidFill>
                  <a:schemeClr val="dk1"/>
                </a:solidFill>
                <a:effectLst/>
                <a:latin typeface="Arial"/>
                <a:ea typeface="Arial"/>
                <a:cs typeface="Arial"/>
                <a:sym typeface="Arial"/>
              </a:rPr>
              <a:t>Sphingosine</a:t>
            </a:r>
            <a:r>
              <a:rPr lang="en-US" sz="1200" b="0" i="0" u="none" strike="noStrike" kern="1200" cap="none" dirty="0">
                <a:solidFill>
                  <a:schemeClr val="dk1"/>
                </a:solidFill>
                <a:effectLst/>
                <a:latin typeface="Arial"/>
                <a:ea typeface="Arial"/>
                <a:cs typeface="Arial"/>
                <a:sym typeface="Arial"/>
              </a:rPr>
              <a:t> is two C molecules, where the first C is single bond O H, H, C to H, to double bond with another C. The second C is single bond H, bond N H, single bond to C double bond to O. The second has a single bond to C H subscript 2, which is turn has a single bond with P.</a:t>
            </a:r>
          </a:p>
          <a:p>
            <a:pPr marL="0" lvl="0" indent="0">
              <a:buFont typeface="+mj-lt"/>
              <a:buNone/>
            </a:pPr>
            <a:r>
              <a:rPr lang="en-US" sz="1200" b="0" i="0" u="none" strike="noStrike" kern="1200" cap="none" dirty="0">
                <a:solidFill>
                  <a:schemeClr val="dk1"/>
                </a:solidFill>
                <a:effectLst/>
                <a:latin typeface="Arial"/>
                <a:ea typeface="Arial"/>
                <a:cs typeface="Arial"/>
                <a:sym typeface="Arial"/>
              </a:rPr>
              <a:t>4.   Glycolipids where R is carbohydrate chain of 1 to 6 monosaccharide units. It shows a </a:t>
            </a:r>
            <a:r>
              <a:rPr lang="en-US" sz="1200" b="0" i="0" u="none" strike="noStrike" kern="1200" cap="none" dirty="0" err="1">
                <a:solidFill>
                  <a:schemeClr val="dk1"/>
                </a:solidFill>
                <a:effectLst/>
                <a:latin typeface="Arial"/>
                <a:ea typeface="Arial"/>
                <a:cs typeface="Arial"/>
                <a:sym typeface="Arial"/>
              </a:rPr>
              <a:t>Sphingosine</a:t>
            </a:r>
            <a:r>
              <a:rPr lang="en-US" sz="1200" b="0" i="0" u="none" strike="noStrike" kern="1200" cap="none" dirty="0">
                <a:solidFill>
                  <a:schemeClr val="dk1"/>
                </a:solidFill>
                <a:effectLst/>
                <a:latin typeface="Arial"/>
                <a:ea typeface="Arial"/>
                <a:cs typeface="Arial"/>
                <a:sym typeface="Arial"/>
              </a:rPr>
              <a:t> bond with a C double bond O. The </a:t>
            </a:r>
            <a:r>
              <a:rPr lang="en-US" sz="1200" b="0" i="0" u="none" strike="noStrike" kern="1200" cap="none" dirty="0" err="1">
                <a:solidFill>
                  <a:schemeClr val="dk1"/>
                </a:solidFill>
                <a:effectLst/>
                <a:latin typeface="Arial"/>
                <a:ea typeface="Arial"/>
                <a:cs typeface="Arial"/>
                <a:sym typeface="Arial"/>
              </a:rPr>
              <a:t>Sphingosine</a:t>
            </a:r>
            <a:r>
              <a:rPr lang="en-US" sz="1200" b="0" i="0" u="none" strike="noStrike" kern="1200" cap="none" dirty="0">
                <a:solidFill>
                  <a:schemeClr val="dk1"/>
                </a:solidFill>
                <a:effectLst/>
                <a:latin typeface="Arial"/>
                <a:ea typeface="Arial"/>
                <a:cs typeface="Arial"/>
                <a:sym typeface="Arial"/>
              </a:rPr>
              <a:t> is two C molecules, where the first C is single bond O H, H, C to H, to double bond with another C. The second C is single bond H, bond N H, single bond to C double bond to O. The second has a single bond to C H subscript 2.</a:t>
            </a:r>
          </a:p>
          <a:p>
            <a:pPr marL="0" lvl="0" indent="0">
              <a:buFont typeface="+mj-lt"/>
              <a:buNone/>
            </a:pPr>
            <a:r>
              <a:rPr lang="en-US" sz="1200" b="0" i="0" u="none" strike="noStrike" kern="1200" cap="none" dirty="0">
                <a:solidFill>
                  <a:schemeClr val="dk1"/>
                </a:solidFill>
                <a:effectLst/>
                <a:latin typeface="Arial"/>
                <a:ea typeface="Arial"/>
                <a:cs typeface="Arial"/>
                <a:sym typeface="Arial"/>
              </a:rPr>
              <a:t>5.   Steroids: It shows four ringed hydrocarbon skeleton of steroids. The vertex of the three hexagons are numbered as 1 to 5, 6 to 10, and 11 to 14 respectively. The fourth pentagon shows vertices 15 to 17. Number 18 and 19 and bonds between the first and second hydrocarbon and third and fourth hydrocarbons. The second structure shows the position of O H.</a:t>
            </a:r>
          </a:p>
          <a:p>
            <a:pPr marL="0" lvl="0" indent="0">
              <a:buFont typeface="+mj-lt"/>
              <a:buNone/>
            </a:pPr>
            <a:r>
              <a:rPr lang="en-US" sz="1200" b="0" i="0" u="none" strike="noStrike" kern="1200" cap="none" dirty="0">
                <a:solidFill>
                  <a:schemeClr val="dk1"/>
                </a:solidFill>
                <a:effectLst/>
                <a:latin typeface="Arial"/>
                <a:ea typeface="Arial"/>
                <a:cs typeface="Arial"/>
                <a:sym typeface="Arial"/>
              </a:rPr>
              <a:t>6.   </a:t>
            </a:r>
            <a:r>
              <a:rPr lang="en-US" sz="1200" b="0" i="0" u="none" strike="noStrike" kern="1200" cap="none" dirty="0" err="1">
                <a:solidFill>
                  <a:schemeClr val="dk1"/>
                </a:solidFill>
                <a:effectLst/>
                <a:latin typeface="Arial"/>
                <a:ea typeface="Arial"/>
                <a:cs typeface="Arial"/>
                <a:sym typeface="Arial"/>
              </a:rPr>
              <a:t>Terpenes</a:t>
            </a:r>
            <a:r>
              <a:rPr lang="en-US" sz="1200" b="0" i="0" u="none" strike="noStrike" kern="1200" cap="none" dirty="0">
                <a:solidFill>
                  <a:schemeClr val="dk1"/>
                </a:solidFill>
                <a:effectLst/>
                <a:latin typeface="Arial"/>
                <a:ea typeface="Arial"/>
                <a:cs typeface="Arial"/>
                <a:sym typeface="Arial"/>
              </a:rPr>
              <a:t>: It is labeled Vitamin A. It shows isoprene getting delineated to isoprene units of vitamin A. An isoprene is a C double bond C H subscript 2, single bond C H subscript 3, single bond C H with a double bond C H subscript 2. The delineated isoprene unit is a structure of C H single bond C single bond C H subscript 3, the C has a double bond with C single bond H single bond C H and H. The second isoprene unit has a C H subscript 2 O H to C. The structure has a hexagon on the top with a C single bond H connecting with the double bond with the isoprene structures.</a:t>
            </a:r>
          </a:p>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128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984248819"/>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129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161273254"/>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130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169818172"/>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IN" sz="1200" b="0" i="0" u="none" strike="noStrike" kern="1200" cap="none" dirty="0">
                <a:solidFill>
                  <a:schemeClr val="dk1"/>
                </a:solidFill>
                <a:effectLst/>
                <a:latin typeface="Arial"/>
                <a:ea typeface="Arial"/>
                <a:cs typeface="Arial"/>
                <a:sym typeface="Arial"/>
              </a:rPr>
              <a:t>Long description:</a:t>
            </a:r>
          </a:p>
          <a:p>
            <a:r>
              <a:rPr lang="en-US" sz="1200" b="0" i="0" u="none" strike="noStrike" kern="1200" cap="none" dirty="0">
                <a:solidFill>
                  <a:schemeClr val="dk1"/>
                </a:solidFill>
                <a:effectLst/>
                <a:latin typeface="Arial"/>
                <a:ea typeface="Arial"/>
                <a:cs typeface="Arial"/>
                <a:sym typeface="Arial"/>
              </a:rPr>
              <a:t>The</a:t>
            </a:r>
            <a:r>
              <a:rPr lang="en-US" sz="1200" b="1" i="0" u="none" strike="noStrike" kern="1200" cap="none" dirty="0">
                <a:solidFill>
                  <a:schemeClr val="dk1"/>
                </a:solidFill>
                <a:effectLst/>
                <a:latin typeface="Arial"/>
                <a:ea typeface="Arial"/>
                <a:cs typeface="Arial"/>
                <a:sym typeface="Arial"/>
              </a:rPr>
              <a:t> </a:t>
            </a:r>
            <a:r>
              <a:rPr lang="en-US" sz="1200" b="0" i="0" u="none" strike="noStrike" kern="1200" cap="none" dirty="0">
                <a:solidFill>
                  <a:schemeClr val="dk1"/>
                </a:solidFill>
                <a:effectLst/>
                <a:latin typeface="Arial"/>
                <a:ea typeface="Arial"/>
                <a:cs typeface="Arial"/>
                <a:sym typeface="Arial"/>
              </a:rPr>
              <a:t>structures of various compounds are described below:</a:t>
            </a: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Fatty acids:</a:t>
            </a:r>
          </a:p>
          <a:p>
            <a:pPr marL="0" indent="0">
              <a:buFont typeface="+mj-lt"/>
              <a:buNone/>
            </a:pPr>
            <a:r>
              <a:rPr lang="en-US" sz="1200" b="0" i="0" u="none" strike="noStrike" kern="1200" cap="none" dirty="0">
                <a:solidFill>
                  <a:schemeClr val="dk1"/>
                </a:solidFill>
                <a:effectLst/>
                <a:latin typeface="Arial"/>
                <a:ea typeface="Arial"/>
                <a:cs typeface="Arial"/>
                <a:sym typeface="Arial"/>
              </a:rPr>
              <a:t>Saturated fatty acids are </a:t>
            </a:r>
            <a:r>
              <a:rPr lang="en-US" sz="1200" b="0" i="0" u="none" strike="noStrike" kern="1200" cap="none" dirty="0" err="1">
                <a:solidFill>
                  <a:schemeClr val="dk1"/>
                </a:solidFill>
                <a:effectLst/>
                <a:latin typeface="Arial"/>
                <a:ea typeface="Arial"/>
                <a:cs typeface="Arial"/>
                <a:sym typeface="Arial"/>
              </a:rPr>
              <a:t>palmitic</a:t>
            </a:r>
            <a:r>
              <a:rPr lang="en-US" sz="1200" b="0" i="0" u="none" strike="noStrike" kern="1200" cap="none" dirty="0">
                <a:solidFill>
                  <a:schemeClr val="dk1"/>
                </a:solidFill>
                <a:effectLst/>
                <a:latin typeface="Arial"/>
                <a:ea typeface="Arial"/>
                <a:cs typeface="Arial"/>
                <a:sym typeface="Arial"/>
              </a:rPr>
              <a:t> acid and stearic acid, which are single bonds of C O </a:t>
            </a:r>
            <a:r>
              <a:rPr lang="en-US" sz="1200" b="0" i="0" u="none" strike="noStrike" kern="1200" cap="none" dirty="0" err="1">
                <a:solidFill>
                  <a:schemeClr val="dk1"/>
                </a:solidFill>
                <a:effectLst/>
                <a:latin typeface="Arial"/>
                <a:ea typeface="Arial"/>
                <a:cs typeface="Arial"/>
                <a:sym typeface="Arial"/>
              </a:rPr>
              <a:t>O</a:t>
            </a:r>
            <a:r>
              <a:rPr lang="en-US" sz="1200" b="0" i="0" u="none" strike="noStrike" kern="1200" cap="none" dirty="0">
                <a:solidFill>
                  <a:schemeClr val="dk1"/>
                </a:solidFill>
                <a:effectLst/>
                <a:latin typeface="Arial"/>
                <a:ea typeface="Arial"/>
                <a:cs typeface="Arial"/>
                <a:sym typeface="Arial"/>
              </a:rPr>
              <a:t> H. Unsaturated fatty acids are oleic acid and linoleic acid, which are single bonds of C O </a:t>
            </a:r>
            <a:r>
              <a:rPr lang="en-US" sz="1200" b="0" i="0" u="none" strike="noStrike" kern="1200" cap="none" dirty="0" err="1">
                <a:solidFill>
                  <a:schemeClr val="dk1"/>
                </a:solidFill>
                <a:effectLst/>
                <a:latin typeface="Arial"/>
                <a:ea typeface="Arial"/>
                <a:cs typeface="Arial"/>
                <a:sym typeface="Arial"/>
              </a:rPr>
              <a:t>O</a:t>
            </a:r>
            <a:r>
              <a:rPr lang="en-US" sz="1200" b="0" i="0" u="none" strike="noStrike" kern="1200" cap="none" dirty="0">
                <a:solidFill>
                  <a:schemeClr val="dk1"/>
                </a:solidFill>
                <a:effectLst/>
                <a:latin typeface="Arial"/>
                <a:ea typeface="Arial"/>
                <a:cs typeface="Arial"/>
                <a:sym typeface="Arial"/>
              </a:rPr>
              <a:t> H with a couple of double bonds in between. Where there is a double bond in oleic acid and two double bonds in linoleic acid, the structure tends to take an inclined angle.</a:t>
            </a:r>
          </a:p>
          <a:p>
            <a:pPr marL="0" lvl="0" indent="0">
              <a:buFont typeface="+mj-lt"/>
              <a:buNone/>
            </a:pPr>
            <a:r>
              <a:rPr lang="en-US" sz="1200" b="0" i="0" u="none" strike="noStrike" kern="1200" cap="none" dirty="0">
                <a:solidFill>
                  <a:schemeClr val="dk1"/>
                </a:solidFill>
                <a:effectLst/>
                <a:latin typeface="Arial"/>
                <a:ea typeface="Arial"/>
                <a:cs typeface="Arial"/>
                <a:sym typeface="Arial"/>
              </a:rPr>
              <a:t>2.  </a:t>
            </a:r>
            <a:r>
              <a:rPr lang="en-US" sz="1200" b="0" i="0" u="none" strike="noStrike" kern="1200" cap="none" dirty="0" err="1">
                <a:solidFill>
                  <a:schemeClr val="dk1"/>
                </a:solidFill>
                <a:effectLst/>
                <a:latin typeface="Arial"/>
                <a:ea typeface="Arial"/>
                <a:cs typeface="Arial"/>
                <a:sym typeface="Arial"/>
              </a:rPr>
              <a:t>Triacylglycerols</a:t>
            </a:r>
            <a:r>
              <a:rPr lang="en-US" sz="1200" b="0" i="0" u="none" strike="noStrike" kern="1200" cap="none" dirty="0">
                <a:solidFill>
                  <a:schemeClr val="dk1"/>
                </a:solidFill>
                <a:effectLst/>
                <a:latin typeface="Arial"/>
                <a:ea typeface="Arial"/>
                <a:cs typeface="Arial"/>
                <a:sym typeface="Arial"/>
              </a:rPr>
              <a:t> and their synthesis:</a:t>
            </a:r>
          </a:p>
          <a:p>
            <a:pPr marL="0" indent="0">
              <a:buFont typeface="+mj-lt"/>
              <a:buNone/>
            </a:pPr>
            <a:r>
              <a:rPr lang="en-US" sz="1200" b="0" i="0" u="none" strike="noStrike" kern="1200" cap="none" dirty="0">
                <a:solidFill>
                  <a:schemeClr val="dk1"/>
                </a:solidFill>
                <a:effectLst/>
                <a:latin typeface="Arial"/>
                <a:ea typeface="Arial"/>
                <a:cs typeface="Arial"/>
                <a:sym typeface="Arial"/>
              </a:rPr>
              <a:t>The equation shows glycerol plus three fatty acids gives triacylglycerol and gives out three molecules of water. Glycerol shows three C molecules single bond to O H and H, and additional two H atoms. Three fatty acids show three C double bond O and single bond O H. </a:t>
            </a:r>
            <a:r>
              <a:rPr lang="en-US" sz="1200" b="0" i="0" u="none" strike="noStrike" kern="1200" cap="none" dirty="0" err="1">
                <a:solidFill>
                  <a:schemeClr val="dk1"/>
                </a:solidFill>
                <a:effectLst/>
                <a:latin typeface="Arial"/>
                <a:ea typeface="Arial"/>
                <a:cs typeface="Arial"/>
                <a:sym typeface="Arial"/>
              </a:rPr>
              <a:t>Triacylglecerol</a:t>
            </a:r>
            <a:r>
              <a:rPr lang="en-US" sz="1200" b="0" i="0" u="none" strike="noStrike" kern="1200" cap="none" dirty="0">
                <a:solidFill>
                  <a:schemeClr val="dk1"/>
                </a:solidFill>
                <a:effectLst/>
                <a:latin typeface="Arial"/>
                <a:ea typeface="Arial"/>
                <a:cs typeface="Arial"/>
                <a:sym typeface="Arial"/>
              </a:rPr>
              <a:t> shows a C single bond to H, H, O and the O has a single bond to C double bond O molecule. Thus structure repeats thrice for </a:t>
            </a:r>
            <a:r>
              <a:rPr lang="en-US" sz="1200" b="0" i="0" u="none" strike="noStrike" kern="1200" cap="none" dirty="0" err="1">
                <a:solidFill>
                  <a:schemeClr val="dk1"/>
                </a:solidFill>
                <a:effectLst/>
                <a:latin typeface="Arial"/>
                <a:ea typeface="Arial"/>
                <a:cs typeface="Arial"/>
                <a:sym typeface="Arial"/>
              </a:rPr>
              <a:t>Triacylglecerol</a:t>
            </a:r>
            <a:r>
              <a:rPr lang="en-US" sz="1200" b="0" i="0" u="none" strike="noStrike" kern="1200" cap="none" dirty="0">
                <a:solidFill>
                  <a:schemeClr val="dk1"/>
                </a:solidFill>
                <a:effectLst/>
                <a:latin typeface="Arial"/>
                <a:ea typeface="Arial"/>
                <a:cs typeface="Arial"/>
                <a:sym typeface="Arial"/>
              </a:rPr>
              <a:t>. The third structure in inclined to the bottom at a double bond.</a:t>
            </a:r>
          </a:p>
          <a:p>
            <a:pPr marL="0" lvl="0" indent="0">
              <a:buFont typeface="+mj-lt"/>
              <a:buNone/>
            </a:pPr>
            <a:r>
              <a:rPr lang="en-US" sz="1200" b="0" i="0" u="none" strike="noStrike" kern="1200" cap="none" dirty="0">
                <a:solidFill>
                  <a:schemeClr val="dk1"/>
                </a:solidFill>
                <a:effectLst/>
                <a:latin typeface="Arial"/>
                <a:ea typeface="Arial"/>
                <a:cs typeface="Arial"/>
                <a:sym typeface="Arial"/>
              </a:rPr>
              <a:t>3.  Phospholipids where R equals any of several hydrophilic compounds.</a:t>
            </a:r>
          </a:p>
          <a:p>
            <a:pPr marL="1143000" lvl="2" indent="-228600">
              <a:buFont typeface="+mj-lt"/>
              <a:buAutoNum type="alphaLcParenR"/>
            </a:pPr>
            <a:r>
              <a:rPr lang="en-US" sz="1200" b="0" i="0" u="none" strike="noStrike" kern="1200" cap="none" dirty="0" err="1">
                <a:solidFill>
                  <a:schemeClr val="dk1"/>
                </a:solidFill>
                <a:effectLst/>
                <a:latin typeface="Arial"/>
                <a:ea typeface="Arial"/>
                <a:cs typeface="Arial"/>
                <a:sym typeface="Arial"/>
              </a:rPr>
              <a:t>Phosphoglycerides</a:t>
            </a:r>
            <a:endParaRPr lang="en-US" sz="1200" b="0" i="0" u="none" strike="noStrike" kern="1200" cap="none" dirty="0">
              <a:solidFill>
                <a:schemeClr val="dk1"/>
              </a:solidFill>
              <a:effectLst/>
              <a:latin typeface="Arial"/>
              <a:ea typeface="Arial"/>
              <a:cs typeface="Arial"/>
              <a:sym typeface="Arial"/>
            </a:endParaRPr>
          </a:p>
          <a:p>
            <a:pPr marL="457200" lvl="1" indent="0">
              <a:buFont typeface="+mj-lt"/>
              <a:buNone/>
            </a:pPr>
            <a:r>
              <a:rPr lang="en-US" sz="1200" b="0" i="0" u="none" strike="noStrike" kern="1200" cap="none" dirty="0">
                <a:solidFill>
                  <a:schemeClr val="dk1"/>
                </a:solidFill>
                <a:effectLst/>
                <a:latin typeface="Arial"/>
                <a:ea typeface="Arial"/>
                <a:cs typeface="Arial"/>
                <a:sym typeface="Arial"/>
              </a:rPr>
              <a:t>             </a:t>
            </a:r>
            <a:r>
              <a:rPr lang="en-US" sz="1200" b="0" i="0" u="none" strike="noStrike" kern="1200" cap="none" baseline="0" dirty="0">
                <a:solidFill>
                  <a:schemeClr val="dk1"/>
                </a:solidFill>
                <a:effectLst/>
                <a:latin typeface="Arial"/>
                <a:ea typeface="Arial"/>
                <a:cs typeface="Arial"/>
                <a:sym typeface="Arial"/>
              </a:rPr>
              <a:t>  </a:t>
            </a:r>
            <a:r>
              <a:rPr lang="en-US" sz="1200" b="0" i="0" u="none" strike="noStrike" kern="1200" cap="none" dirty="0">
                <a:solidFill>
                  <a:schemeClr val="dk1"/>
                </a:solidFill>
                <a:effectLst/>
                <a:latin typeface="Arial"/>
                <a:ea typeface="Arial"/>
                <a:cs typeface="Arial"/>
                <a:sym typeface="Arial"/>
              </a:rPr>
              <a:t>R single bond P single bond glycerol. The glycerol structure is two C molecules       single bond to O H and H, C H subscript 2, and the O are bonded to C double bond O.</a:t>
            </a:r>
          </a:p>
          <a:p>
            <a:pPr marL="914400" lvl="2" indent="0">
              <a:buFont typeface="+mj-lt"/>
              <a:buNone/>
            </a:pPr>
            <a:r>
              <a:rPr lang="en-US" sz="1200" b="0" i="0" u="none" strike="noStrike" kern="1200" cap="none" dirty="0">
                <a:solidFill>
                  <a:schemeClr val="dk1"/>
                </a:solidFill>
                <a:effectLst/>
                <a:latin typeface="Arial"/>
                <a:ea typeface="Arial"/>
                <a:cs typeface="Arial"/>
                <a:sym typeface="Arial"/>
              </a:rPr>
              <a:t>b)</a:t>
            </a:r>
            <a:r>
              <a:rPr lang="en-US" sz="1200" b="0" i="0" u="none" strike="noStrike" kern="1200" cap="none" baseline="0" dirty="0">
                <a:solidFill>
                  <a:schemeClr val="dk1"/>
                </a:solidFill>
                <a:effectLst/>
                <a:latin typeface="Arial"/>
                <a:ea typeface="Arial"/>
                <a:cs typeface="Arial"/>
                <a:sym typeface="Arial"/>
              </a:rPr>
              <a:t>  </a:t>
            </a:r>
            <a:r>
              <a:rPr lang="en-US" sz="1200" b="0" i="0" u="none" strike="noStrike" kern="1200" cap="none" dirty="0" err="1">
                <a:solidFill>
                  <a:schemeClr val="dk1"/>
                </a:solidFill>
                <a:effectLst/>
                <a:latin typeface="Arial"/>
                <a:ea typeface="Arial"/>
                <a:cs typeface="Arial"/>
                <a:sym typeface="Arial"/>
              </a:rPr>
              <a:t>Sphingolipids</a:t>
            </a:r>
            <a:endParaRPr lang="en-US" sz="1200" b="0" i="0" u="none" strike="noStrike" kern="1200" cap="none" dirty="0">
              <a:solidFill>
                <a:schemeClr val="dk1"/>
              </a:solidFill>
              <a:effectLst/>
              <a:latin typeface="Arial"/>
              <a:ea typeface="Arial"/>
              <a:cs typeface="Arial"/>
              <a:sym typeface="Arial"/>
            </a:endParaRPr>
          </a:p>
          <a:p>
            <a:pPr marL="457200" lvl="1" indent="0">
              <a:buFont typeface="+mj-lt"/>
              <a:buNone/>
            </a:pPr>
            <a:r>
              <a:rPr lang="en-US" sz="1200" b="0" i="0" u="none" strike="noStrike" kern="1200" cap="none" dirty="0">
                <a:solidFill>
                  <a:schemeClr val="dk1"/>
                </a:solidFill>
                <a:effectLst/>
                <a:latin typeface="Arial"/>
                <a:ea typeface="Arial"/>
                <a:cs typeface="Arial"/>
                <a:sym typeface="Arial"/>
              </a:rPr>
              <a:t>               R single bond P single bond </a:t>
            </a:r>
            <a:r>
              <a:rPr lang="en-US" sz="1200" b="0" i="0" u="none" strike="noStrike" kern="1200" cap="none" dirty="0" err="1">
                <a:solidFill>
                  <a:schemeClr val="dk1"/>
                </a:solidFill>
                <a:effectLst/>
                <a:latin typeface="Arial"/>
                <a:ea typeface="Arial"/>
                <a:cs typeface="Arial"/>
                <a:sym typeface="Arial"/>
              </a:rPr>
              <a:t>sphingosine</a:t>
            </a:r>
            <a:r>
              <a:rPr lang="en-US" sz="1200" b="0" i="0" u="none" strike="noStrike" kern="1200" cap="none" dirty="0">
                <a:solidFill>
                  <a:schemeClr val="dk1"/>
                </a:solidFill>
                <a:effectLst/>
                <a:latin typeface="Arial"/>
                <a:ea typeface="Arial"/>
                <a:cs typeface="Arial"/>
                <a:sym typeface="Arial"/>
              </a:rPr>
              <a:t>. The </a:t>
            </a:r>
            <a:r>
              <a:rPr lang="en-US" sz="1200" b="0" i="0" u="none" strike="noStrike" kern="1200" cap="none" dirty="0" err="1">
                <a:solidFill>
                  <a:schemeClr val="dk1"/>
                </a:solidFill>
                <a:effectLst/>
                <a:latin typeface="Arial"/>
                <a:ea typeface="Arial"/>
                <a:cs typeface="Arial"/>
                <a:sym typeface="Arial"/>
              </a:rPr>
              <a:t>Sphingosine</a:t>
            </a:r>
            <a:r>
              <a:rPr lang="en-US" sz="1200" b="0" i="0" u="none" strike="noStrike" kern="1200" cap="none" dirty="0">
                <a:solidFill>
                  <a:schemeClr val="dk1"/>
                </a:solidFill>
                <a:effectLst/>
                <a:latin typeface="Arial"/>
                <a:ea typeface="Arial"/>
                <a:cs typeface="Arial"/>
                <a:sym typeface="Arial"/>
              </a:rPr>
              <a:t> is two C molecules, where the first C is single bond O H, H, C to H, to double bond with another C. The second C is single bond H, bond N H, single bond to C double bond to O. The second has a single bond to C H subscript 2, which is turn has a single bond with P.</a:t>
            </a:r>
          </a:p>
          <a:p>
            <a:pPr marL="0" lvl="0" indent="0">
              <a:buFont typeface="+mj-lt"/>
              <a:buNone/>
            </a:pPr>
            <a:r>
              <a:rPr lang="en-US" sz="1200" b="0" i="0" u="none" strike="noStrike" kern="1200" cap="none" dirty="0">
                <a:solidFill>
                  <a:schemeClr val="dk1"/>
                </a:solidFill>
                <a:effectLst/>
                <a:latin typeface="Arial"/>
                <a:ea typeface="Arial"/>
                <a:cs typeface="Arial"/>
                <a:sym typeface="Arial"/>
              </a:rPr>
              <a:t>4.   Glycolipids where R is carbohydrate chain of 1 to 6 monosaccharide units. It shows a </a:t>
            </a:r>
            <a:r>
              <a:rPr lang="en-US" sz="1200" b="0" i="0" u="none" strike="noStrike" kern="1200" cap="none" dirty="0" err="1">
                <a:solidFill>
                  <a:schemeClr val="dk1"/>
                </a:solidFill>
                <a:effectLst/>
                <a:latin typeface="Arial"/>
                <a:ea typeface="Arial"/>
                <a:cs typeface="Arial"/>
                <a:sym typeface="Arial"/>
              </a:rPr>
              <a:t>Sphingosine</a:t>
            </a:r>
            <a:r>
              <a:rPr lang="en-US" sz="1200" b="0" i="0" u="none" strike="noStrike" kern="1200" cap="none" dirty="0">
                <a:solidFill>
                  <a:schemeClr val="dk1"/>
                </a:solidFill>
                <a:effectLst/>
                <a:latin typeface="Arial"/>
                <a:ea typeface="Arial"/>
                <a:cs typeface="Arial"/>
                <a:sym typeface="Arial"/>
              </a:rPr>
              <a:t> bond with a C double bond O. The </a:t>
            </a:r>
            <a:r>
              <a:rPr lang="en-US" sz="1200" b="0" i="0" u="none" strike="noStrike" kern="1200" cap="none" dirty="0" err="1">
                <a:solidFill>
                  <a:schemeClr val="dk1"/>
                </a:solidFill>
                <a:effectLst/>
                <a:latin typeface="Arial"/>
                <a:ea typeface="Arial"/>
                <a:cs typeface="Arial"/>
                <a:sym typeface="Arial"/>
              </a:rPr>
              <a:t>Sphingosine</a:t>
            </a:r>
            <a:r>
              <a:rPr lang="en-US" sz="1200" b="0" i="0" u="none" strike="noStrike" kern="1200" cap="none" dirty="0">
                <a:solidFill>
                  <a:schemeClr val="dk1"/>
                </a:solidFill>
                <a:effectLst/>
                <a:latin typeface="Arial"/>
                <a:ea typeface="Arial"/>
                <a:cs typeface="Arial"/>
                <a:sym typeface="Arial"/>
              </a:rPr>
              <a:t> is two C molecules, where the first C is single bond O H, H, C to H, to double bond with another C. The second C is single bond H, bond N H, single bond to C double bond to O. The second has a single bond to C H subscript 2.</a:t>
            </a:r>
          </a:p>
          <a:p>
            <a:pPr marL="0" lvl="0" indent="0">
              <a:buFont typeface="+mj-lt"/>
              <a:buNone/>
            </a:pPr>
            <a:r>
              <a:rPr lang="en-US" sz="1200" b="0" i="0" u="none" strike="noStrike" kern="1200" cap="none" dirty="0">
                <a:solidFill>
                  <a:schemeClr val="dk1"/>
                </a:solidFill>
                <a:effectLst/>
                <a:latin typeface="Arial"/>
                <a:ea typeface="Arial"/>
                <a:cs typeface="Arial"/>
                <a:sym typeface="Arial"/>
              </a:rPr>
              <a:t>5.   Steroids: It shows four ringed hydrocarbon skeleton of steroids. The vertex of the three hexagons are numbered as 1 to 5, 6 to 10, and 11 to 14 respectively. The fourth pentagon shows vertices 15 to 17. Number 18 and 19 and bonds between the first and second hydrocarbon and third and fourth hydrocarbons. The second structure shows the position of O H.</a:t>
            </a:r>
          </a:p>
          <a:p>
            <a:pPr marL="0" lvl="0" indent="0">
              <a:buFont typeface="+mj-lt"/>
              <a:buNone/>
            </a:pPr>
            <a:r>
              <a:rPr lang="en-US" sz="1200" b="0" i="0" u="none" strike="noStrike" kern="1200" cap="none" dirty="0">
                <a:solidFill>
                  <a:schemeClr val="dk1"/>
                </a:solidFill>
                <a:effectLst/>
                <a:latin typeface="Arial"/>
                <a:ea typeface="Arial"/>
                <a:cs typeface="Arial"/>
                <a:sym typeface="Arial"/>
              </a:rPr>
              <a:t>6.   </a:t>
            </a:r>
            <a:r>
              <a:rPr lang="en-US" sz="1200" b="0" i="0" u="none" strike="noStrike" kern="1200" cap="none" dirty="0" err="1">
                <a:solidFill>
                  <a:schemeClr val="dk1"/>
                </a:solidFill>
                <a:effectLst/>
                <a:latin typeface="Arial"/>
                <a:ea typeface="Arial"/>
                <a:cs typeface="Arial"/>
                <a:sym typeface="Arial"/>
              </a:rPr>
              <a:t>Terpenes</a:t>
            </a:r>
            <a:r>
              <a:rPr lang="en-US" sz="1200" b="0" i="0" u="none" strike="noStrike" kern="1200" cap="none" dirty="0">
                <a:solidFill>
                  <a:schemeClr val="dk1"/>
                </a:solidFill>
                <a:effectLst/>
                <a:latin typeface="Arial"/>
                <a:ea typeface="Arial"/>
                <a:cs typeface="Arial"/>
                <a:sym typeface="Arial"/>
              </a:rPr>
              <a:t>: It is labeled Vitamin A. It shows isoprene getting delineated to isoprene units of vitamin A. An isoprene is a C double bond C H subscript 2, single bond C H subscript 3, single bond C H with a double bond C H subscript 2. The delineated isoprene unit is a structure of C H single bond C single bond C H subscript 3, the C has a double bond with C single bond H single bond C H and H. The second isoprene unit has a C H subscript 2 O H to C. The structure has a hexagon on the top with a C single bond H connecting with the double bond with the isoprene structures.</a:t>
            </a:r>
          </a:p>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131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6122811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3" name="Picture Placeholder 8">
            <a:extLst>
              <a:ext uri="{FF2B5EF4-FFF2-40B4-BE49-F238E27FC236}">
                <a16:creationId xmlns:a16="http://schemas.microsoft.com/office/drawing/2014/main" id="{C6122C06-0248-45C8-9890-FDA2C7B0CDBA}"/>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3" name="Content Placeholder 2">
            <a:extLst>
              <a:ext uri="{FF2B5EF4-FFF2-40B4-BE49-F238E27FC236}">
                <a16:creationId xmlns:a16="http://schemas.microsoft.com/office/drawing/2014/main" id="{B3F9E3F0-3064-41BA-BF34-B5D9350D8D48}"/>
              </a:ext>
            </a:extLst>
          </p:cNvPr>
          <p:cNvSpPr>
            <a:spLocks noGrp="1"/>
          </p:cNvSpPr>
          <p:nvPr>
            <p:ph sz="quarter" idx="17" hasCustomPrompt="1"/>
          </p:nvPr>
        </p:nvSpPr>
        <p:spPr>
          <a:xfrm>
            <a:off x="1836402" y="6400801"/>
            <a:ext cx="6908800"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421594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credi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9"/>
            <a:ext cx="3657600" cy="1088476"/>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
        <p:nvSpPr>
          <p:cNvPr id="3" name="Picture Placeholder 2">
            <a:extLst>
              <a:ext uri="{FF2B5EF4-FFF2-40B4-BE49-F238E27FC236}">
                <a16:creationId xmlns:a16="http://schemas.microsoft.com/office/drawing/2014/main" id="{9349B39A-AC01-4073-85EF-922E8DBA6C0A}"/>
              </a:ext>
            </a:extLst>
          </p:cNvPr>
          <p:cNvSpPr>
            <a:spLocks noGrp="1"/>
          </p:cNvSpPr>
          <p:nvPr>
            <p:ph type="pic" sz="quarter" idx="18"/>
          </p:nvPr>
        </p:nvSpPr>
        <p:spPr>
          <a:xfrm>
            <a:off x="457200" y="1517650"/>
            <a:ext cx="4178300" cy="4608513"/>
          </a:xfrm>
        </p:spPr>
        <p:txBody>
          <a:bodyPr/>
          <a:lstStyle/>
          <a:p>
            <a:endParaRPr lang="en-IN" dirty="0"/>
          </a:p>
        </p:txBody>
      </p:sp>
      <p:pic>
        <p:nvPicPr>
          <p:cNvPr id="11" name="Logo" descr="Pearson Logo"/>
          <p:cNvPicPr preferRelativeResize="0"/>
          <p:nvPr userDrawn="1"/>
        </p:nvPicPr>
        <p:blipFill rotWithShape="1">
          <a:blip r:embed="rId2">
            <a:alphaModFix/>
          </a:blip>
          <a:srcRect/>
          <a:stretch/>
        </p:blipFill>
        <p:spPr>
          <a:xfrm>
            <a:off x="443972" y="6429709"/>
            <a:ext cx="917999" cy="279914"/>
          </a:xfrm>
          <a:prstGeom prst="rect">
            <a:avLst/>
          </a:prstGeom>
          <a:noFill/>
          <a:ln>
            <a:noFill/>
          </a:ln>
        </p:spPr>
      </p:pic>
      <p:sp>
        <p:nvSpPr>
          <p:cNvPr id="4" name="Content Placeholder 3">
            <a:extLst>
              <a:ext uri="{FF2B5EF4-FFF2-40B4-BE49-F238E27FC236}">
                <a16:creationId xmlns:a16="http://schemas.microsoft.com/office/drawing/2014/main" id="{9DBB0BF2-5162-4B6F-B06E-C4298E10EA5D}"/>
              </a:ext>
            </a:extLst>
          </p:cNvPr>
          <p:cNvSpPr>
            <a:spLocks noGrp="1"/>
          </p:cNvSpPr>
          <p:nvPr>
            <p:ph sz="quarter" idx="19"/>
          </p:nvPr>
        </p:nvSpPr>
        <p:spPr>
          <a:xfrm>
            <a:off x="5145088" y="5110163"/>
            <a:ext cx="3541712" cy="674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238006492"/>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441450"/>
            <a:ext cx="8232775" cy="470996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57200" y="1556327"/>
            <a:ext cx="3635375" cy="4520623"/>
          </a:xfrm>
        </p:spPr>
        <p:txBody>
          <a:bodyPr/>
          <a:lstStyle/>
          <a:p>
            <a:pPr lvl="0"/>
            <a:r>
              <a:rPr lang="en-US" dirty="0"/>
              <a:t>Edit Master text styles</a:t>
            </a: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234542" y="1556327"/>
            <a:ext cx="4452257" cy="2267528"/>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3971925"/>
            <a:ext cx="4452258" cy="2105025"/>
          </a:xfrm>
        </p:spPr>
        <p:txBody>
          <a:bodyPr/>
          <a:lstStyle/>
          <a:p>
            <a:pPr lvl="0"/>
            <a:r>
              <a:rPr lang="en-US" dirty="0"/>
              <a:t>Edit Master text styles</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399197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694830" y="1552575"/>
            <a:ext cx="3991970"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8229600" cy="1217921"/>
          </a:xfrm>
        </p:spPr>
        <p:txBody>
          <a:bodyPr/>
          <a:lstStyle>
            <a:lvl1pPr>
              <a:defRPr/>
            </a:lvl1p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3" name="Picture Placeholder 2">
            <a:extLst>
              <a:ext uri="{FF2B5EF4-FFF2-40B4-BE49-F238E27FC236}">
                <a16:creationId xmlns:a16="http://schemas.microsoft.com/office/drawing/2014/main" id="{C933E19B-FD16-4C39-8ED1-932474951885}"/>
              </a:ext>
            </a:extLst>
          </p:cNvPr>
          <p:cNvSpPr>
            <a:spLocks noGrp="1"/>
          </p:cNvSpPr>
          <p:nvPr>
            <p:ph type="pic" sz="quarter" idx="14"/>
          </p:nvPr>
        </p:nvSpPr>
        <p:spPr>
          <a:xfrm>
            <a:off x="457200" y="2989263"/>
            <a:ext cx="3896436" cy="3275012"/>
          </a:xfrm>
        </p:spPr>
        <p:txBody>
          <a:bodyPr/>
          <a:lstStyle/>
          <a:p>
            <a:endParaRPr lang="en-US"/>
          </a:p>
        </p:txBody>
      </p:sp>
      <p:sp>
        <p:nvSpPr>
          <p:cNvPr id="5" name="Picture Placeholder 4">
            <a:extLst>
              <a:ext uri="{FF2B5EF4-FFF2-40B4-BE49-F238E27FC236}">
                <a16:creationId xmlns:a16="http://schemas.microsoft.com/office/drawing/2014/main" id="{3AA427EA-F247-42BF-9ACF-CFB1AC136F80}"/>
              </a:ext>
            </a:extLst>
          </p:cNvPr>
          <p:cNvSpPr>
            <a:spLocks noGrp="1"/>
          </p:cNvSpPr>
          <p:nvPr>
            <p:ph type="pic" sz="quarter" idx="15"/>
          </p:nvPr>
        </p:nvSpPr>
        <p:spPr>
          <a:xfrm>
            <a:off x="4845050" y="2989263"/>
            <a:ext cx="3841750" cy="3275012"/>
          </a:xfrm>
        </p:spPr>
        <p:txBody>
          <a:bodyPr/>
          <a:lstStyle/>
          <a:p>
            <a:endParaRPr lang="en-US"/>
          </a:p>
        </p:txBody>
      </p:sp>
    </p:spTree>
    <p:extLst>
      <p:ext uri="{BB962C8B-B14F-4D97-AF65-F5344CB8AC3E}">
        <p14:creationId xmlns:p14="http://schemas.microsoft.com/office/powerpoint/2010/main" val="39649994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8229600" cy="1258864"/>
          </a:xfrm>
        </p:spPr>
        <p:txBody>
          <a:bodyPr/>
          <a:lstStyle>
            <a:lvl1pPr>
              <a:defRPr/>
            </a:lvl1p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3" name="Picture Placeholder 2">
            <a:extLst>
              <a:ext uri="{FF2B5EF4-FFF2-40B4-BE49-F238E27FC236}">
                <a16:creationId xmlns:a16="http://schemas.microsoft.com/office/drawing/2014/main" id="{CD086D82-7E2B-4E5F-BE59-0187FED1E3F0}"/>
              </a:ext>
            </a:extLst>
          </p:cNvPr>
          <p:cNvSpPr>
            <a:spLocks noGrp="1"/>
          </p:cNvSpPr>
          <p:nvPr>
            <p:ph type="pic" sz="quarter" idx="14"/>
          </p:nvPr>
        </p:nvSpPr>
        <p:spPr>
          <a:xfrm>
            <a:off x="457200" y="3125788"/>
            <a:ext cx="8229600" cy="3028950"/>
          </a:xfrm>
        </p:spPr>
        <p:txBody>
          <a:bodyPr/>
          <a:lstStyle/>
          <a:p>
            <a:endParaRPr lang="en-US"/>
          </a:p>
        </p:txBody>
      </p:sp>
    </p:spTree>
    <p:extLst>
      <p:ext uri="{BB962C8B-B14F-4D97-AF65-F5344CB8AC3E}">
        <p14:creationId xmlns:p14="http://schemas.microsoft.com/office/powerpoint/2010/main" val="31393375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Title and vide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4" name="Media Placeholder 3">
            <a:extLst>
              <a:ext uri="{FF2B5EF4-FFF2-40B4-BE49-F238E27FC236}">
                <a16:creationId xmlns:a16="http://schemas.microsoft.com/office/drawing/2014/main" id="{C13DAEEA-C6ED-4728-B7F6-5B92C8072451}"/>
              </a:ext>
            </a:extLst>
          </p:cNvPr>
          <p:cNvSpPr>
            <a:spLocks noGrp="1"/>
          </p:cNvSpPr>
          <p:nvPr>
            <p:ph type="media" sz="quarter" idx="13"/>
          </p:nvPr>
        </p:nvSpPr>
        <p:spPr>
          <a:xfrm>
            <a:off x="457200" y="1611313"/>
            <a:ext cx="8229600" cy="4543425"/>
          </a:xfrm>
        </p:spPr>
        <p:txBody>
          <a:bodyPr/>
          <a:lstStyle/>
          <a:p>
            <a:endParaRPr lang="en-US"/>
          </a:p>
        </p:txBody>
      </p:sp>
    </p:spTree>
    <p:extLst>
      <p:ext uri="{BB962C8B-B14F-4D97-AF65-F5344CB8AC3E}">
        <p14:creationId xmlns:p14="http://schemas.microsoft.com/office/powerpoint/2010/main" val="17587777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8229600" cy="958613"/>
          </a:xfrm>
        </p:spPr>
        <p:txBody>
          <a:bodyPr/>
          <a:lstStyle>
            <a:lvl1pPr>
              <a:defRPr/>
            </a:lvl1p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3" name="Picture Placeholder 2">
            <a:extLst>
              <a:ext uri="{FF2B5EF4-FFF2-40B4-BE49-F238E27FC236}">
                <a16:creationId xmlns:a16="http://schemas.microsoft.com/office/drawing/2014/main" id="{CD086D82-7E2B-4E5F-BE59-0187FED1E3F0}"/>
              </a:ext>
            </a:extLst>
          </p:cNvPr>
          <p:cNvSpPr>
            <a:spLocks noGrp="1"/>
          </p:cNvSpPr>
          <p:nvPr>
            <p:ph type="pic" sz="quarter" idx="14"/>
          </p:nvPr>
        </p:nvSpPr>
        <p:spPr>
          <a:xfrm>
            <a:off x="457200" y="2751114"/>
            <a:ext cx="8229600" cy="1333288"/>
          </a:xfrm>
        </p:spPr>
        <p:txBody>
          <a:bodyPr/>
          <a:lstStyle/>
          <a:p>
            <a:endParaRPr lang="en-US"/>
          </a:p>
        </p:txBody>
      </p:sp>
      <p:sp>
        <p:nvSpPr>
          <p:cNvPr id="6" name="Content Placeholder 5">
            <a:extLst>
              <a:ext uri="{FF2B5EF4-FFF2-40B4-BE49-F238E27FC236}">
                <a16:creationId xmlns:a16="http://schemas.microsoft.com/office/drawing/2014/main" id="{E65DBD9A-CD7A-4778-981F-2EFDA3DC71DB}"/>
              </a:ext>
            </a:extLst>
          </p:cNvPr>
          <p:cNvSpPr>
            <a:spLocks noGrp="1"/>
          </p:cNvSpPr>
          <p:nvPr>
            <p:ph sz="quarter" idx="15"/>
          </p:nvPr>
        </p:nvSpPr>
        <p:spPr>
          <a:xfrm>
            <a:off x="457200" y="4352925"/>
            <a:ext cx="8229600" cy="18700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404188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57201" y="1552575"/>
            <a:ext cx="2595603" cy="4438650"/>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3274199" y="1552575"/>
            <a:ext cx="2595602" cy="4438650"/>
          </a:xfrm>
        </p:spPr>
        <p:txBody>
          <a:bodyPr/>
          <a:lstStyle>
            <a:lvl1pPr>
              <a:defRPr/>
            </a:lvl1p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6091197" y="1552575"/>
            <a:ext cx="2595603"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57201" y="1552575"/>
            <a:ext cx="2595603" cy="4438650"/>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3274199" y="1552575"/>
            <a:ext cx="2595602" cy="4438650"/>
          </a:xfrm>
        </p:spPr>
        <p:txBody>
          <a:bodyPr/>
          <a:lstStyle>
            <a:lvl1pPr>
              <a:defRPr/>
            </a:lvl1p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6091197" y="1552575"/>
            <a:ext cx="2595603"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2786354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188595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2572593" y="1552575"/>
            <a:ext cx="1885950" cy="4438650"/>
          </a:xfrm>
        </p:spPr>
        <p:txBody>
          <a:body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4687986" y="1552575"/>
            <a:ext cx="1885950" cy="4438650"/>
          </a:xfrm>
        </p:spPr>
        <p:txBody>
          <a:bodyPr/>
          <a:lstStyle/>
          <a:p>
            <a:pPr lvl="0"/>
            <a:r>
              <a:rPr lang="en-US" dirty="0"/>
              <a:t>Click to add text</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hasCustomPrompt="1"/>
          </p:nvPr>
        </p:nvSpPr>
        <p:spPr>
          <a:xfrm>
            <a:off x="6803378" y="1552575"/>
            <a:ext cx="1885950" cy="4438650"/>
          </a:xfrm>
        </p:spPr>
        <p:txBody>
          <a:bodyPr/>
          <a:lstStyle/>
          <a:p>
            <a:pPr marL="256032" marR="0" lvl="0" indent="-154432"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28600"/>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12888"/>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050971"/>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481138"/>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hasCustomPrompt="1"/>
          </p:nvPr>
        </p:nvSpPr>
        <p:spPr>
          <a:xfrm>
            <a:off x="5048250" y="1481138"/>
            <a:ext cx="3638550" cy="3754437"/>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343525"/>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Figure + two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481139"/>
            <a:ext cx="8229600" cy="1250429"/>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hasCustomPrompt="1"/>
          </p:nvPr>
        </p:nvSpPr>
        <p:spPr>
          <a:xfrm>
            <a:off x="457200" y="4831310"/>
            <a:ext cx="8229600" cy="1250429"/>
          </a:xfrm>
        </p:spPr>
        <p:txBody>
          <a:bodyPr/>
          <a:lstStyle/>
          <a:p>
            <a:pPr lvl="0"/>
            <a:r>
              <a:rPr lang="en-US" dirty="0"/>
              <a:t>Click to add text</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Picture Placeholder 5">
            <a:extLst>
              <a:ext uri="{FF2B5EF4-FFF2-40B4-BE49-F238E27FC236}">
                <a16:creationId xmlns:a16="http://schemas.microsoft.com/office/drawing/2014/main" id="{D395539A-EE17-406E-AA4E-C7E99C860F7E}"/>
              </a:ext>
            </a:extLst>
          </p:cNvPr>
          <p:cNvSpPr>
            <a:spLocks noGrp="1"/>
          </p:cNvSpPr>
          <p:nvPr>
            <p:ph type="pic" sz="quarter" idx="16"/>
          </p:nvPr>
        </p:nvSpPr>
        <p:spPr>
          <a:xfrm>
            <a:off x="457200" y="2974975"/>
            <a:ext cx="8229600" cy="1692275"/>
          </a:xfrm>
        </p:spPr>
        <p:txBody>
          <a:bodyPr/>
          <a:lstStyle/>
          <a:p>
            <a:endParaRPr lang="en-US"/>
          </a:p>
        </p:txBody>
      </p:sp>
    </p:spTree>
    <p:extLst>
      <p:ext uri="{BB962C8B-B14F-4D97-AF65-F5344CB8AC3E}">
        <p14:creationId xmlns:p14="http://schemas.microsoft.com/office/powerpoint/2010/main" val="8815263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5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12/14/2021</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Picture Placeholder 4"/>
          <p:cNvSpPr>
            <a:spLocks noGrp="1"/>
          </p:cNvSpPr>
          <p:nvPr>
            <p:ph type="pic" sz="quarter" idx="14"/>
          </p:nvPr>
        </p:nvSpPr>
        <p:spPr>
          <a:xfrm>
            <a:off x="457200" y="5181600"/>
            <a:ext cx="8229600" cy="1066800"/>
          </a:xfrm>
        </p:spPr>
        <p:txBody>
          <a:bodyPr/>
          <a:lstStyle/>
          <a:p>
            <a:endParaRPr lang="en-IN" dirty="0"/>
          </a:p>
        </p:txBody>
      </p:sp>
    </p:spTree>
    <p:extLst>
      <p:ext uri="{BB962C8B-B14F-4D97-AF65-F5344CB8AC3E}">
        <p14:creationId xmlns:p14="http://schemas.microsoft.com/office/powerpoint/2010/main" val="27242072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2_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57201" y="1552575"/>
            <a:ext cx="2595603" cy="4438650"/>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3274199" y="1552575"/>
            <a:ext cx="2595602" cy="4438650"/>
          </a:xfrm>
        </p:spPr>
        <p:txBody>
          <a:bodyPr/>
          <a:lstStyle>
            <a:lvl1pPr>
              <a:defRPr/>
            </a:lvl1p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6091197" y="1552575"/>
            <a:ext cx="2595603"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3" name="Picture Placeholder 2"/>
          <p:cNvSpPr>
            <a:spLocks noGrp="1"/>
          </p:cNvSpPr>
          <p:nvPr>
            <p:ph type="pic" sz="quarter" idx="16"/>
          </p:nvPr>
        </p:nvSpPr>
        <p:spPr>
          <a:xfrm>
            <a:off x="1092200" y="2870200"/>
            <a:ext cx="6197600" cy="2108200"/>
          </a:xfrm>
        </p:spPr>
        <p:txBody>
          <a:bodyPr/>
          <a:lstStyle/>
          <a:p>
            <a:endParaRPr lang="en-IN"/>
          </a:p>
        </p:txBody>
      </p:sp>
    </p:spTree>
    <p:extLst>
      <p:ext uri="{BB962C8B-B14F-4D97-AF65-F5344CB8AC3E}">
        <p14:creationId xmlns:p14="http://schemas.microsoft.com/office/powerpoint/2010/main" val="387616981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slideLayout" Target="../slideLayouts/slideLayout16.xml"/><Relationship Id="rId18" Type="http://schemas.openxmlformats.org/officeDocument/2006/relationships/slideLayout" Target="../slideLayouts/slideLayout21.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slideLayout" Target="../slideLayouts/slideLayout15.xml"/><Relationship Id="rId17" Type="http://schemas.openxmlformats.org/officeDocument/2006/relationships/slideLayout" Target="../slideLayouts/slideLayout20.xml"/><Relationship Id="rId2" Type="http://schemas.openxmlformats.org/officeDocument/2006/relationships/slideLayout" Target="../slideLayouts/slideLayout5.xml"/><Relationship Id="rId16" Type="http://schemas.openxmlformats.org/officeDocument/2006/relationships/slideLayout" Target="../slideLayouts/slideLayout19.xml"/><Relationship Id="rId20" Type="http://schemas.openxmlformats.org/officeDocument/2006/relationships/image" Target="../media/image1.png"/><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5" Type="http://schemas.openxmlformats.org/officeDocument/2006/relationships/slideLayout" Target="../slideLayouts/slideLayout18.xml"/><Relationship Id="rId10" Type="http://schemas.openxmlformats.org/officeDocument/2006/relationships/slideLayout" Target="../slideLayouts/slideLayout13.xml"/><Relationship Id="rId19" Type="http://schemas.openxmlformats.org/officeDocument/2006/relationships/theme" Target="../theme/theme2.xml"/><Relationship Id="rId4" Type="http://schemas.openxmlformats.org/officeDocument/2006/relationships/slideLayout" Target="../slideLayouts/slideLayout7.xml"/><Relationship Id="rId9" Type="http://schemas.openxmlformats.org/officeDocument/2006/relationships/slideLayout" Target="../slideLayouts/slideLayout12.xml"/><Relationship Id="rId14"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 id="2147483664" r:id="rId2"/>
    <p:sldLayoutId id="2147483689"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pic>
        <p:nvPicPr>
          <p:cNvPr id="15" name="Logo" descr="Pearson Logo"/>
          <p:cNvPicPr preferRelativeResize="0"/>
          <p:nvPr userDrawn="1"/>
        </p:nvPicPr>
        <p:blipFill rotWithShape="1">
          <a:blip r:embed="rId20">
            <a:alphaModFix/>
          </a:blip>
          <a:srcRect/>
          <a:stretch/>
        </p:blipFill>
        <p:spPr>
          <a:xfrm>
            <a:off x="443972" y="6429709"/>
            <a:ext cx="917999" cy="279914"/>
          </a:xfrm>
          <a:prstGeom prst="rect">
            <a:avLst/>
          </a:prstGeom>
          <a:noFill/>
          <a:ln>
            <a:noFill/>
          </a:ln>
        </p:spPr>
      </p:pic>
      <p:sp>
        <p:nvSpPr>
          <p:cNvPr id="16" name="Copyright"/>
          <p:cNvSpPr txBox="1"/>
          <p:nvPr/>
        </p:nvSpPr>
        <p:spPr>
          <a:xfrm>
            <a:off x="1600200" y="6429344"/>
            <a:ext cx="7162799" cy="200054"/>
          </a:xfrm>
          <a:prstGeom prst="rect">
            <a:avLst/>
          </a:prstGeom>
          <a:noFill/>
          <a:ln>
            <a:noFill/>
          </a:ln>
        </p:spPr>
        <p:txBody>
          <a:bodyPr lIns="91425" tIns="45700" rIns="91425" bIns="45700" anchor="ctr"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a:ea typeface="Verdana" panose="020B0604030504040204" pitchFamily="34" charset="0"/>
                <a:cs typeface="Verdana" panose="020B0604030504040204" pitchFamily="34" charset="0"/>
              </a:rPr>
              <a:t>Copyright © 2022 Pearson Education Ltd. All Rights Reserved.</a:t>
            </a: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76" r:id="rId2"/>
    <p:sldLayoutId id="2147483677" r:id="rId3"/>
    <p:sldLayoutId id="2147483686" r:id="rId4"/>
    <p:sldLayoutId id="2147483684" r:id="rId5"/>
    <p:sldLayoutId id="2147483687" r:id="rId6"/>
    <p:sldLayoutId id="2147483685" r:id="rId7"/>
    <p:sldLayoutId id="2147483678" r:id="rId8"/>
    <p:sldLayoutId id="2147483682" r:id="rId9"/>
    <p:sldLayoutId id="2147483679" r:id="rId10"/>
    <p:sldLayoutId id="2147483671" r:id="rId11"/>
    <p:sldLayoutId id="2147483673" r:id="rId12"/>
    <p:sldLayoutId id="2147483683" r:id="rId13"/>
    <p:sldLayoutId id="2147483670" r:id="rId14"/>
    <p:sldLayoutId id="2147483669" r:id="rId15"/>
    <p:sldLayoutId id="2147483655" r:id="rId16"/>
    <p:sldLayoutId id="2147483681" r:id="rId17"/>
    <p:sldLayoutId id="2147483688" r:id="rId1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0.xml"/></Relationships>
</file>

<file path=ppt/slides/_rels/slide3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0.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0.xml"/></Relationships>
</file>

<file path=ppt/slides/_rels/slide3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36.xml"/><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0.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0.xml"/></Relationships>
</file>

<file path=ppt/slides/_rels/slide4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39.xml"/><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0.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0.xml"/></Relationships>
</file>

<file path=ppt/slides/_rels/slide4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42.xml"/><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0.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0.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0.xml"/></Relationships>
</file>

<file path=ppt/slides/_rels/slide4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46.xml"/><Relationship Id="rId1" Type="http://schemas.openxmlformats.org/officeDocument/2006/relationships/slideLayout" Target="../slideLayouts/slideLayout21.xml"/></Relationships>
</file>

<file path=ppt/slides/_rels/slide49.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47.xml"/><Relationship Id="rId1" Type="http://schemas.openxmlformats.org/officeDocument/2006/relationships/slideLayout" Target="../slideLayouts/slideLayout2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0.xml"/></Relationships>
</file>

<file path=ppt/slides/_rels/slide51.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49.xml"/><Relationship Id="rId1" Type="http://schemas.openxmlformats.org/officeDocument/2006/relationships/slideLayout" Target="../slideLayouts/slideLayout2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0.xml"/></Relationships>
</file>

<file path=ppt/slides/_rels/slide53.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51.xml"/><Relationship Id="rId1" Type="http://schemas.openxmlformats.org/officeDocument/2006/relationships/slideLayout" Target="../slideLayouts/slideLayout2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0.xml"/></Relationships>
</file>

<file path=ppt/slides/_rels/slide55.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53.xml"/><Relationship Id="rId1" Type="http://schemas.openxmlformats.org/officeDocument/2006/relationships/slideLayout" Target="../slideLayouts/slideLayout2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0.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0.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0.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0.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0.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0.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0.xml"/></Relationships>
</file>

<file path=ppt/slides/_rels/slide63.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61.xml"/><Relationship Id="rId1" Type="http://schemas.openxmlformats.org/officeDocument/2006/relationships/slideLayout" Target="../slideLayouts/slideLayout2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0.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0.xml"/></Relationships>
</file>

<file path=ppt/slides/_rels/slide66.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64.xml"/><Relationship Id="rId1" Type="http://schemas.openxmlformats.org/officeDocument/2006/relationships/slideLayout" Target="../slideLayouts/slideLayout21.xml"/></Relationships>
</file>

<file path=ppt/slides/_rels/slide67.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65.xml"/><Relationship Id="rId1" Type="http://schemas.openxmlformats.org/officeDocument/2006/relationships/slideLayout" Target="../slideLayouts/slideLayout2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0.xml"/></Relationships>
</file>

<file path=ppt/slides/_rels/slide69.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67.xml"/><Relationship Id="rId1" Type="http://schemas.openxmlformats.org/officeDocument/2006/relationships/slideLayout" Target="../slideLayouts/slideLayout2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0.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0.xml"/></Relationships>
</file>

<file path=ppt/slides/_rels/slide72.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70.xml"/><Relationship Id="rId1" Type="http://schemas.openxmlformats.org/officeDocument/2006/relationships/slideLayout" Target="../slideLayouts/slideLayout2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0.xml"/></Relationships>
</file>

<file path=ppt/slides/_rels/slide74.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72.xml"/><Relationship Id="rId1" Type="http://schemas.openxmlformats.org/officeDocument/2006/relationships/slideLayout" Target="../slideLayouts/slideLayout2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0.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0.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0.xml"/></Relationships>
</file>

<file path=ppt/slides/_rels/slide7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6.xml"/><Relationship Id="rId1" Type="http://schemas.openxmlformats.org/officeDocument/2006/relationships/slideLayout" Target="../slideLayouts/slideLayout2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0.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0.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0.xml"/></Relationships>
</file>

<file path=ppt/slides/_rels/slide8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0.xml"/><Relationship Id="rId1" Type="http://schemas.openxmlformats.org/officeDocument/2006/relationships/slideLayout" Target="../slideLayouts/slideLayout2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0.xml"/></Relationships>
</file>

<file path=ppt/slides/_rels/slide84.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82.xml"/><Relationship Id="rId1" Type="http://schemas.openxmlformats.org/officeDocument/2006/relationships/slideLayout" Target="../slideLayouts/slideLayout2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0.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0.xml"/></Relationships>
</file>

<file path=ppt/slides/_rels/slide87.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85.xml"/><Relationship Id="rId1" Type="http://schemas.openxmlformats.org/officeDocument/2006/relationships/slideLayout" Target="../slideLayouts/slideLayout2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0.xml"/></Relationships>
</file>

<file path=ppt/slides/_rels/slide89.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87.xml"/><Relationship Id="rId1" Type="http://schemas.openxmlformats.org/officeDocument/2006/relationships/slideLayout" Target="../slideLayouts/slideLayout2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0.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0.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0.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0.xml"/></Relationships>
</file>

<file path=ppt/slides/_rels/slide94.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92.xml"/><Relationship Id="rId1" Type="http://schemas.openxmlformats.org/officeDocument/2006/relationships/slideLayout" Target="../slideLayouts/slideLayout2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0.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0.xml"/></Relationships>
</file>

<file path=ppt/slides/_rels/slide97.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95.xml"/><Relationship Id="rId1" Type="http://schemas.openxmlformats.org/officeDocument/2006/relationships/slideLayout" Target="../slideLayouts/slideLayout8.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0.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0.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0.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0.xml"/></Relationships>
</file>

<file path=ppt/slides/_rels/slide102.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100.xml"/><Relationship Id="rId1" Type="http://schemas.openxmlformats.org/officeDocument/2006/relationships/slideLayout" Target="../slideLayouts/slideLayout8.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0.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0.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0.xml"/></Relationships>
</file>

<file path=ppt/slides/_rels/slide107.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104.xml"/><Relationship Id="rId1" Type="http://schemas.openxmlformats.org/officeDocument/2006/relationships/slideLayout" Target="../slideLayouts/slideLayout8.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0.xml"/></Relationships>
</file>

<file path=ppt/slides/_rels/slide109.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106.xml"/><Relationship Id="rId1" Type="http://schemas.openxmlformats.org/officeDocument/2006/relationships/slideLayout" Target="../slideLayouts/slideLayout8.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0.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0.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0.xml"/></Relationships>
</file>

<file path=ppt/slides/_rels/slide113.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110.xml"/><Relationship Id="rId1" Type="http://schemas.openxmlformats.org/officeDocument/2006/relationships/slideLayout" Target="../slideLayouts/slideLayout8.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0.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0.xml"/></Relationships>
</file>

<file path=ppt/slides/_rels/slide116.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113.xml"/><Relationship Id="rId1" Type="http://schemas.openxmlformats.org/officeDocument/2006/relationships/slideLayout" Target="../slideLayouts/slideLayout8.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0.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0.xml"/></Relationships>
</file>

<file path=ppt/slides/_rels/slide119.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116.xml"/><Relationship Id="rId1" Type="http://schemas.openxmlformats.org/officeDocument/2006/relationships/slideLayout" Target="../slideLayouts/slideLayout8.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0.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20.xml"/></Relationships>
</file>

<file path=ppt/slides/_rels/slide122.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119.xml"/><Relationship Id="rId1" Type="http://schemas.openxmlformats.org/officeDocument/2006/relationships/slideLayout" Target="../slideLayouts/slideLayout21.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0.xml"/></Relationships>
</file>

<file path=ppt/slides/_rels/slide124.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121.xml"/><Relationship Id="rId1" Type="http://schemas.openxmlformats.org/officeDocument/2006/relationships/slideLayout" Target="../slideLayouts/slideLayout21.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20.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20.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20.xml"/></Relationships>
</file>

<file path=ppt/slides/_rels/slide128.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125.xml"/><Relationship Id="rId1" Type="http://schemas.openxmlformats.org/officeDocument/2006/relationships/slideLayout" Target="../slideLayouts/slideLayout21.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20.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20.xml"/></Relationships>
</file>

<file path=ppt/slides/_rels/slide131.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128.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Lst>
          </p:cNvPr>
          <p:cNvSpPr>
            <a:spLocks noGrp="1"/>
          </p:cNvSpPr>
          <p:nvPr>
            <p:ph type="title"/>
          </p:nvPr>
        </p:nvSpPr>
        <p:spPr>
          <a:xfrm>
            <a:off x="446314" y="150055"/>
            <a:ext cx="8229600" cy="622828"/>
          </a:xfrm>
        </p:spPr>
        <p:txBody>
          <a:bodyPr lIns="0" tIns="0" rIns="0" bIns="0" anchor="ctr"/>
          <a:lstStyle/>
          <a:p>
            <a:r>
              <a:rPr lang="en-US" dirty="0"/>
              <a:t>Becker’s World of the Cell</a:t>
            </a:r>
          </a:p>
        </p:txBody>
      </p:sp>
      <p:sp>
        <p:nvSpPr>
          <p:cNvPr id="3" name="Content Placeholder 2">
            <a:extLst>
              <a:ext uri="{FF2B5EF4-FFF2-40B4-BE49-F238E27FC236}">
                <a16:creationId xmlns:a16="http://schemas.microsoft.com/office/drawing/2014/main" id="{ABE18F80-D4FC-4D8F-B2BD-E7BEE7E012B5}"/>
              </a:ext>
            </a:extLst>
          </p:cNvPr>
          <p:cNvSpPr>
            <a:spLocks noGrp="1"/>
          </p:cNvSpPr>
          <p:nvPr>
            <p:ph type="body" idx="1"/>
          </p:nvPr>
        </p:nvSpPr>
        <p:spPr>
          <a:xfrm>
            <a:off x="446314" y="886872"/>
            <a:ext cx="8229600" cy="359857"/>
          </a:xfrm>
        </p:spPr>
        <p:txBody>
          <a:bodyPr lIns="0" tIns="0" rIns="0" bIns="0" anchor="ctr"/>
          <a:lstStyle/>
          <a:p>
            <a:r>
              <a:rPr lang="en-US" dirty="0">
                <a:solidFill>
                  <a:schemeClr val="tx2"/>
                </a:solidFill>
              </a:rPr>
              <a:t>Tenth Edition, Global Edition</a:t>
            </a:r>
          </a:p>
        </p:txBody>
      </p:sp>
      <p:sp>
        <p:nvSpPr>
          <p:cNvPr id="5" name="Content Placeholder 4">
            <a:extLst>
              <a:ext uri="{FF2B5EF4-FFF2-40B4-BE49-F238E27FC236}">
                <a16:creationId xmlns:a16="http://schemas.microsoft.com/office/drawing/2014/main" id="{2D222376-7AD7-4443-B67A-120BE12F4DDB}"/>
              </a:ext>
            </a:extLst>
          </p:cNvPr>
          <p:cNvSpPr>
            <a:spLocks noGrp="1"/>
          </p:cNvSpPr>
          <p:nvPr>
            <p:ph sz="quarter" idx="14"/>
          </p:nvPr>
        </p:nvSpPr>
        <p:spPr>
          <a:xfrm>
            <a:off x="4751388" y="2704810"/>
            <a:ext cx="3891870" cy="632859"/>
          </a:xfrm>
        </p:spPr>
        <p:txBody>
          <a:bodyPr lIns="0" tIns="0" rIns="0" bIns="0" anchor="ctr"/>
          <a:lstStyle/>
          <a:p>
            <a:pPr marL="0"/>
            <a:r>
              <a:rPr lang="en-US" dirty="0"/>
              <a:t>Chapter 3</a:t>
            </a:r>
          </a:p>
        </p:txBody>
      </p:sp>
      <p:sp>
        <p:nvSpPr>
          <p:cNvPr id="6" name="Content Placeholder 5">
            <a:extLst>
              <a:ext uri="{FF2B5EF4-FFF2-40B4-BE49-F238E27FC236}">
                <a16:creationId xmlns:a16="http://schemas.microsoft.com/office/drawing/2014/main" id="{82FD4EC9-4778-4E2F-B136-2A176CA2BA69}"/>
              </a:ext>
            </a:extLst>
          </p:cNvPr>
          <p:cNvSpPr>
            <a:spLocks noGrp="1"/>
          </p:cNvSpPr>
          <p:nvPr>
            <p:ph sz="quarter" idx="15"/>
          </p:nvPr>
        </p:nvSpPr>
        <p:spPr>
          <a:xfrm>
            <a:off x="4751388" y="3562613"/>
            <a:ext cx="3891868" cy="675858"/>
          </a:xfrm>
        </p:spPr>
        <p:txBody>
          <a:bodyPr lIns="0" tIns="0" rIns="0" bIns="0" anchor="ctr"/>
          <a:lstStyle/>
          <a:p>
            <a:pPr marL="0"/>
            <a:r>
              <a:rPr lang="en-US" dirty="0"/>
              <a:t>The Macromolecules of the Cell</a:t>
            </a:r>
          </a:p>
        </p:txBody>
      </p:sp>
      <p:sp>
        <p:nvSpPr>
          <p:cNvPr id="9" name="Content Placeholder 8">
            <a:extLst>
              <a:ext uri="{FF2B5EF4-FFF2-40B4-BE49-F238E27FC236}">
                <a16:creationId xmlns:a16="http://schemas.microsoft.com/office/drawing/2014/main" id="{7D27DE78-5C56-452E-9384-36BEE8BECDFE}"/>
              </a:ext>
            </a:extLst>
          </p:cNvPr>
          <p:cNvSpPr>
            <a:spLocks noGrp="1"/>
          </p:cNvSpPr>
          <p:nvPr>
            <p:ph sz="quarter" idx="19"/>
          </p:nvPr>
        </p:nvSpPr>
        <p:spPr>
          <a:xfrm>
            <a:off x="4720658" y="5549712"/>
            <a:ext cx="3935412" cy="557593"/>
          </a:xfrm>
        </p:spPr>
        <p:txBody>
          <a:bodyPr anchor="ctr"/>
          <a:lstStyle/>
          <a:p>
            <a:pPr marL="0" indent="0">
              <a:buNone/>
            </a:pPr>
            <a:r>
              <a:rPr lang="en-US" sz="1400" dirty="0">
                <a:latin typeface="+mn-lt"/>
              </a:rPr>
              <a:t>Lectures by Anna </a:t>
            </a:r>
            <a:r>
              <a:rPr lang="en-US" sz="1400" dirty="0" err="1">
                <a:latin typeface="+mn-lt"/>
              </a:rPr>
              <a:t>Hegsted</a:t>
            </a:r>
            <a:r>
              <a:rPr lang="en-US" sz="1400" dirty="0">
                <a:latin typeface="+mn-lt"/>
              </a:rPr>
              <a:t>, Simon Fraser University</a:t>
            </a:r>
            <a:endParaRPr lang="en-IN" sz="1400" dirty="0">
              <a:latin typeface="+mn-lt"/>
            </a:endParaRPr>
          </a:p>
        </p:txBody>
      </p:sp>
      <p:sp>
        <p:nvSpPr>
          <p:cNvPr id="8" name="Content Placeholder 7">
            <a:extLst>
              <a:ext uri="{FF2B5EF4-FFF2-40B4-BE49-F238E27FC236}">
                <a16:creationId xmlns:a16="http://schemas.microsoft.com/office/drawing/2014/main" id="{C8E88D28-1A9F-4FC4-946F-10B4629D1438}"/>
              </a:ext>
            </a:extLst>
          </p:cNvPr>
          <p:cNvSpPr>
            <a:spLocks noGrp="1"/>
          </p:cNvSpPr>
          <p:nvPr>
            <p:ph sz="quarter" idx="17"/>
          </p:nvPr>
        </p:nvSpPr>
        <p:spPr/>
        <p:txBody>
          <a:bodyPr/>
          <a:lstStyle/>
          <a:p>
            <a:r>
              <a:rPr lang="en-US" altLang="en-US" sz="1200" b="0" dirty="0">
                <a:latin typeface="Verdana"/>
                <a:ea typeface="Verdana" panose="020B0604030504040204" pitchFamily="34" charset="0"/>
                <a:cs typeface="Verdana" panose="020B0604030504040204" pitchFamily="34" charset="0"/>
              </a:rPr>
              <a:t>Copyright © 2022 Pearson Education Ltd. All Rights Reserved.</a:t>
            </a:r>
          </a:p>
        </p:txBody>
      </p:sp>
      <p:pic>
        <p:nvPicPr>
          <p:cNvPr id="11" name="Picture 10" descr="Front Cover: Becker's World of the Cell, Tenth Edition, Global Edition, by Jeff Hardin, James P Lodolce">
            <a:extLst>
              <a:ext uri="{FF2B5EF4-FFF2-40B4-BE49-F238E27FC236}">
                <a16:creationId xmlns:a16="http://schemas.microsoft.com/office/drawing/2014/main" id="{BE9428B3-2D25-4285-8317-37D2A4CEC88D}"/>
              </a:ext>
            </a:extLst>
          </p:cNvPr>
          <p:cNvPicPr>
            <a:picLocks noChangeAspect="1"/>
          </p:cNvPicPr>
          <p:nvPr/>
        </p:nvPicPr>
        <p:blipFill>
          <a:blip r:embed="rId3"/>
          <a:stretch>
            <a:fillRect/>
          </a:stretch>
        </p:blipFill>
        <p:spPr>
          <a:xfrm>
            <a:off x="466432" y="1360717"/>
            <a:ext cx="3926181" cy="4873827"/>
          </a:xfrm>
          <a:prstGeom prst="rect">
            <a:avLst/>
          </a:prstGeom>
        </p:spPr>
      </p:pic>
    </p:spTree>
    <p:extLst>
      <p:ext uri="{BB962C8B-B14F-4D97-AF65-F5344CB8AC3E}">
        <p14:creationId xmlns:p14="http://schemas.microsoft.com/office/powerpoint/2010/main" val="2563113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88073"/>
            <a:ext cx="8263784" cy="553998"/>
          </a:xfrm>
        </p:spPr>
        <p:txBody>
          <a:bodyPr lIns="0" tIns="0" rIns="0" bIns="0" anchor="ctr">
            <a:spAutoFit/>
          </a:bodyPr>
          <a:lstStyle/>
          <a:p>
            <a:r>
              <a:rPr lang="en-US" sz="3600" dirty="0">
                <a:latin typeface="+mj-lt"/>
              </a:rPr>
              <a:t>The Macromolecules of the Cell</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76898"/>
            <a:ext cx="8229600" cy="2039020"/>
          </a:xfrm>
        </p:spPr>
        <p:txBody>
          <a:bodyPr lIns="0" tIns="0" rIns="0" bIns="0">
            <a:spAutoFit/>
          </a:bodyPr>
          <a:lstStyle/>
          <a:p>
            <a:pPr marL="342900" indent="-342900"/>
            <a:r>
              <a:rPr lang="en-US" sz="2400" dirty="0"/>
              <a:t>Polymers are synthesized by condensation reactions in which activated monomers are linked together by the removal of water.</a:t>
            </a:r>
          </a:p>
          <a:p>
            <a:pPr marL="342900" indent="-342900"/>
            <a:r>
              <a:rPr lang="en-US" sz="2400" dirty="0"/>
              <a:t>Most biological macromolecules in cells are synthesized from about 30 common small molecules.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88073"/>
            <a:ext cx="8263784" cy="553998"/>
          </a:xfrm>
        </p:spPr>
        <p:txBody>
          <a:bodyPr lIns="0" tIns="0" rIns="0" bIns="0" anchor="ctr">
            <a:spAutoFit/>
          </a:bodyPr>
          <a:lstStyle/>
          <a:p>
            <a:r>
              <a:rPr lang="en-US" sz="3600" dirty="0">
                <a:latin typeface="+mj-lt"/>
              </a:rPr>
              <a:t>3.1 Proteins</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76898"/>
            <a:ext cx="8229600" cy="1300356"/>
          </a:xfrm>
        </p:spPr>
        <p:txBody>
          <a:bodyPr lIns="0" tIns="0" rIns="0" bIns="0">
            <a:spAutoFit/>
          </a:bodyPr>
          <a:lstStyle/>
          <a:p>
            <a:pPr marL="342900" indent="-342900"/>
            <a:r>
              <a:rPr lang="en-US" sz="2400" b="1" dirty="0"/>
              <a:t>Proteins</a:t>
            </a:r>
            <a:r>
              <a:rPr lang="en-US" sz="2400" dirty="0"/>
              <a:t> are extremely important macromolecules in all organisms, occurring nearly everywhere in the cell.</a:t>
            </a:r>
          </a:p>
          <a:p>
            <a:pPr marL="342900" indent="-342900"/>
            <a:r>
              <a:rPr lang="en-US" sz="2400" dirty="0"/>
              <a:t>Proteins fall into nine major classes.</a:t>
            </a:r>
          </a:p>
        </p:txBody>
      </p:sp>
    </p:spTree>
    <p:extLst>
      <p:ext uri="{BB962C8B-B14F-4D97-AF65-F5344CB8AC3E}">
        <p14:creationId xmlns:p14="http://schemas.microsoft.com/office/powerpoint/2010/main" val="27066836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84275"/>
            <a:ext cx="8263784" cy="553998"/>
          </a:xfrm>
        </p:spPr>
        <p:txBody>
          <a:bodyPr lIns="0" tIns="0" rIns="0" bIns="0" anchor="ctr">
            <a:spAutoFit/>
          </a:bodyPr>
          <a:lstStyle/>
          <a:p>
            <a:r>
              <a:rPr lang="en-US" sz="3600" dirty="0">
                <a:latin typeface="+mj-lt"/>
              </a:rPr>
              <a:t>Classes of Proteins </a:t>
            </a:r>
            <a:r>
              <a:rPr lang="en-US" sz="2800" dirty="0">
                <a:latin typeface="+mj-lt"/>
              </a:rPr>
              <a:t>(1 of 2)</a:t>
            </a:r>
            <a:endParaRPr lang="en-US" sz="3600" dirty="0">
              <a:latin typeface="+mj-lt"/>
            </a:endParaRP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75879"/>
            <a:ext cx="8263784" cy="2985433"/>
          </a:xfrm>
        </p:spPr>
        <p:txBody>
          <a:bodyPr lIns="0" tIns="0" rIns="0" bIns="0">
            <a:spAutoFit/>
          </a:bodyPr>
          <a:lstStyle/>
          <a:p>
            <a:pPr marL="347472" indent="-347472"/>
            <a:r>
              <a:rPr lang="en-US" altLang="en-US" sz="2400" i="1" dirty="0"/>
              <a:t>Enzymes</a:t>
            </a:r>
            <a:r>
              <a:rPr lang="en-US" altLang="en-US" sz="2400" dirty="0"/>
              <a:t> serve as catalysts, increasing the rates of chemical reactions.</a:t>
            </a:r>
          </a:p>
          <a:p>
            <a:pPr marL="347472" indent="-347472"/>
            <a:r>
              <a:rPr lang="en-US" altLang="en-US" sz="2400" i="1" dirty="0"/>
              <a:t>Structural proteins</a:t>
            </a:r>
            <a:r>
              <a:rPr lang="en-US" altLang="en-US" sz="2400" dirty="0"/>
              <a:t>—physical support and shape</a:t>
            </a:r>
          </a:p>
          <a:p>
            <a:pPr marL="347472" indent="-347472"/>
            <a:r>
              <a:rPr lang="en-US" altLang="en-US" sz="2400" i="1" dirty="0"/>
              <a:t>Motility proteins</a:t>
            </a:r>
            <a:r>
              <a:rPr lang="en-US" altLang="en-US" sz="2400" dirty="0"/>
              <a:t>—contraction and movement</a:t>
            </a:r>
          </a:p>
          <a:p>
            <a:pPr marL="347472" indent="-347472"/>
            <a:r>
              <a:rPr lang="en-US" altLang="en-US" sz="2400" i="1" dirty="0"/>
              <a:t>Regulatory proteins</a:t>
            </a:r>
            <a:r>
              <a:rPr lang="en-US" altLang="en-US" sz="2400" dirty="0"/>
              <a:t>—control and coordinate cell function</a:t>
            </a:r>
          </a:p>
          <a:p>
            <a:pPr marL="347472" indent="-347472"/>
            <a:r>
              <a:rPr lang="en-US" altLang="en-US" sz="2400" i="1" dirty="0"/>
              <a:t>Transport proteins</a:t>
            </a:r>
            <a:r>
              <a:rPr lang="en-US" altLang="en-US" sz="2400" dirty="0"/>
              <a:t>—move substances into and out of cells</a:t>
            </a:r>
          </a:p>
        </p:txBody>
      </p:sp>
    </p:spTree>
    <p:extLst>
      <p:ext uri="{BB962C8B-B14F-4D97-AF65-F5344CB8AC3E}">
        <p14:creationId xmlns:p14="http://schemas.microsoft.com/office/powerpoint/2010/main" val="15411424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84275"/>
            <a:ext cx="8263784" cy="553998"/>
          </a:xfrm>
        </p:spPr>
        <p:txBody>
          <a:bodyPr lIns="0" tIns="0" rIns="0" bIns="0" anchor="ctr">
            <a:spAutoFit/>
          </a:bodyPr>
          <a:lstStyle/>
          <a:p>
            <a:r>
              <a:rPr lang="en-US" sz="3600" dirty="0">
                <a:latin typeface="+mj-lt"/>
              </a:rPr>
              <a:t>Classes of Proteins </a:t>
            </a:r>
            <a:r>
              <a:rPr lang="en-US" sz="2800" dirty="0">
                <a:latin typeface="+mj-lt"/>
              </a:rPr>
              <a:t>(2 of 2)</a:t>
            </a:r>
            <a:endParaRPr lang="en-US" sz="3600" dirty="0">
              <a:latin typeface="+mj-lt"/>
            </a:endParaRP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75879"/>
            <a:ext cx="8263784" cy="2423740"/>
          </a:xfrm>
        </p:spPr>
        <p:txBody>
          <a:bodyPr lIns="0" tIns="0" rIns="0" bIns="0">
            <a:spAutoFit/>
          </a:bodyPr>
          <a:lstStyle/>
          <a:p>
            <a:pPr marL="347472" indent="-347472"/>
            <a:r>
              <a:rPr lang="en-US" altLang="en-US" sz="2400" i="1" dirty="0"/>
              <a:t>Signaling proteins</a:t>
            </a:r>
            <a:r>
              <a:rPr lang="en-US" altLang="en-US" sz="2400" dirty="0"/>
              <a:t>—communication between cells</a:t>
            </a:r>
          </a:p>
          <a:p>
            <a:pPr marL="347472" indent="-347472"/>
            <a:r>
              <a:rPr lang="en-US" altLang="en-US" sz="2400" i="1" dirty="0"/>
              <a:t>Receptor proteins</a:t>
            </a:r>
            <a:r>
              <a:rPr lang="en-US" altLang="en-US" sz="2400" dirty="0"/>
              <a:t>—enable cells to respond to chemical stimuli from the environment</a:t>
            </a:r>
          </a:p>
          <a:p>
            <a:pPr marL="347472" indent="-347472"/>
            <a:r>
              <a:rPr lang="en-US" altLang="en-US" sz="2400" i="1" dirty="0"/>
              <a:t>Defensive proteins</a:t>
            </a:r>
            <a:r>
              <a:rPr lang="en-US" altLang="en-US" sz="2400" dirty="0"/>
              <a:t>—protect against disease</a:t>
            </a:r>
          </a:p>
          <a:p>
            <a:pPr marL="347472" indent="-347472"/>
            <a:r>
              <a:rPr lang="en-US" altLang="en-US" sz="2400" i="1" dirty="0"/>
              <a:t>Storage proteins</a:t>
            </a:r>
            <a:r>
              <a:rPr lang="en-US" altLang="en-US" sz="2400" dirty="0"/>
              <a:t>—reservoirs of amino acids</a:t>
            </a:r>
          </a:p>
        </p:txBody>
      </p:sp>
    </p:spTree>
    <p:extLst>
      <p:ext uri="{BB962C8B-B14F-4D97-AF65-F5344CB8AC3E}">
        <p14:creationId xmlns:p14="http://schemas.microsoft.com/office/powerpoint/2010/main" val="20971503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84275"/>
            <a:ext cx="8263784" cy="553998"/>
          </a:xfrm>
        </p:spPr>
        <p:txBody>
          <a:bodyPr lIns="0" tIns="0" rIns="0" bIns="0" anchor="ctr">
            <a:spAutoFit/>
          </a:bodyPr>
          <a:lstStyle/>
          <a:p>
            <a:r>
              <a:rPr lang="en-US" sz="3600" dirty="0">
                <a:latin typeface="+mj-lt"/>
              </a:rPr>
              <a:t>The Monomers Are Amino Acids</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75879"/>
            <a:ext cx="8263784" cy="2600712"/>
          </a:xfrm>
        </p:spPr>
        <p:txBody>
          <a:bodyPr lIns="0" tIns="0" rIns="0" bIns="0">
            <a:spAutoFit/>
          </a:bodyPr>
          <a:lstStyle/>
          <a:p>
            <a:pPr marL="342900" indent="-342900"/>
            <a:r>
              <a:rPr lang="en-US" sz="2400" dirty="0"/>
              <a:t>Only 20 kinds of </a:t>
            </a:r>
            <a:r>
              <a:rPr lang="en-US" sz="2400" b="1" dirty="0"/>
              <a:t>amino acids</a:t>
            </a:r>
            <a:r>
              <a:rPr lang="en-US" sz="2400" dirty="0"/>
              <a:t> are used in protein synthesis.</a:t>
            </a:r>
          </a:p>
          <a:p>
            <a:pPr marL="342900" indent="-342900"/>
            <a:r>
              <a:rPr lang="en-US" sz="2400" dirty="0"/>
              <a:t>Some contain additional amino acids, usually the result of modification.</a:t>
            </a:r>
          </a:p>
          <a:p>
            <a:pPr marL="342900" indent="-342900"/>
            <a:r>
              <a:rPr lang="en-US" sz="2400" dirty="0"/>
              <a:t>No two different proteins have the same amino acid sequence.</a:t>
            </a:r>
          </a:p>
        </p:txBody>
      </p:sp>
    </p:spTree>
    <p:extLst>
      <p:ext uri="{BB962C8B-B14F-4D97-AF65-F5344CB8AC3E}">
        <p14:creationId xmlns:p14="http://schemas.microsoft.com/office/powerpoint/2010/main" val="6211687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02608" y="119835"/>
            <a:ext cx="8229600" cy="603495"/>
          </a:xfrm>
        </p:spPr>
        <p:txBody>
          <a:bodyPr lIns="0" tIns="0" rIns="0" bIns="0"/>
          <a:lstStyle/>
          <a:p>
            <a:r>
              <a:rPr lang="en-US" dirty="0"/>
              <a:t>Common Small Molecules in Cells</a:t>
            </a:r>
            <a:endParaRPr lang="en-IN" dirty="0"/>
          </a:p>
        </p:txBody>
      </p:sp>
      <p:sp>
        <p:nvSpPr>
          <p:cNvPr id="7" name="Content Placeholder 6"/>
          <p:cNvSpPr>
            <a:spLocks noGrp="1"/>
          </p:cNvSpPr>
          <p:nvPr>
            <p:ph sz="quarter" idx="13"/>
          </p:nvPr>
        </p:nvSpPr>
        <p:spPr>
          <a:xfrm>
            <a:off x="429904" y="818865"/>
            <a:ext cx="8229600" cy="382137"/>
          </a:xfrm>
        </p:spPr>
        <p:txBody>
          <a:bodyPr lIns="0" tIns="0" rIns="0" bIns="0"/>
          <a:lstStyle/>
          <a:p>
            <a:pPr marL="0" indent="0">
              <a:buNone/>
            </a:pPr>
            <a:r>
              <a:rPr lang="en-US" sz="2400" b="1" dirty="0"/>
              <a:t>Table 3</a:t>
            </a:r>
            <a:r>
              <a:rPr lang="en-US" sz="2400" b="1" dirty="0">
                <a:solidFill>
                  <a:schemeClr val="tx1"/>
                </a:solidFill>
              </a:rPr>
              <a:t>.</a:t>
            </a:r>
            <a:r>
              <a:rPr lang="en-US" sz="2400" b="1" dirty="0"/>
              <a:t>1</a:t>
            </a:r>
            <a:r>
              <a:rPr lang="en-US" sz="2400" dirty="0"/>
              <a:t> Common Small Molecules in Cells</a:t>
            </a:r>
          </a:p>
        </p:txBody>
      </p:sp>
      <p:graphicFrame>
        <p:nvGraphicFramePr>
          <p:cNvPr id="12" name="Table 11"/>
          <p:cNvGraphicFramePr>
            <a:graphicFrameLocks noGrp="1"/>
          </p:cNvGraphicFramePr>
          <p:nvPr>
            <p:extLst>
              <p:ext uri="{D42A27DB-BD31-4B8C-83A1-F6EECF244321}">
                <p14:modId xmlns:p14="http://schemas.microsoft.com/office/powerpoint/2010/main" val="2147105294"/>
              </p:ext>
            </p:extLst>
          </p:nvPr>
        </p:nvGraphicFramePr>
        <p:xfrm>
          <a:off x="454167" y="1335053"/>
          <a:ext cx="8212157" cy="4860907"/>
        </p:xfrm>
        <a:graphic>
          <a:graphicData uri="http://schemas.openxmlformats.org/drawingml/2006/table">
            <a:tbl>
              <a:tblPr firstRow="1" bandRow="1">
                <a:tableStyleId>{40F9630F-82C1-40B7-BC3A-925EFCFF5E92}</a:tableStyleId>
              </a:tblPr>
              <a:tblGrid>
                <a:gridCol w="1174338">
                  <a:extLst>
                    <a:ext uri="{9D8B030D-6E8A-4147-A177-3AD203B41FA5}">
                      <a16:colId xmlns:a16="http://schemas.microsoft.com/office/drawing/2014/main" val="20000"/>
                    </a:ext>
                  </a:extLst>
                </a:gridCol>
                <a:gridCol w="1072508">
                  <a:extLst>
                    <a:ext uri="{9D8B030D-6E8A-4147-A177-3AD203B41FA5}">
                      <a16:colId xmlns:a16="http://schemas.microsoft.com/office/drawing/2014/main" val="20001"/>
                    </a:ext>
                  </a:extLst>
                </a:gridCol>
                <a:gridCol w="2066179">
                  <a:extLst>
                    <a:ext uri="{9D8B030D-6E8A-4147-A177-3AD203B41FA5}">
                      <a16:colId xmlns:a16="http://schemas.microsoft.com/office/drawing/2014/main" val="20002"/>
                    </a:ext>
                  </a:extLst>
                </a:gridCol>
                <a:gridCol w="2376598">
                  <a:extLst>
                    <a:ext uri="{9D8B030D-6E8A-4147-A177-3AD203B41FA5}">
                      <a16:colId xmlns:a16="http://schemas.microsoft.com/office/drawing/2014/main" val="20003"/>
                    </a:ext>
                  </a:extLst>
                </a:gridCol>
                <a:gridCol w="1522534">
                  <a:extLst>
                    <a:ext uri="{9D8B030D-6E8A-4147-A177-3AD203B41FA5}">
                      <a16:colId xmlns:a16="http://schemas.microsoft.com/office/drawing/2014/main" val="20004"/>
                    </a:ext>
                  </a:extLst>
                </a:gridCol>
              </a:tblGrid>
              <a:tr h="505323">
                <a:tc>
                  <a:txBody>
                    <a:bodyPr/>
                    <a:lstStyle/>
                    <a:p>
                      <a:pPr marL="0" marR="0">
                        <a:lnSpc>
                          <a:spcPct val="107000"/>
                        </a:lnSpc>
                        <a:spcBef>
                          <a:spcPts val="0"/>
                        </a:spcBef>
                        <a:spcAft>
                          <a:spcPts val="0"/>
                        </a:spcAft>
                      </a:pPr>
                      <a:r>
                        <a:rPr lang="en-IN" sz="1600" dirty="0">
                          <a:solidFill>
                            <a:schemeClr val="bg1"/>
                          </a:solidFill>
                          <a:effectLst/>
                        </a:rPr>
                        <a:t>Kind of Molecules</a:t>
                      </a:r>
                      <a:endParaRPr lang="en-IN" sz="1600" dirty="0">
                        <a:solidFill>
                          <a:schemeClr val="bg1"/>
                        </a:solidFill>
                        <a:effectLst/>
                        <a:latin typeface="Calibri"/>
                        <a:ea typeface="Calibri"/>
                        <a:cs typeface="Times New Roman"/>
                      </a:endParaRPr>
                    </a:p>
                  </a:txBody>
                  <a:tcPr marL="9058" marR="9058" marT="9058" marB="0" anchor="ct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noFill/>
                      <a:prstDash val="solid"/>
                      <a:round/>
                      <a:headEnd type="none" w="med" len="med"/>
                      <a:tailEnd type="none" w="med" len="med"/>
                    </a:lnT>
                    <a:lnB w="12700" cap="flat" cmpd="sng">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a:lnSpc>
                          <a:spcPct val="107000"/>
                        </a:lnSpc>
                        <a:spcBef>
                          <a:spcPts val="0"/>
                        </a:spcBef>
                        <a:spcAft>
                          <a:spcPts val="0"/>
                        </a:spcAft>
                      </a:pPr>
                      <a:r>
                        <a:rPr lang="en-IN" sz="1600" dirty="0">
                          <a:solidFill>
                            <a:schemeClr val="bg1"/>
                          </a:solidFill>
                          <a:effectLst/>
                        </a:rPr>
                        <a:t>Number Present</a:t>
                      </a:r>
                      <a:endParaRPr lang="en-IN" sz="1600" dirty="0">
                        <a:solidFill>
                          <a:schemeClr val="bg1"/>
                        </a:solidFill>
                        <a:effectLst/>
                        <a:latin typeface="Calibri"/>
                        <a:ea typeface="Calibri"/>
                        <a:cs typeface="Times New Roman"/>
                      </a:endParaRPr>
                    </a:p>
                  </a:txBody>
                  <a:tcPr marL="9058" marR="9058" marT="9058" marB="0" anchor="ct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noFill/>
                      <a:prstDash val="solid"/>
                      <a:round/>
                      <a:headEnd type="none" w="med" len="med"/>
                      <a:tailEnd type="none" w="med" len="med"/>
                    </a:lnT>
                    <a:lnB w="12700" cap="flat" cmpd="sng">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a:lnSpc>
                          <a:spcPct val="107000"/>
                        </a:lnSpc>
                        <a:spcBef>
                          <a:spcPts val="0"/>
                        </a:spcBef>
                        <a:spcAft>
                          <a:spcPts val="0"/>
                        </a:spcAft>
                      </a:pPr>
                      <a:r>
                        <a:rPr lang="en-IN" sz="1600" dirty="0">
                          <a:solidFill>
                            <a:schemeClr val="bg1"/>
                          </a:solidFill>
                          <a:effectLst/>
                        </a:rPr>
                        <a:t>Names of Molecules</a:t>
                      </a:r>
                      <a:endParaRPr lang="en-IN" sz="1600" dirty="0">
                        <a:solidFill>
                          <a:schemeClr val="bg1"/>
                        </a:solidFill>
                        <a:effectLst/>
                        <a:latin typeface="Calibri"/>
                        <a:ea typeface="Calibri"/>
                        <a:cs typeface="Times New Roman"/>
                      </a:endParaRPr>
                    </a:p>
                  </a:txBody>
                  <a:tcPr marL="9058" marR="9058" marT="9058" marB="0" anchor="ct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noFill/>
                      <a:prstDash val="solid"/>
                      <a:round/>
                      <a:headEnd type="none" w="med" len="med"/>
                      <a:tailEnd type="none" w="med" len="med"/>
                    </a:lnT>
                    <a:lnB w="12700" cap="flat" cmpd="sng">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a:lnSpc>
                          <a:spcPct val="107000"/>
                        </a:lnSpc>
                        <a:spcBef>
                          <a:spcPts val="0"/>
                        </a:spcBef>
                        <a:spcAft>
                          <a:spcPts val="0"/>
                        </a:spcAft>
                      </a:pPr>
                      <a:r>
                        <a:rPr lang="en-IN" sz="1600" dirty="0">
                          <a:solidFill>
                            <a:schemeClr val="bg1"/>
                          </a:solidFill>
                          <a:effectLst/>
                        </a:rPr>
                        <a:t>Role in Cell</a:t>
                      </a:r>
                      <a:endParaRPr lang="en-IN" sz="1600" dirty="0">
                        <a:solidFill>
                          <a:schemeClr val="bg1"/>
                        </a:solidFill>
                        <a:effectLst/>
                        <a:latin typeface="Calibri"/>
                        <a:ea typeface="Calibri"/>
                        <a:cs typeface="Times New Roman"/>
                      </a:endParaRPr>
                    </a:p>
                  </a:txBody>
                  <a:tcPr marL="9058" marR="9058" marT="9058" marB="0" anchor="ct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noFill/>
                      <a:prstDash val="solid"/>
                      <a:round/>
                      <a:headEnd type="none" w="med" len="med"/>
                      <a:tailEnd type="none" w="med" len="med"/>
                    </a:lnT>
                    <a:lnB w="12700" cap="flat" cmpd="sng">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a:lnSpc>
                          <a:spcPct val="107000"/>
                        </a:lnSpc>
                        <a:spcBef>
                          <a:spcPts val="0"/>
                        </a:spcBef>
                        <a:spcAft>
                          <a:spcPts val="0"/>
                        </a:spcAft>
                      </a:pPr>
                      <a:r>
                        <a:rPr lang="en-IN" sz="1600" dirty="0">
                          <a:solidFill>
                            <a:schemeClr val="bg1"/>
                          </a:solidFill>
                          <a:effectLst/>
                        </a:rPr>
                        <a:t>Figure Number for Structures</a:t>
                      </a:r>
                      <a:endParaRPr lang="en-IN" sz="1600" dirty="0">
                        <a:solidFill>
                          <a:schemeClr val="bg1"/>
                        </a:solidFill>
                        <a:effectLst/>
                        <a:latin typeface="Calibri"/>
                        <a:ea typeface="Calibri"/>
                        <a:cs typeface="Times New Roman"/>
                      </a:endParaRPr>
                    </a:p>
                  </a:txBody>
                  <a:tcPr marL="9058" marR="9058" marT="9058" marB="0" anchor="ct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noFill/>
                      <a:prstDash val="solid"/>
                      <a:round/>
                      <a:headEnd type="none" w="med" len="med"/>
                      <a:tailEnd type="none" w="med" len="med"/>
                    </a:lnT>
                    <a:lnB w="12700" cap="flat" cmpd="sng">
                      <a:noFill/>
                      <a:prstDash val="solid"/>
                      <a:round/>
                      <a:headEnd type="none" w="med" len="med"/>
                      <a:tailEnd type="none" w="med" len="med"/>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10000"/>
                  </a:ext>
                </a:extLst>
              </a:tr>
              <a:tr h="419693">
                <a:tc>
                  <a:txBody>
                    <a:bodyPr/>
                    <a:lstStyle/>
                    <a:p>
                      <a:pPr marL="0" marR="0">
                        <a:lnSpc>
                          <a:spcPts val="1695"/>
                        </a:lnSpc>
                        <a:spcBef>
                          <a:spcPts val="1500"/>
                        </a:spcBef>
                        <a:spcAft>
                          <a:spcPts val="0"/>
                        </a:spcAft>
                      </a:pPr>
                      <a:r>
                        <a:rPr lang="en-IN" sz="1600" dirty="0">
                          <a:effectLst/>
                        </a:rPr>
                        <a:t>Amino acids</a:t>
                      </a:r>
                      <a:endParaRPr lang="en-IN" sz="1600" dirty="0">
                        <a:effectLst/>
                        <a:latin typeface="Calibri"/>
                        <a:ea typeface="Calibri"/>
                        <a:cs typeface="Times New Roman"/>
                      </a:endParaRPr>
                    </a:p>
                  </a:txBody>
                  <a:tcPr marL="9058" marR="9058" marT="9058" marB="0" anchor="ct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ts val="1695"/>
                        </a:lnSpc>
                        <a:spcBef>
                          <a:spcPts val="1500"/>
                        </a:spcBef>
                        <a:spcAft>
                          <a:spcPts val="0"/>
                        </a:spcAft>
                      </a:pPr>
                      <a:r>
                        <a:rPr lang="en-IN" sz="1600" dirty="0">
                          <a:effectLst/>
                        </a:rPr>
                        <a:t>20</a:t>
                      </a:r>
                      <a:endParaRPr lang="en-IN" sz="1600" dirty="0">
                        <a:effectLst/>
                        <a:latin typeface="Calibri"/>
                        <a:ea typeface="Calibri"/>
                        <a:cs typeface="Times New Roman"/>
                      </a:endParaRPr>
                    </a:p>
                  </a:txBody>
                  <a:tcPr marL="9058" marR="9058" marT="9058" marB="0" anchor="ct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ts val="1695"/>
                        </a:lnSpc>
                        <a:spcBef>
                          <a:spcPts val="1500"/>
                        </a:spcBef>
                        <a:spcAft>
                          <a:spcPts val="0"/>
                        </a:spcAft>
                      </a:pPr>
                      <a:r>
                        <a:rPr lang="en-US" sz="1600" dirty="0">
                          <a:effectLst/>
                        </a:rPr>
                        <a:t>See list in </a:t>
                      </a:r>
                      <a:r>
                        <a:rPr lang="en-US" sz="1600" dirty="0">
                          <a:solidFill>
                            <a:schemeClr val="tx1"/>
                          </a:solidFill>
                          <a:effectLst/>
                        </a:rPr>
                        <a:t>Table 3-2</a:t>
                      </a:r>
                      <a:endParaRPr lang="en-IN" sz="1600" dirty="0">
                        <a:solidFill>
                          <a:schemeClr val="tx1"/>
                        </a:solidFill>
                        <a:effectLst/>
                        <a:latin typeface="Calibri"/>
                        <a:ea typeface="Calibri"/>
                        <a:cs typeface="Times New Roman"/>
                      </a:endParaRPr>
                    </a:p>
                  </a:txBody>
                  <a:tcPr marL="9058" marR="9058" marT="9058" marB="0" anchor="ct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ts val="1695"/>
                        </a:lnSpc>
                        <a:spcBef>
                          <a:spcPts val="1500"/>
                        </a:spcBef>
                        <a:spcAft>
                          <a:spcPts val="0"/>
                        </a:spcAft>
                      </a:pPr>
                      <a:r>
                        <a:rPr lang="en-US" sz="1600">
                          <a:effectLst/>
                        </a:rPr>
                        <a:t>Monomeric units of all proteins</a:t>
                      </a:r>
                      <a:endParaRPr lang="en-IN" sz="1600">
                        <a:effectLst/>
                        <a:latin typeface="Calibri"/>
                        <a:ea typeface="Calibri"/>
                        <a:cs typeface="Times New Roman"/>
                      </a:endParaRPr>
                    </a:p>
                  </a:txBody>
                  <a:tcPr marL="9058" marR="9058" marT="9058" marB="0" anchor="ct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ts val="1695"/>
                        </a:lnSpc>
                        <a:spcBef>
                          <a:spcPts val="1500"/>
                        </a:spcBef>
                        <a:spcAft>
                          <a:spcPts val="0"/>
                        </a:spcAft>
                      </a:pPr>
                      <a:r>
                        <a:rPr lang="en-IN" sz="1600" dirty="0">
                          <a:effectLst/>
                        </a:rPr>
                        <a:t>3-2</a:t>
                      </a:r>
                      <a:endParaRPr lang="en-IN" sz="1600" dirty="0">
                        <a:effectLst/>
                        <a:latin typeface="Calibri"/>
                        <a:ea typeface="Calibri"/>
                        <a:cs typeface="Times New Roman"/>
                      </a:endParaRPr>
                    </a:p>
                  </a:txBody>
                  <a:tcPr marL="9058" marR="9058" marT="9058" marB="0" anchor="ct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1"/>
                  </a:ext>
                </a:extLst>
              </a:tr>
              <a:tr h="419693">
                <a:tc>
                  <a:txBody>
                    <a:bodyPr/>
                    <a:lstStyle/>
                    <a:p>
                      <a:pPr marL="0" marR="0">
                        <a:lnSpc>
                          <a:spcPts val="1695"/>
                        </a:lnSpc>
                        <a:spcBef>
                          <a:spcPts val="1500"/>
                        </a:spcBef>
                        <a:spcAft>
                          <a:spcPts val="0"/>
                        </a:spcAft>
                      </a:pPr>
                      <a:r>
                        <a:rPr lang="en-IN" sz="1600" dirty="0">
                          <a:effectLst/>
                        </a:rPr>
                        <a:t>Aromatic bases</a:t>
                      </a:r>
                      <a:endParaRPr lang="en-IN" sz="1600" dirty="0">
                        <a:effectLst/>
                        <a:latin typeface="Calibri"/>
                        <a:ea typeface="Calibri"/>
                        <a:cs typeface="Times New Roman"/>
                      </a:endParaRPr>
                    </a:p>
                  </a:txBody>
                  <a:tcPr marL="9058" marR="9058" marT="9058"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ts val="1695"/>
                        </a:lnSpc>
                        <a:spcBef>
                          <a:spcPts val="1500"/>
                        </a:spcBef>
                        <a:spcAft>
                          <a:spcPts val="0"/>
                        </a:spcAft>
                      </a:pPr>
                      <a:r>
                        <a:rPr lang="en-IN" sz="1600" dirty="0">
                          <a:effectLst/>
                        </a:rPr>
                        <a:t>5</a:t>
                      </a:r>
                      <a:endParaRPr lang="en-IN" sz="1600" dirty="0">
                        <a:effectLst/>
                        <a:latin typeface="Calibri"/>
                        <a:ea typeface="Calibri"/>
                        <a:cs typeface="Times New Roman"/>
                      </a:endParaRPr>
                    </a:p>
                  </a:txBody>
                  <a:tcPr marL="9058" marR="9058" marT="9058"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ts val="1695"/>
                        </a:lnSpc>
                        <a:spcBef>
                          <a:spcPts val="1500"/>
                        </a:spcBef>
                        <a:spcAft>
                          <a:spcPts val="0"/>
                        </a:spcAft>
                      </a:pPr>
                      <a:r>
                        <a:rPr lang="en-IN" sz="1600" dirty="0">
                          <a:effectLst/>
                        </a:rPr>
                        <a:t>Adenine</a:t>
                      </a:r>
                      <a:endParaRPr lang="en-IN" sz="1600" dirty="0">
                        <a:effectLst/>
                        <a:latin typeface="Calibri"/>
                        <a:ea typeface="Calibri"/>
                        <a:cs typeface="Times New Roman"/>
                      </a:endParaRPr>
                    </a:p>
                  </a:txBody>
                  <a:tcPr marL="9058" marR="9058" marT="9058"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ts val="1695"/>
                        </a:lnSpc>
                        <a:spcBef>
                          <a:spcPts val="1500"/>
                        </a:spcBef>
                        <a:spcAft>
                          <a:spcPts val="0"/>
                        </a:spcAft>
                      </a:pPr>
                      <a:r>
                        <a:rPr lang="en-IN" sz="1600">
                          <a:effectLst/>
                        </a:rPr>
                        <a:t>Components of nucleic acids</a:t>
                      </a:r>
                      <a:endParaRPr lang="en-IN" sz="1600">
                        <a:effectLst/>
                        <a:latin typeface="Calibri"/>
                        <a:ea typeface="Calibri"/>
                        <a:cs typeface="Times New Roman"/>
                      </a:endParaRPr>
                    </a:p>
                  </a:txBody>
                  <a:tcPr marL="9058" marR="9058" marT="9058"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ts val="1695"/>
                        </a:lnSpc>
                        <a:spcBef>
                          <a:spcPts val="1500"/>
                        </a:spcBef>
                        <a:spcAft>
                          <a:spcPts val="0"/>
                        </a:spcAft>
                      </a:pPr>
                      <a:r>
                        <a:rPr lang="en-IN" sz="1600" dirty="0">
                          <a:effectLst/>
                        </a:rPr>
                        <a:t>3-15</a:t>
                      </a:r>
                      <a:endParaRPr lang="en-IN" sz="1600" dirty="0">
                        <a:effectLst/>
                        <a:latin typeface="Calibri"/>
                        <a:ea typeface="Calibri"/>
                        <a:cs typeface="Times New Roman"/>
                      </a:endParaRPr>
                    </a:p>
                  </a:txBody>
                  <a:tcPr marL="9058" marR="9058" marT="9058"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2"/>
                  </a:ext>
                </a:extLst>
              </a:tr>
              <a:tr h="214376">
                <a:tc>
                  <a:txBody>
                    <a:bodyPr/>
                    <a:lstStyle/>
                    <a:p>
                      <a:pPr>
                        <a:lnSpc>
                          <a:spcPct val="107000"/>
                        </a:lnSpc>
                      </a:pPr>
                      <a:endParaRPr lang="en-IN" sz="1600">
                        <a:effectLst/>
                        <a:latin typeface="Calibri"/>
                        <a:cs typeface="Times New Roman"/>
                      </a:endParaRPr>
                    </a:p>
                  </a:txBody>
                  <a:tcPr marL="9058" marR="9058" marT="9058"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nSpc>
                          <a:spcPct val="107000"/>
                        </a:lnSpc>
                      </a:pPr>
                      <a:endParaRPr lang="en-IN" sz="1600">
                        <a:effectLst/>
                        <a:latin typeface="Calibri"/>
                        <a:cs typeface="Times New Roman"/>
                      </a:endParaRPr>
                    </a:p>
                  </a:txBody>
                  <a:tcPr marL="9058" marR="9058" marT="9058"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ts val="1695"/>
                        </a:lnSpc>
                        <a:spcBef>
                          <a:spcPts val="1500"/>
                        </a:spcBef>
                        <a:spcAft>
                          <a:spcPts val="0"/>
                        </a:spcAft>
                      </a:pPr>
                      <a:r>
                        <a:rPr lang="en-IN" sz="1600" dirty="0">
                          <a:effectLst/>
                        </a:rPr>
                        <a:t>Cytosine</a:t>
                      </a:r>
                      <a:endParaRPr lang="en-IN" sz="1600" dirty="0">
                        <a:effectLst/>
                        <a:latin typeface="Calibri"/>
                        <a:ea typeface="Calibri"/>
                        <a:cs typeface="Times New Roman"/>
                      </a:endParaRPr>
                    </a:p>
                  </a:txBody>
                  <a:tcPr marL="9058" marR="9058" marT="9058"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nSpc>
                          <a:spcPct val="107000"/>
                        </a:lnSpc>
                      </a:pPr>
                      <a:endParaRPr lang="en-IN" sz="1600">
                        <a:effectLst/>
                        <a:latin typeface="Calibri"/>
                        <a:cs typeface="Times New Roman"/>
                      </a:endParaRPr>
                    </a:p>
                  </a:txBody>
                  <a:tcPr marL="9058" marR="9058" marT="9058"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ts val="1695"/>
                        </a:lnSpc>
                        <a:spcBef>
                          <a:spcPts val="1500"/>
                        </a:spcBef>
                        <a:spcAft>
                          <a:spcPts val="0"/>
                        </a:spcAft>
                      </a:pPr>
                      <a:r>
                        <a:rPr lang="en-IN" sz="1600">
                          <a:effectLst/>
                        </a:rPr>
                        <a:t>3-15</a:t>
                      </a:r>
                      <a:endParaRPr lang="en-IN" sz="1600">
                        <a:effectLst/>
                        <a:latin typeface="Calibri"/>
                        <a:ea typeface="Calibri"/>
                        <a:cs typeface="Times New Roman"/>
                      </a:endParaRPr>
                    </a:p>
                  </a:txBody>
                  <a:tcPr marL="9058" marR="9058" marT="9058"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3"/>
                  </a:ext>
                </a:extLst>
              </a:tr>
              <a:tr h="214376">
                <a:tc>
                  <a:txBody>
                    <a:bodyPr/>
                    <a:lstStyle/>
                    <a:p>
                      <a:pPr>
                        <a:lnSpc>
                          <a:spcPct val="107000"/>
                        </a:lnSpc>
                      </a:pPr>
                      <a:endParaRPr lang="en-IN" sz="1600">
                        <a:effectLst/>
                        <a:latin typeface="Calibri"/>
                        <a:cs typeface="Times New Roman"/>
                      </a:endParaRPr>
                    </a:p>
                  </a:txBody>
                  <a:tcPr marL="9058" marR="9058" marT="9058"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nSpc>
                          <a:spcPct val="107000"/>
                        </a:lnSpc>
                      </a:pPr>
                      <a:endParaRPr lang="en-IN" sz="1600">
                        <a:effectLst/>
                        <a:latin typeface="Calibri"/>
                        <a:cs typeface="Times New Roman"/>
                      </a:endParaRPr>
                    </a:p>
                  </a:txBody>
                  <a:tcPr marL="9058" marR="9058" marT="9058"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ts val="1695"/>
                        </a:lnSpc>
                        <a:spcBef>
                          <a:spcPts val="1500"/>
                        </a:spcBef>
                        <a:spcAft>
                          <a:spcPts val="0"/>
                        </a:spcAft>
                      </a:pPr>
                      <a:r>
                        <a:rPr lang="en-IN" sz="1600" dirty="0">
                          <a:effectLst/>
                        </a:rPr>
                        <a:t>Guanine</a:t>
                      </a:r>
                      <a:endParaRPr lang="en-IN" sz="1600" dirty="0">
                        <a:effectLst/>
                        <a:latin typeface="Calibri"/>
                        <a:ea typeface="Calibri"/>
                        <a:cs typeface="Times New Roman"/>
                      </a:endParaRPr>
                    </a:p>
                  </a:txBody>
                  <a:tcPr marL="9058" marR="9058" marT="9058"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nSpc>
                          <a:spcPct val="107000"/>
                        </a:lnSpc>
                      </a:pPr>
                      <a:endParaRPr lang="en-IN" sz="1600" dirty="0">
                        <a:effectLst/>
                        <a:latin typeface="Calibri"/>
                        <a:cs typeface="Times New Roman"/>
                      </a:endParaRPr>
                    </a:p>
                  </a:txBody>
                  <a:tcPr marL="9058" marR="9058" marT="9058"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ts val="1695"/>
                        </a:lnSpc>
                        <a:spcBef>
                          <a:spcPts val="1500"/>
                        </a:spcBef>
                        <a:spcAft>
                          <a:spcPts val="0"/>
                        </a:spcAft>
                      </a:pPr>
                      <a:r>
                        <a:rPr lang="en-IN" sz="1600" dirty="0">
                          <a:effectLst/>
                        </a:rPr>
                        <a:t>3-15</a:t>
                      </a:r>
                      <a:endParaRPr lang="en-IN" sz="1600" dirty="0">
                        <a:effectLst/>
                        <a:latin typeface="Calibri"/>
                        <a:ea typeface="Calibri"/>
                        <a:cs typeface="Times New Roman"/>
                      </a:endParaRPr>
                    </a:p>
                  </a:txBody>
                  <a:tcPr marL="9058" marR="9058" marT="9058"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4"/>
                  </a:ext>
                </a:extLst>
              </a:tr>
              <a:tr h="214376">
                <a:tc>
                  <a:txBody>
                    <a:bodyPr/>
                    <a:lstStyle/>
                    <a:p>
                      <a:pPr>
                        <a:lnSpc>
                          <a:spcPct val="107000"/>
                        </a:lnSpc>
                      </a:pPr>
                      <a:endParaRPr lang="en-IN" sz="1600">
                        <a:effectLst/>
                        <a:latin typeface="Calibri"/>
                        <a:cs typeface="Times New Roman"/>
                      </a:endParaRPr>
                    </a:p>
                  </a:txBody>
                  <a:tcPr marL="9058" marR="9058" marT="9058"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nSpc>
                          <a:spcPct val="107000"/>
                        </a:lnSpc>
                      </a:pPr>
                      <a:endParaRPr lang="en-IN" sz="1600">
                        <a:effectLst/>
                        <a:latin typeface="Calibri"/>
                        <a:cs typeface="Times New Roman"/>
                      </a:endParaRPr>
                    </a:p>
                  </a:txBody>
                  <a:tcPr marL="9058" marR="9058" marT="9058"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ts val="1695"/>
                        </a:lnSpc>
                        <a:spcBef>
                          <a:spcPts val="1500"/>
                        </a:spcBef>
                        <a:spcAft>
                          <a:spcPts val="0"/>
                        </a:spcAft>
                      </a:pPr>
                      <a:r>
                        <a:rPr lang="en-IN" sz="1600" dirty="0">
                          <a:effectLst/>
                        </a:rPr>
                        <a:t>Thymine</a:t>
                      </a:r>
                      <a:endParaRPr lang="en-IN" sz="1600" dirty="0">
                        <a:effectLst/>
                        <a:latin typeface="Calibri"/>
                        <a:ea typeface="Calibri"/>
                        <a:cs typeface="Times New Roman"/>
                      </a:endParaRPr>
                    </a:p>
                  </a:txBody>
                  <a:tcPr marL="9058" marR="9058" marT="9058"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nSpc>
                          <a:spcPct val="107000"/>
                        </a:lnSpc>
                      </a:pPr>
                      <a:endParaRPr lang="en-IN" sz="1600" dirty="0">
                        <a:effectLst/>
                        <a:latin typeface="Calibri"/>
                        <a:cs typeface="Times New Roman"/>
                      </a:endParaRPr>
                    </a:p>
                  </a:txBody>
                  <a:tcPr marL="9058" marR="9058" marT="9058"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ts val="1695"/>
                        </a:lnSpc>
                        <a:spcBef>
                          <a:spcPts val="1500"/>
                        </a:spcBef>
                        <a:spcAft>
                          <a:spcPts val="0"/>
                        </a:spcAft>
                      </a:pPr>
                      <a:r>
                        <a:rPr lang="en-IN" sz="1600">
                          <a:effectLst/>
                        </a:rPr>
                        <a:t>3-15</a:t>
                      </a:r>
                      <a:endParaRPr lang="en-IN" sz="1600">
                        <a:effectLst/>
                        <a:latin typeface="Calibri"/>
                        <a:ea typeface="Calibri"/>
                        <a:cs typeface="Times New Roman"/>
                      </a:endParaRPr>
                    </a:p>
                  </a:txBody>
                  <a:tcPr marL="9058" marR="9058" marT="9058"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5"/>
                  </a:ext>
                </a:extLst>
              </a:tr>
              <a:tr h="214376">
                <a:tc>
                  <a:txBody>
                    <a:bodyPr/>
                    <a:lstStyle/>
                    <a:p>
                      <a:pPr>
                        <a:lnSpc>
                          <a:spcPct val="107000"/>
                        </a:lnSpc>
                      </a:pPr>
                      <a:endParaRPr lang="en-IN" sz="1600">
                        <a:effectLst/>
                        <a:latin typeface="Calibri"/>
                        <a:cs typeface="Times New Roman"/>
                      </a:endParaRPr>
                    </a:p>
                  </a:txBody>
                  <a:tcPr marL="9058" marR="9058" marT="9058"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nSpc>
                          <a:spcPct val="107000"/>
                        </a:lnSpc>
                      </a:pPr>
                      <a:endParaRPr lang="en-IN" sz="1600" dirty="0">
                        <a:effectLst/>
                        <a:latin typeface="Calibri"/>
                        <a:cs typeface="Times New Roman"/>
                      </a:endParaRPr>
                    </a:p>
                  </a:txBody>
                  <a:tcPr marL="9058" marR="9058" marT="9058"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ts val="1695"/>
                        </a:lnSpc>
                        <a:spcBef>
                          <a:spcPts val="1500"/>
                        </a:spcBef>
                        <a:spcAft>
                          <a:spcPts val="0"/>
                        </a:spcAft>
                      </a:pPr>
                      <a:r>
                        <a:rPr lang="en-IN" sz="1600" dirty="0">
                          <a:effectLst/>
                        </a:rPr>
                        <a:t>Uracil</a:t>
                      </a:r>
                      <a:endParaRPr lang="en-IN" sz="1600" dirty="0">
                        <a:effectLst/>
                        <a:latin typeface="Calibri"/>
                        <a:ea typeface="Calibri"/>
                        <a:cs typeface="Times New Roman"/>
                      </a:endParaRPr>
                    </a:p>
                  </a:txBody>
                  <a:tcPr marL="9058" marR="9058" marT="9058"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nSpc>
                          <a:spcPct val="107000"/>
                        </a:lnSpc>
                      </a:pPr>
                      <a:endParaRPr lang="en-IN" sz="1600" dirty="0">
                        <a:effectLst/>
                        <a:latin typeface="Calibri"/>
                        <a:cs typeface="Times New Roman"/>
                      </a:endParaRPr>
                    </a:p>
                  </a:txBody>
                  <a:tcPr marL="9058" marR="9058" marT="9058"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ts val="1695"/>
                        </a:lnSpc>
                        <a:spcBef>
                          <a:spcPts val="1500"/>
                        </a:spcBef>
                        <a:spcAft>
                          <a:spcPts val="0"/>
                        </a:spcAft>
                      </a:pPr>
                      <a:r>
                        <a:rPr lang="en-IN" sz="1600">
                          <a:effectLst/>
                        </a:rPr>
                        <a:t>3-15</a:t>
                      </a:r>
                      <a:endParaRPr lang="en-IN" sz="1600">
                        <a:effectLst/>
                        <a:latin typeface="Calibri"/>
                        <a:ea typeface="Calibri"/>
                        <a:cs typeface="Times New Roman"/>
                      </a:endParaRPr>
                    </a:p>
                  </a:txBody>
                  <a:tcPr marL="9058" marR="9058" marT="9058"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6"/>
                  </a:ext>
                </a:extLst>
              </a:tr>
              <a:tr h="214376">
                <a:tc>
                  <a:txBody>
                    <a:bodyPr/>
                    <a:lstStyle/>
                    <a:p>
                      <a:pPr marL="0" marR="0">
                        <a:lnSpc>
                          <a:spcPts val="1695"/>
                        </a:lnSpc>
                        <a:spcBef>
                          <a:spcPts val="1500"/>
                        </a:spcBef>
                        <a:spcAft>
                          <a:spcPts val="0"/>
                        </a:spcAft>
                      </a:pPr>
                      <a:r>
                        <a:rPr lang="en-IN" sz="1600">
                          <a:effectLst/>
                        </a:rPr>
                        <a:t>Sugars</a:t>
                      </a:r>
                      <a:endParaRPr lang="en-IN" sz="1600">
                        <a:effectLst/>
                        <a:latin typeface="Calibri"/>
                        <a:ea typeface="Calibri"/>
                        <a:cs typeface="Times New Roman"/>
                      </a:endParaRPr>
                    </a:p>
                  </a:txBody>
                  <a:tcPr marL="9058" marR="9058" marT="9058"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ts val="1695"/>
                        </a:lnSpc>
                        <a:spcBef>
                          <a:spcPts val="1500"/>
                        </a:spcBef>
                        <a:spcAft>
                          <a:spcPts val="0"/>
                        </a:spcAft>
                      </a:pPr>
                      <a:r>
                        <a:rPr lang="en-IN" sz="1600" dirty="0">
                          <a:effectLst/>
                        </a:rPr>
                        <a:t>Varies</a:t>
                      </a:r>
                      <a:endParaRPr lang="en-IN" sz="1600" dirty="0">
                        <a:effectLst/>
                        <a:latin typeface="Calibri"/>
                        <a:ea typeface="Calibri"/>
                        <a:cs typeface="Times New Roman"/>
                      </a:endParaRPr>
                    </a:p>
                  </a:txBody>
                  <a:tcPr marL="9058" marR="9058" marT="9058"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ts val="1695"/>
                        </a:lnSpc>
                        <a:spcBef>
                          <a:spcPts val="1500"/>
                        </a:spcBef>
                        <a:spcAft>
                          <a:spcPts val="0"/>
                        </a:spcAft>
                      </a:pPr>
                      <a:r>
                        <a:rPr lang="en-IN" sz="1600" dirty="0">
                          <a:effectLst/>
                        </a:rPr>
                        <a:t>Ribose</a:t>
                      </a:r>
                      <a:endParaRPr lang="en-IN" sz="1600" dirty="0">
                        <a:effectLst/>
                        <a:latin typeface="Calibri"/>
                        <a:ea typeface="Calibri"/>
                        <a:cs typeface="Times New Roman"/>
                      </a:endParaRPr>
                    </a:p>
                  </a:txBody>
                  <a:tcPr marL="9058" marR="9058" marT="9058"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ts val="1695"/>
                        </a:lnSpc>
                        <a:spcBef>
                          <a:spcPts val="1500"/>
                        </a:spcBef>
                        <a:spcAft>
                          <a:spcPts val="0"/>
                        </a:spcAft>
                      </a:pPr>
                      <a:r>
                        <a:rPr lang="en-IN" sz="1600" dirty="0">
                          <a:effectLst/>
                        </a:rPr>
                        <a:t>Component of </a:t>
                      </a:r>
                      <a:r>
                        <a:rPr lang="en-IN" sz="1600" spc="-200" dirty="0">
                          <a:effectLst/>
                        </a:rPr>
                        <a:t>R N </a:t>
                      </a:r>
                      <a:r>
                        <a:rPr lang="en-IN" sz="1600" dirty="0">
                          <a:effectLst/>
                        </a:rPr>
                        <a:t>A</a:t>
                      </a:r>
                      <a:endParaRPr lang="en-IN" sz="1600" dirty="0">
                        <a:effectLst/>
                        <a:latin typeface="Calibri"/>
                        <a:ea typeface="Calibri"/>
                        <a:cs typeface="Times New Roman"/>
                      </a:endParaRPr>
                    </a:p>
                  </a:txBody>
                  <a:tcPr marL="9058" marR="9058" marT="9058"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ts val="1695"/>
                        </a:lnSpc>
                        <a:spcBef>
                          <a:spcPts val="1500"/>
                        </a:spcBef>
                        <a:spcAft>
                          <a:spcPts val="0"/>
                        </a:spcAft>
                      </a:pPr>
                      <a:r>
                        <a:rPr lang="en-IN" sz="1600">
                          <a:effectLst/>
                        </a:rPr>
                        <a:t>3-15</a:t>
                      </a:r>
                      <a:endParaRPr lang="en-IN" sz="1600">
                        <a:effectLst/>
                        <a:latin typeface="Calibri"/>
                        <a:ea typeface="Calibri"/>
                        <a:cs typeface="Times New Roman"/>
                      </a:endParaRPr>
                    </a:p>
                  </a:txBody>
                  <a:tcPr marL="9058" marR="9058" marT="9058"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7"/>
                  </a:ext>
                </a:extLst>
              </a:tr>
              <a:tr h="214376">
                <a:tc>
                  <a:txBody>
                    <a:bodyPr/>
                    <a:lstStyle/>
                    <a:p>
                      <a:pPr>
                        <a:lnSpc>
                          <a:spcPct val="107000"/>
                        </a:lnSpc>
                      </a:pPr>
                      <a:endParaRPr lang="en-IN" sz="1600">
                        <a:effectLst/>
                        <a:latin typeface="Calibri"/>
                        <a:cs typeface="Times New Roman"/>
                      </a:endParaRPr>
                    </a:p>
                  </a:txBody>
                  <a:tcPr marL="9058" marR="9058" marT="9058"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nSpc>
                          <a:spcPct val="107000"/>
                        </a:lnSpc>
                      </a:pPr>
                      <a:endParaRPr lang="en-IN" sz="1600">
                        <a:effectLst/>
                        <a:latin typeface="Calibri"/>
                        <a:cs typeface="Times New Roman"/>
                      </a:endParaRPr>
                    </a:p>
                  </a:txBody>
                  <a:tcPr marL="9058" marR="9058" marT="9058"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ts val="1695"/>
                        </a:lnSpc>
                        <a:spcBef>
                          <a:spcPts val="1500"/>
                        </a:spcBef>
                        <a:spcAft>
                          <a:spcPts val="0"/>
                        </a:spcAft>
                      </a:pPr>
                      <a:r>
                        <a:rPr lang="en-IN" sz="1600">
                          <a:effectLst/>
                        </a:rPr>
                        <a:t>Deoxyribose</a:t>
                      </a:r>
                      <a:endParaRPr lang="en-IN" sz="1600">
                        <a:effectLst/>
                        <a:latin typeface="Calibri"/>
                        <a:ea typeface="Calibri"/>
                        <a:cs typeface="Times New Roman"/>
                      </a:endParaRPr>
                    </a:p>
                  </a:txBody>
                  <a:tcPr marL="9058" marR="9058" marT="9058"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ts val="1695"/>
                        </a:lnSpc>
                        <a:spcBef>
                          <a:spcPts val="1500"/>
                        </a:spcBef>
                        <a:spcAft>
                          <a:spcPts val="0"/>
                        </a:spcAft>
                      </a:pPr>
                      <a:r>
                        <a:rPr lang="en-IN" sz="1600" dirty="0">
                          <a:effectLst/>
                        </a:rPr>
                        <a:t>Component of </a:t>
                      </a:r>
                      <a:r>
                        <a:rPr lang="en-IN" sz="1600" spc="-200" dirty="0">
                          <a:effectLst/>
                        </a:rPr>
                        <a:t>D N </a:t>
                      </a:r>
                      <a:r>
                        <a:rPr lang="en-IN" sz="1600" dirty="0">
                          <a:effectLst/>
                        </a:rPr>
                        <a:t>A</a:t>
                      </a:r>
                      <a:endParaRPr lang="en-IN" sz="1600" dirty="0">
                        <a:effectLst/>
                        <a:latin typeface="Calibri"/>
                        <a:ea typeface="Calibri"/>
                        <a:cs typeface="Times New Roman"/>
                      </a:endParaRPr>
                    </a:p>
                  </a:txBody>
                  <a:tcPr marL="9058" marR="9058" marT="9058"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ts val="1695"/>
                        </a:lnSpc>
                        <a:spcBef>
                          <a:spcPts val="1500"/>
                        </a:spcBef>
                        <a:spcAft>
                          <a:spcPts val="0"/>
                        </a:spcAft>
                      </a:pPr>
                      <a:r>
                        <a:rPr lang="en-IN" sz="1600">
                          <a:effectLst/>
                        </a:rPr>
                        <a:t>3-15</a:t>
                      </a:r>
                      <a:endParaRPr lang="en-IN" sz="1600">
                        <a:effectLst/>
                        <a:latin typeface="Calibri"/>
                        <a:ea typeface="Calibri"/>
                        <a:cs typeface="Times New Roman"/>
                      </a:endParaRPr>
                    </a:p>
                  </a:txBody>
                  <a:tcPr marL="9058" marR="9058" marT="9058"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8"/>
                  </a:ext>
                </a:extLst>
              </a:tr>
              <a:tr h="625011">
                <a:tc>
                  <a:txBody>
                    <a:bodyPr/>
                    <a:lstStyle/>
                    <a:p>
                      <a:pPr>
                        <a:lnSpc>
                          <a:spcPct val="107000"/>
                        </a:lnSpc>
                      </a:pPr>
                      <a:endParaRPr lang="en-IN" sz="1600">
                        <a:effectLst/>
                        <a:latin typeface="Calibri"/>
                        <a:cs typeface="Times New Roman"/>
                      </a:endParaRPr>
                    </a:p>
                  </a:txBody>
                  <a:tcPr marL="9058" marR="9058" marT="9058"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nSpc>
                          <a:spcPct val="107000"/>
                        </a:lnSpc>
                      </a:pPr>
                      <a:endParaRPr lang="en-IN" sz="1600" dirty="0">
                        <a:effectLst/>
                        <a:latin typeface="Calibri"/>
                        <a:cs typeface="Times New Roman"/>
                      </a:endParaRPr>
                    </a:p>
                  </a:txBody>
                  <a:tcPr marL="9058" marR="9058" marT="9058"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ts val="1695"/>
                        </a:lnSpc>
                        <a:spcBef>
                          <a:spcPts val="1500"/>
                        </a:spcBef>
                        <a:spcAft>
                          <a:spcPts val="0"/>
                        </a:spcAft>
                      </a:pPr>
                      <a:r>
                        <a:rPr lang="en-IN" sz="1600" dirty="0">
                          <a:effectLst/>
                        </a:rPr>
                        <a:t>Glucose</a:t>
                      </a:r>
                      <a:endParaRPr lang="en-IN" sz="1600" dirty="0">
                        <a:effectLst/>
                        <a:latin typeface="Calibri"/>
                        <a:ea typeface="Calibri"/>
                        <a:cs typeface="Times New Roman"/>
                      </a:endParaRPr>
                    </a:p>
                  </a:txBody>
                  <a:tcPr marL="9058" marR="9058" marT="9058"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ts val="1695"/>
                        </a:lnSpc>
                        <a:spcBef>
                          <a:spcPts val="1500"/>
                        </a:spcBef>
                        <a:spcAft>
                          <a:spcPts val="0"/>
                        </a:spcAft>
                      </a:pPr>
                      <a:r>
                        <a:rPr lang="en-US" sz="1600" dirty="0">
                          <a:effectLst/>
                        </a:rPr>
                        <a:t>Energy metabolism; component of starch and glycogen</a:t>
                      </a:r>
                      <a:endParaRPr lang="en-IN" sz="1600" dirty="0">
                        <a:effectLst/>
                        <a:latin typeface="Calibri"/>
                        <a:ea typeface="Calibri"/>
                        <a:cs typeface="Times New Roman"/>
                      </a:endParaRPr>
                    </a:p>
                  </a:txBody>
                  <a:tcPr marL="9058" marR="9058" marT="9058"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ts val="1695"/>
                        </a:lnSpc>
                        <a:spcBef>
                          <a:spcPts val="1500"/>
                        </a:spcBef>
                        <a:spcAft>
                          <a:spcPts val="0"/>
                        </a:spcAft>
                      </a:pPr>
                      <a:r>
                        <a:rPr lang="en-IN" sz="1600">
                          <a:effectLst/>
                        </a:rPr>
                        <a:t>3-21</a:t>
                      </a:r>
                      <a:endParaRPr lang="en-IN" sz="1600">
                        <a:effectLst/>
                        <a:latin typeface="Calibri"/>
                        <a:ea typeface="Calibri"/>
                        <a:cs typeface="Times New Roman"/>
                      </a:endParaRPr>
                    </a:p>
                  </a:txBody>
                  <a:tcPr marL="9058" marR="9058" marT="9058"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9"/>
                  </a:ext>
                </a:extLst>
              </a:tr>
              <a:tr h="1029628">
                <a:tc>
                  <a:txBody>
                    <a:bodyPr/>
                    <a:lstStyle/>
                    <a:p>
                      <a:pPr marL="0" marR="0">
                        <a:lnSpc>
                          <a:spcPts val="1695"/>
                        </a:lnSpc>
                        <a:spcBef>
                          <a:spcPts val="1500"/>
                        </a:spcBef>
                        <a:spcAft>
                          <a:spcPts val="0"/>
                        </a:spcAft>
                      </a:pPr>
                      <a:r>
                        <a:rPr lang="en-IN" sz="1600" dirty="0">
                          <a:effectLst/>
                        </a:rPr>
                        <a:t>Lipids</a:t>
                      </a:r>
                      <a:endParaRPr lang="en-IN" sz="1600" dirty="0">
                        <a:effectLst/>
                        <a:latin typeface="Calibri"/>
                        <a:ea typeface="Calibri"/>
                        <a:cs typeface="Times New Roman"/>
                      </a:endParaRPr>
                    </a:p>
                  </a:txBody>
                  <a:tcPr marL="9058" marR="9058" marT="9058"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ts val="1695"/>
                        </a:lnSpc>
                        <a:spcBef>
                          <a:spcPts val="1500"/>
                        </a:spcBef>
                        <a:spcAft>
                          <a:spcPts val="0"/>
                        </a:spcAft>
                      </a:pPr>
                      <a:r>
                        <a:rPr lang="en-IN" sz="1600" dirty="0">
                          <a:effectLst/>
                        </a:rPr>
                        <a:t>Varies</a:t>
                      </a:r>
                      <a:endParaRPr lang="en-IN" sz="1600" dirty="0">
                        <a:effectLst/>
                        <a:latin typeface="Calibri"/>
                        <a:ea typeface="Calibri"/>
                        <a:cs typeface="Times New Roman"/>
                      </a:endParaRPr>
                    </a:p>
                  </a:txBody>
                  <a:tcPr marL="9058" marR="9058" marT="9058"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ts val="1695"/>
                        </a:lnSpc>
                        <a:spcBef>
                          <a:spcPts val="1500"/>
                        </a:spcBef>
                        <a:spcAft>
                          <a:spcPts val="0"/>
                        </a:spcAft>
                      </a:pPr>
                      <a:r>
                        <a:rPr lang="en-IN" sz="1600" dirty="0">
                          <a:effectLst/>
                        </a:rPr>
                        <a:t>Fatty acids</a:t>
                      </a:r>
                      <a:endParaRPr lang="en-IN" sz="1600" dirty="0">
                        <a:effectLst/>
                        <a:latin typeface="Calibri"/>
                        <a:ea typeface="Calibri"/>
                        <a:cs typeface="Times New Roman"/>
                      </a:endParaRPr>
                    </a:p>
                  </a:txBody>
                  <a:tcPr marL="9058" marR="9058" marT="9058"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0"/>
                        </a:spcAft>
                      </a:pPr>
                      <a:r>
                        <a:rPr lang="en-US" sz="1600" dirty="0">
                          <a:effectLst/>
                        </a:rPr>
                        <a:t>Energy metabolism; </a:t>
                      </a:r>
                      <a:r>
                        <a:rPr lang="en-IN" sz="1600" dirty="0">
                          <a:effectLst/>
                        </a:rPr>
                        <a:t>Components of phospholipids</a:t>
                      </a:r>
                    </a:p>
                    <a:p>
                      <a:pPr marL="0" marR="0">
                        <a:lnSpc>
                          <a:spcPts val="1695"/>
                        </a:lnSpc>
                        <a:spcBef>
                          <a:spcPts val="0"/>
                        </a:spcBef>
                        <a:spcAft>
                          <a:spcPts val="0"/>
                        </a:spcAft>
                      </a:pPr>
                      <a:r>
                        <a:rPr lang="en-IN" sz="1600" dirty="0">
                          <a:effectLst/>
                        </a:rPr>
                        <a:t>and membranes</a:t>
                      </a:r>
                      <a:endParaRPr lang="en-IN" sz="1600" dirty="0">
                        <a:effectLst/>
                        <a:latin typeface="Calibri"/>
                        <a:ea typeface="Calibri"/>
                        <a:cs typeface="Times New Roman"/>
                      </a:endParaRPr>
                    </a:p>
                  </a:txBody>
                  <a:tcPr marL="9058" marR="9058" marT="9058"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ts val="1695"/>
                        </a:lnSpc>
                        <a:spcBef>
                          <a:spcPts val="1500"/>
                        </a:spcBef>
                        <a:spcAft>
                          <a:spcPts val="0"/>
                        </a:spcAft>
                      </a:pPr>
                      <a:r>
                        <a:rPr lang="en-IN" sz="1600" dirty="0">
                          <a:effectLst/>
                        </a:rPr>
                        <a:t>3-27a</a:t>
                      </a:r>
                      <a:endParaRPr lang="en-IN" sz="1600" dirty="0">
                        <a:effectLst/>
                        <a:latin typeface="Calibri"/>
                        <a:ea typeface="Calibri"/>
                        <a:cs typeface="Times New Roman"/>
                      </a:endParaRPr>
                    </a:p>
                  </a:txBody>
                  <a:tcPr marL="9058" marR="9058" marT="9058"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10"/>
                  </a:ext>
                </a:extLst>
              </a:tr>
              <a:tr h="214376">
                <a:tc>
                  <a:txBody>
                    <a:bodyPr/>
                    <a:lstStyle/>
                    <a:p>
                      <a:pPr>
                        <a:lnSpc>
                          <a:spcPct val="107000"/>
                        </a:lnSpc>
                      </a:pPr>
                      <a:endParaRPr lang="en-IN" sz="1600">
                        <a:effectLst/>
                        <a:latin typeface="Calibri"/>
                        <a:cs typeface="Times New Roman"/>
                      </a:endParaRPr>
                    </a:p>
                  </a:txBody>
                  <a:tcPr marL="9058" marR="9058" marT="9058"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12700"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nSpc>
                          <a:spcPct val="107000"/>
                        </a:lnSpc>
                      </a:pPr>
                      <a:endParaRPr lang="en-IN" sz="1600" dirty="0">
                        <a:effectLst/>
                        <a:latin typeface="Calibri"/>
                        <a:cs typeface="Times New Roman"/>
                      </a:endParaRPr>
                    </a:p>
                  </a:txBody>
                  <a:tcPr marL="9058" marR="9058" marT="9058"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12700"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ts val="1695"/>
                        </a:lnSpc>
                        <a:spcBef>
                          <a:spcPts val="1500"/>
                        </a:spcBef>
                        <a:spcAft>
                          <a:spcPts val="0"/>
                        </a:spcAft>
                      </a:pPr>
                      <a:r>
                        <a:rPr lang="en-IN" sz="1600" dirty="0">
                          <a:effectLst/>
                        </a:rPr>
                        <a:t>Cholesterol</a:t>
                      </a:r>
                      <a:endParaRPr lang="en-IN" sz="1600" dirty="0">
                        <a:effectLst/>
                        <a:latin typeface="Calibri"/>
                        <a:ea typeface="Calibri"/>
                        <a:cs typeface="Times New Roman"/>
                      </a:endParaRPr>
                    </a:p>
                  </a:txBody>
                  <a:tcPr marL="9058" marR="9058" marT="9058"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12700"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nSpc>
                          <a:spcPct val="107000"/>
                        </a:lnSpc>
                      </a:pPr>
                      <a:endParaRPr lang="en-IN" sz="1600">
                        <a:effectLst/>
                        <a:latin typeface="Calibri"/>
                        <a:cs typeface="Times New Roman"/>
                      </a:endParaRPr>
                    </a:p>
                  </a:txBody>
                  <a:tcPr marL="9058" marR="9058" marT="9058"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12700"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ts val="1695"/>
                        </a:lnSpc>
                        <a:spcBef>
                          <a:spcPts val="1500"/>
                        </a:spcBef>
                        <a:spcAft>
                          <a:spcPts val="0"/>
                        </a:spcAft>
                      </a:pPr>
                      <a:r>
                        <a:rPr lang="en-IN" sz="1600" dirty="0">
                          <a:effectLst/>
                        </a:rPr>
                        <a:t>3-27e</a:t>
                      </a:r>
                      <a:endParaRPr lang="en-IN" sz="1600" dirty="0">
                        <a:effectLst/>
                        <a:latin typeface="Calibri"/>
                        <a:ea typeface="Calibri"/>
                        <a:cs typeface="Times New Roman"/>
                      </a:endParaRPr>
                    </a:p>
                  </a:txBody>
                  <a:tcPr marL="9058" marR="9058" marT="9058"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12700"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11537526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84275"/>
            <a:ext cx="8263784" cy="553998"/>
          </a:xfrm>
        </p:spPr>
        <p:txBody>
          <a:bodyPr lIns="0" tIns="0" rIns="0" bIns="0" anchor="ctr">
            <a:spAutoFit/>
          </a:bodyPr>
          <a:lstStyle/>
          <a:p>
            <a:r>
              <a:rPr lang="en-IN" sz="3600" dirty="0">
                <a:latin typeface="+mj-lt"/>
              </a:rPr>
              <a:t>Amino Acids</a:t>
            </a:r>
            <a:endParaRPr lang="en-US" sz="3600" dirty="0">
              <a:latin typeface="+mj-lt"/>
            </a:endParaRP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75879"/>
            <a:ext cx="8263784" cy="2793072"/>
          </a:xfrm>
        </p:spPr>
        <p:txBody>
          <a:bodyPr lIns="0" tIns="0" rIns="0" bIns="0">
            <a:spAutoFit/>
          </a:bodyPr>
          <a:lstStyle/>
          <a:p>
            <a:pPr marL="347472" indent="-347472"/>
            <a:r>
              <a:rPr lang="en-US" altLang="en-US" sz="2400" dirty="0"/>
              <a:t>Every amino acid has the same basic structure.</a:t>
            </a:r>
          </a:p>
          <a:p>
            <a:pPr marL="347472" indent="-347472"/>
            <a:r>
              <a:rPr lang="en-US" altLang="en-US" sz="2400" dirty="0"/>
              <a:t>Each has a unique side chain, called an </a:t>
            </a:r>
            <a:r>
              <a:rPr lang="en-US" altLang="en-US" sz="2400" b="1" dirty="0"/>
              <a:t>R group</a:t>
            </a:r>
            <a:r>
              <a:rPr lang="en-US" altLang="en-US" sz="2400" dirty="0"/>
              <a:t>.</a:t>
            </a:r>
          </a:p>
          <a:p>
            <a:pPr marL="347472" indent="-347472"/>
            <a:r>
              <a:rPr lang="en-US" altLang="en-US" sz="2400" dirty="0"/>
              <a:t>All amino acids except glycine have an asymmetric </a:t>
            </a:r>
            <a:r>
              <a:rPr lang="el-GR" altLang="en-US" sz="2400" i="1" dirty="0">
                <a:latin typeface="Arial" panose="020B0604020202020204" pitchFamily="34" charset="0"/>
                <a:cs typeface="Arial" panose="020B0604020202020204" pitchFamily="34" charset="0"/>
                <a:sym typeface="Symbol" panose="05050102010706020507" pitchFamily="18" charset="2"/>
              </a:rPr>
              <a:t>α</a:t>
            </a:r>
            <a:r>
              <a:rPr lang="en-US" altLang="en-US" sz="2400" dirty="0"/>
              <a:t> </a:t>
            </a:r>
            <a:r>
              <a:rPr lang="en-US" altLang="en-US" sz="2400" i="1" dirty="0"/>
              <a:t>carbon</a:t>
            </a:r>
            <a:r>
              <a:rPr lang="en-US" altLang="en-US" sz="2400" dirty="0"/>
              <a:t> atom.</a:t>
            </a:r>
          </a:p>
          <a:p>
            <a:pPr marL="347472" indent="-347472"/>
            <a:r>
              <a:rPr lang="en-US" altLang="en-US" sz="2400" dirty="0"/>
              <a:t>The specific properties of amino acids depend on the nature of their R groups.</a:t>
            </a:r>
          </a:p>
        </p:txBody>
      </p:sp>
    </p:spTree>
    <p:extLst>
      <p:ext uri="{BB962C8B-B14F-4D97-AF65-F5344CB8AC3E}">
        <p14:creationId xmlns:p14="http://schemas.microsoft.com/office/powerpoint/2010/main" val="26328411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57200" y="190188"/>
            <a:ext cx="8229600" cy="1107996"/>
          </a:xfrm>
        </p:spPr>
        <p:txBody>
          <a:bodyPr lIns="0" tIns="0" rIns="0" bIns="0" anchor="ctr">
            <a:spAutoFit/>
          </a:bodyPr>
          <a:lstStyle/>
          <a:p>
            <a:r>
              <a:rPr lang="en-US" dirty="0"/>
              <a:t>The Structure and Stereochemistry of an Amino Acid</a:t>
            </a:r>
          </a:p>
        </p:txBody>
      </p:sp>
      <p:sp>
        <p:nvSpPr>
          <p:cNvPr id="6" name="Content Placeholder 5"/>
          <p:cNvSpPr>
            <a:spLocks noGrp="1"/>
          </p:cNvSpPr>
          <p:nvPr>
            <p:ph sz="quarter" idx="13"/>
          </p:nvPr>
        </p:nvSpPr>
        <p:spPr>
          <a:xfrm>
            <a:off x="442452" y="1530089"/>
            <a:ext cx="3665524" cy="1107996"/>
          </a:xfrm>
        </p:spPr>
        <p:txBody>
          <a:bodyPr wrap="square" lIns="0" tIns="0" rIns="0" bIns="0">
            <a:spAutoFit/>
          </a:bodyPr>
          <a:lstStyle/>
          <a:p>
            <a:pPr marL="0" indent="0">
              <a:buNone/>
            </a:pPr>
            <a:r>
              <a:rPr lang="en-US" sz="2400" b="1" dirty="0"/>
              <a:t>Figure 3.1</a:t>
            </a:r>
            <a:r>
              <a:rPr lang="en-US" sz="2400" dirty="0"/>
              <a:t> The Structure and Stereochemistry of an Amino Acid.</a:t>
            </a:r>
          </a:p>
        </p:txBody>
      </p:sp>
      <p:pic>
        <p:nvPicPr>
          <p:cNvPr id="7" name="Picture Placeholder 6" descr="Structural formula and ball-and-stick model of the stereoisomers of an amino acid.&#10;Long description is available in notes, press F6">
            <a:extLst>
              <a:ext uri="{FF2B5EF4-FFF2-40B4-BE49-F238E27FC236}">
                <a16:creationId xmlns:a16="http://schemas.microsoft.com/office/drawing/2014/main" id="{894A95CD-CBEB-4E57-990B-0BCE8E91784A}"/>
              </a:ext>
            </a:extLst>
          </p:cNvPr>
          <p:cNvPicPr>
            <a:picLocks noGrp="1" noChangeAspect="1"/>
          </p:cNvPicPr>
          <p:nvPr>
            <p:ph type="pic" sz="quarter" idx="14"/>
          </p:nvPr>
        </p:nvPicPr>
        <p:blipFill rotWithShape="1">
          <a:blip r:embed="rId3"/>
          <a:srcRect b="2525"/>
          <a:stretch/>
        </p:blipFill>
        <p:spPr>
          <a:xfrm>
            <a:off x="4338100" y="1569994"/>
            <a:ext cx="4302383" cy="4535839"/>
          </a:xfrm>
          <a:prstGeom prst="rect">
            <a:avLst/>
          </a:prstGeom>
        </p:spPr>
      </p:pic>
    </p:spTree>
    <p:extLst>
      <p:ext uri="{BB962C8B-B14F-4D97-AF65-F5344CB8AC3E}">
        <p14:creationId xmlns:p14="http://schemas.microsoft.com/office/powerpoint/2010/main" val="18766776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83066"/>
            <a:ext cx="8263784" cy="553998"/>
          </a:xfrm>
        </p:spPr>
        <p:txBody>
          <a:bodyPr lIns="0" tIns="0" rIns="0" bIns="0" anchor="ctr">
            <a:spAutoFit/>
          </a:bodyPr>
          <a:lstStyle/>
          <a:p>
            <a:r>
              <a:rPr lang="en-US" sz="3600" dirty="0">
                <a:latin typeface="+mj-lt"/>
              </a:rPr>
              <a:t>Classes of R Groups</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76900"/>
            <a:ext cx="8263784" cy="3162404"/>
          </a:xfrm>
        </p:spPr>
        <p:txBody>
          <a:bodyPr lIns="0" tIns="0" rIns="0" bIns="0">
            <a:spAutoFit/>
          </a:bodyPr>
          <a:lstStyle/>
          <a:p>
            <a:pPr marL="347472" indent="-347472"/>
            <a:r>
              <a:rPr lang="en-US" altLang="en-US" sz="2400" dirty="0"/>
              <a:t>Nine amino acids have nonpolar, </a:t>
            </a:r>
            <a:r>
              <a:rPr lang="en-US" altLang="en-US" sz="2400" i="1" dirty="0"/>
              <a:t>hydrophobic</a:t>
            </a:r>
            <a:r>
              <a:rPr lang="en-US" altLang="en-US" sz="2400" dirty="0"/>
              <a:t> R groups.</a:t>
            </a:r>
          </a:p>
          <a:p>
            <a:pPr marL="347472" indent="-347472"/>
            <a:r>
              <a:rPr lang="en-US" altLang="en-US" sz="2400" dirty="0"/>
              <a:t>The remaining 11 amino acids are </a:t>
            </a:r>
            <a:r>
              <a:rPr lang="en-US" altLang="en-US" sz="2400" i="1" dirty="0"/>
              <a:t>hydrophilic,</a:t>
            </a:r>
            <a:r>
              <a:rPr lang="en-US" altLang="en-US" sz="2400" dirty="0"/>
              <a:t> with R groups that are either polar or charged at cellular </a:t>
            </a:r>
            <a:r>
              <a:rPr lang="en-US" altLang="en-US" sz="2400" dirty="0" err="1"/>
              <a:t>pH.</a:t>
            </a:r>
            <a:endParaRPr lang="en-US" altLang="en-US" sz="2400" dirty="0"/>
          </a:p>
          <a:p>
            <a:pPr marL="347472" indent="-347472"/>
            <a:r>
              <a:rPr lang="en-US" altLang="en-US" sz="2400" dirty="0"/>
              <a:t>Acidic amino acids are negatively charged, whereas basic amino acids are positively charged.</a:t>
            </a:r>
          </a:p>
          <a:p>
            <a:pPr marL="347472" indent="-347472"/>
            <a:r>
              <a:rPr lang="en-US" altLang="en-US" sz="2400" dirty="0"/>
              <a:t>Polar amino acids tend to be found on the surfaces of proteins.</a:t>
            </a:r>
          </a:p>
        </p:txBody>
      </p:sp>
    </p:spTree>
    <p:extLst>
      <p:ext uri="{BB962C8B-B14F-4D97-AF65-F5344CB8AC3E}">
        <p14:creationId xmlns:p14="http://schemas.microsoft.com/office/powerpoint/2010/main" val="30047167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19100" y="190188"/>
            <a:ext cx="8267700" cy="1107996"/>
          </a:xfrm>
        </p:spPr>
        <p:txBody>
          <a:bodyPr wrap="square" lIns="0" tIns="0" rIns="0" bIns="0" anchor="ctr">
            <a:spAutoFit/>
          </a:bodyPr>
          <a:lstStyle/>
          <a:p>
            <a:r>
              <a:rPr lang="en-US" dirty="0"/>
              <a:t>The Structures of the 20 Amino Acids Found in Proteins</a:t>
            </a:r>
          </a:p>
        </p:txBody>
      </p:sp>
      <p:sp>
        <p:nvSpPr>
          <p:cNvPr id="6" name="Content Placeholder 5"/>
          <p:cNvSpPr>
            <a:spLocks noGrp="1"/>
          </p:cNvSpPr>
          <p:nvPr>
            <p:ph sz="quarter" idx="13"/>
          </p:nvPr>
        </p:nvSpPr>
        <p:spPr>
          <a:xfrm>
            <a:off x="442451" y="1530089"/>
            <a:ext cx="3856593" cy="1107996"/>
          </a:xfrm>
        </p:spPr>
        <p:txBody>
          <a:bodyPr wrap="square" lIns="0" tIns="0" rIns="0" bIns="0">
            <a:spAutoFit/>
          </a:bodyPr>
          <a:lstStyle/>
          <a:p>
            <a:pPr marL="0" indent="0">
              <a:buNone/>
            </a:pPr>
            <a:r>
              <a:rPr lang="en-US" sz="2400" b="1" dirty="0"/>
              <a:t>Figure 3.2</a:t>
            </a:r>
            <a:r>
              <a:rPr lang="en-US" sz="2400" dirty="0"/>
              <a:t> The Structures of the 20 Amino Acids Found in Proteins.</a:t>
            </a:r>
          </a:p>
        </p:txBody>
      </p:sp>
      <p:pic>
        <p:nvPicPr>
          <p:cNvPr id="8" name="Picture Placeholder 7" descr="Chemical structures of twenty essential amino acids categorized into three groups based on the nature of their side groups.&#10;Long description is available in notes, press F6">
            <a:extLst>
              <a:ext uri="{FF2B5EF4-FFF2-40B4-BE49-F238E27FC236}">
                <a16:creationId xmlns:a16="http://schemas.microsoft.com/office/drawing/2014/main" id="{D8F0FFB6-92AF-4F81-BBBA-6AD911F4188E}"/>
              </a:ext>
            </a:extLst>
          </p:cNvPr>
          <p:cNvPicPr>
            <a:picLocks noGrp="1" noChangeAspect="1"/>
          </p:cNvPicPr>
          <p:nvPr>
            <p:ph type="pic" sz="quarter" idx="14"/>
          </p:nvPr>
        </p:nvPicPr>
        <p:blipFill rotWithShape="1">
          <a:blip r:embed="rId3"/>
          <a:srcRect b="1992"/>
          <a:stretch/>
        </p:blipFill>
        <p:spPr>
          <a:xfrm>
            <a:off x="4472262" y="1548415"/>
            <a:ext cx="4200825" cy="4683533"/>
          </a:xfrm>
          <a:prstGeom prst="rect">
            <a:avLst/>
          </a:prstGeom>
        </p:spPr>
      </p:pic>
    </p:spTree>
    <p:extLst>
      <p:ext uri="{BB962C8B-B14F-4D97-AF65-F5344CB8AC3E}">
        <p14:creationId xmlns:p14="http://schemas.microsoft.com/office/powerpoint/2010/main" val="28775656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215371"/>
            <a:ext cx="8229600" cy="495167"/>
          </a:xfrm>
        </p:spPr>
        <p:txBody>
          <a:bodyPr lIns="0" tIns="0" rIns="0" bIns="0" anchor="ctr"/>
          <a:lstStyle/>
          <a:p>
            <a:r>
              <a:rPr lang="en-US" sz="3200" dirty="0"/>
              <a:t>Table 3.2 Abbreviations for Amino Acids</a:t>
            </a:r>
            <a:endParaRPr lang="en-IN" sz="3200" dirty="0"/>
          </a:p>
        </p:txBody>
      </p:sp>
      <p:graphicFrame>
        <p:nvGraphicFramePr>
          <p:cNvPr id="4" name="Table 3"/>
          <p:cNvGraphicFramePr>
            <a:graphicFrameLocks noGrp="1"/>
          </p:cNvGraphicFramePr>
          <p:nvPr>
            <p:extLst>
              <p:ext uri="{D42A27DB-BD31-4B8C-83A1-F6EECF244321}">
                <p14:modId xmlns:p14="http://schemas.microsoft.com/office/powerpoint/2010/main" val="3888289921"/>
              </p:ext>
            </p:extLst>
          </p:nvPr>
        </p:nvGraphicFramePr>
        <p:xfrm>
          <a:off x="847198" y="873450"/>
          <a:ext cx="7150392" cy="5335651"/>
        </p:xfrm>
        <a:graphic>
          <a:graphicData uri="http://schemas.openxmlformats.org/drawingml/2006/table">
            <a:tbl>
              <a:tblPr firstRow="1" bandRow="1">
                <a:tableStyleId>{40F9630F-82C1-40B7-BC3A-925EFCFF5E92}</a:tableStyleId>
              </a:tblPr>
              <a:tblGrid>
                <a:gridCol w="1824781">
                  <a:extLst>
                    <a:ext uri="{9D8B030D-6E8A-4147-A177-3AD203B41FA5}">
                      <a16:colId xmlns:a16="http://schemas.microsoft.com/office/drawing/2014/main" val="20000"/>
                    </a:ext>
                  </a:extLst>
                </a:gridCol>
                <a:gridCol w="2578431">
                  <a:extLst>
                    <a:ext uri="{9D8B030D-6E8A-4147-A177-3AD203B41FA5}">
                      <a16:colId xmlns:a16="http://schemas.microsoft.com/office/drawing/2014/main" val="20001"/>
                    </a:ext>
                  </a:extLst>
                </a:gridCol>
                <a:gridCol w="2747180">
                  <a:extLst>
                    <a:ext uri="{9D8B030D-6E8A-4147-A177-3AD203B41FA5}">
                      <a16:colId xmlns:a16="http://schemas.microsoft.com/office/drawing/2014/main" val="20002"/>
                    </a:ext>
                  </a:extLst>
                </a:gridCol>
              </a:tblGrid>
              <a:tr h="338471">
                <a:tc>
                  <a:txBody>
                    <a:bodyPr/>
                    <a:lstStyle/>
                    <a:p>
                      <a:pPr marL="0" marR="0">
                        <a:lnSpc>
                          <a:spcPct val="107000"/>
                        </a:lnSpc>
                        <a:spcBef>
                          <a:spcPts val="0"/>
                        </a:spcBef>
                        <a:spcAft>
                          <a:spcPts val="800"/>
                        </a:spcAft>
                      </a:pPr>
                      <a:r>
                        <a:rPr lang="en-IN" sz="1400" dirty="0">
                          <a:solidFill>
                            <a:schemeClr val="bg1"/>
                          </a:solidFill>
                          <a:effectLst/>
                        </a:rPr>
                        <a:t>Amino Acid</a:t>
                      </a:r>
                      <a:endParaRPr lang="en-IN" sz="1400" dirty="0">
                        <a:solidFill>
                          <a:schemeClr val="bg1"/>
                        </a:solidFill>
                        <a:effectLst/>
                        <a:latin typeface="Calibri"/>
                        <a:ea typeface="Calibri"/>
                        <a:cs typeface="Times New Roman"/>
                      </a:endParaRPr>
                    </a:p>
                  </a:txBody>
                  <a:tcPr marL="8749" marR="8749" marT="8749" marB="0" anchor="ct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noFill/>
                      <a:prstDash val="solid"/>
                      <a:round/>
                      <a:headEnd type="none" w="med" len="med"/>
                      <a:tailEnd type="none" w="med" len="med"/>
                    </a:lnT>
                    <a:lnB w="12700" cap="flat" cmpd="sng">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a:lnSpc>
                          <a:spcPct val="107000"/>
                        </a:lnSpc>
                        <a:spcBef>
                          <a:spcPts val="0"/>
                        </a:spcBef>
                        <a:spcAft>
                          <a:spcPts val="800"/>
                        </a:spcAft>
                      </a:pPr>
                      <a:r>
                        <a:rPr lang="en-IN" sz="1400" dirty="0">
                          <a:solidFill>
                            <a:schemeClr val="bg1"/>
                          </a:solidFill>
                          <a:effectLst/>
                        </a:rPr>
                        <a:t>Three-Letter Abbreviation</a:t>
                      </a:r>
                      <a:endParaRPr lang="en-IN" sz="1400" dirty="0">
                        <a:solidFill>
                          <a:schemeClr val="bg1"/>
                        </a:solidFill>
                        <a:effectLst/>
                        <a:latin typeface="Calibri"/>
                        <a:ea typeface="Calibri"/>
                        <a:cs typeface="Times New Roman"/>
                      </a:endParaRPr>
                    </a:p>
                  </a:txBody>
                  <a:tcPr marL="8749" marR="8749" marT="8749" marB="0" anchor="ct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noFill/>
                      <a:prstDash val="solid"/>
                      <a:round/>
                      <a:headEnd type="none" w="med" len="med"/>
                      <a:tailEnd type="none" w="med" len="med"/>
                    </a:lnT>
                    <a:lnB w="12700" cap="flat" cmpd="sng">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a:lnSpc>
                          <a:spcPct val="107000"/>
                        </a:lnSpc>
                        <a:spcBef>
                          <a:spcPts val="0"/>
                        </a:spcBef>
                        <a:spcAft>
                          <a:spcPts val="800"/>
                        </a:spcAft>
                      </a:pPr>
                      <a:r>
                        <a:rPr lang="en-US" sz="1400" dirty="0">
                          <a:solidFill>
                            <a:schemeClr val="bg1"/>
                          </a:solidFill>
                          <a:effectLst/>
                        </a:rPr>
                        <a:t>One-Letter Abbreviation</a:t>
                      </a:r>
                      <a:endParaRPr lang="en-IN" sz="1400" dirty="0">
                        <a:solidFill>
                          <a:schemeClr val="bg1"/>
                        </a:solidFill>
                        <a:effectLst/>
                        <a:latin typeface="Calibri"/>
                        <a:ea typeface="Calibri"/>
                        <a:cs typeface="Times New Roman"/>
                      </a:endParaRPr>
                    </a:p>
                  </a:txBody>
                  <a:tcPr marL="8749" marR="8749" marT="8749" marB="0" anchor="ct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noFill/>
                      <a:prstDash val="solid"/>
                      <a:round/>
                      <a:headEnd type="none" w="med" len="med"/>
                      <a:tailEnd type="none" w="med" len="med"/>
                    </a:lnT>
                    <a:lnB w="12700" cap="flat" cmpd="sng">
                      <a:noFill/>
                      <a:prstDash val="solid"/>
                      <a:round/>
                      <a:headEnd type="none" w="med" len="med"/>
                      <a:tailEnd type="none" w="med" len="med"/>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10000"/>
                  </a:ext>
                </a:extLst>
              </a:tr>
              <a:tr h="249859">
                <a:tc>
                  <a:txBody>
                    <a:bodyPr/>
                    <a:lstStyle/>
                    <a:p>
                      <a:pPr marL="0" marR="0">
                        <a:lnSpc>
                          <a:spcPct val="107000"/>
                        </a:lnSpc>
                        <a:spcBef>
                          <a:spcPts val="0"/>
                        </a:spcBef>
                        <a:spcAft>
                          <a:spcPts val="800"/>
                        </a:spcAft>
                      </a:pPr>
                      <a:r>
                        <a:rPr lang="en-IN" sz="1400">
                          <a:effectLst/>
                        </a:rPr>
                        <a:t>Alanine</a:t>
                      </a:r>
                      <a:endParaRPr lang="en-IN" sz="1400">
                        <a:effectLst/>
                        <a:latin typeface="Calibri"/>
                        <a:ea typeface="Calibri"/>
                        <a:cs typeface="Times New Roman"/>
                      </a:endParaRPr>
                    </a:p>
                  </a:txBody>
                  <a:tcPr marL="8749" marR="8749" marT="8749" marB="0" anchor="ct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IN" sz="1400" dirty="0">
                          <a:effectLst/>
                        </a:rPr>
                        <a:t>Ala</a:t>
                      </a:r>
                      <a:endParaRPr lang="en-IN" sz="1400" dirty="0">
                        <a:effectLst/>
                        <a:latin typeface="Calibri"/>
                        <a:ea typeface="Calibri"/>
                        <a:cs typeface="Times New Roman"/>
                      </a:endParaRPr>
                    </a:p>
                  </a:txBody>
                  <a:tcPr marL="8749" marR="8749" marT="8749" marB="0" anchor="ct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IN" sz="1400" dirty="0">
                          <a:effectLst/>
                        </a:rPr>
                        <a:t>A</a:t>
                      </a:r>
                      <a:endParaRPr lang="en-IN" sz="1400" dirty="0">
                        <a:effectLst/>
                        <a:latin typeface="Calibri"/>
                        <a:ea typeface="Calibri"/>
                        <a:cs typeface="Times New Roman"/>
                      </a:endParaRPr>
                    </a:p>
                  </a:txBody>
                  <a:tcPr marL="8749" marR="8749" marT="8749" marB="0" anchor="ct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1"/>
                  </a:ext>
                </a:extLst>
              </a:tr>
              <a:tr h="249859">
                <a:tc>
                  <a:txBody>
                    <a:bodyPr/>
                    <a:lstStyle/>
                    <a:p>
                      <a:pPr marL="0" marR="0">
                        <a:lnSpc>
                          <a:spcPct val="107000"/>
                        </a:lnSpc>
                        <a:spcBef>
                          <a:spcPts val="0"/>
                        </a:spcBef>
                        <a:spcAft>
                          <a:spcPts val="800"/>
                        </a:spcAft>
                      </a:pPr>
                      <a:r>
                        <a:rPr lang="en-IN" sz="1400" dirty="0">
                          <a:effectLst/>
                        </a:rPr>
                        <a:t>Arginine</a:t>
                      </a:r>
                      <a:endParaRPr lang="en-IN" sz="1400" dirty="0">
                        <a:effectLst/>
                        <a:latin typeface="Calibri"/>
                        <a:ea typeface="Calibri"/>
                        <a:cs typeface="Times New Roman"/>
                      </a:endParaRPr>
                    </a:p>
                  </a:txBody>
                  <a:tcPr marL="8749" marR="8749" marT="8749"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IN" sz="1400">
                          <a:effectLst/>
                        </a:rPr>
                        <a:t>Arg</a:t>
                      </a:r>
                      <a:endParaRPr lang="en-IN" sz="1400">
                        <a:effectLst/>
                        <a:latin typeface="Calibri"/>
                        <a:ea typeface="Calibri"/>
                        <a:cs typeface="Times New Roman"/>
                      </a:endParaRPr>
                    </a:p>
                  </a:txBody>
                  <a:tcPr marL="8749" marR="8749" marT="8749"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IN" sz="1400">
                          <a:effectLst/>
                        </a:rPr>
                        <a:t>R</a:t>
                      </a:r>
                      <a:endParaRPr lang="en-IN" sz="1400">
                        <a:effectLst/>
                        <a:latin typeface="Calibri"/>
                        <a:ea typeface="Calibri"/>
                        <a:cs typeface="Times New Roman"/>
                      </a:endParaRPr>
                    </a:p>
                  </a:txBody>
                  <a:tcPr marL="8749" marR="8749" marT="8749"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2"/>
                  </a:ext>
                </a:extLst>
              </a:tr>
              <a:tr h="249859">
                <a:tc>
                  <a:txBody>
                    <a:bodyPr/>
                    <a:lstStyle/>
                    <a:p>
                      <a:pPr marL="0" marR="0">
                        <a:lnSpc>
                          <a:spcPct val="107000"/>
                        </a:lnSpc>
                        <a:spcBef>
                          <a:spcPts val="0"/>
                        </a:spcBef>
                        <a:spcAft>
                          <a:spcPts val="800"/>
                        </a:spcAft>
                      </a:pPr>
                      <a:r>
                        <a:rPr lang="en-IN" sz="1400">
                          <a:effectLst/>
                        </a:rPr>
                        <a:t>Asparagine</a:t>
                      </a:r>
                      <a:endParaRPr lang="en-IN" sz="1400">
                        <a:effectLst/>
                        <a:latin typeface="Calibri"/>
                        <a:ea typeface="Calibri"/>
                        <a:cs typeface="Times New Roman"/>
                      </a:endParaRPr>
                    </a:p>
                  </a:txBody>
                  <a:tcPr marL="8749" marR="8749" marT="8749"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IN" sz="1400">
                          <a:effectLst/>
                        </a:rPr>
                        <a:t>Asn</a:t>
                      </a:r>
                      <a:endParaRPr lang="en-IN" sz="1400">
                        <a:effectLst/>
                        <a:latin typeface="Calibri"/>
                        <a:ea typeface="Calibri"/>
                        <a:cs typeface="Times New Roman"/>
                      </a:endParaRPr>
                    </a:p>
                  </a:txBody>
                  <a:tcPr marL="8749" marR="8749" marT="8749"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IN" sz="1400">
                          <a:effectLst/>
                        </a:rPr>
                        <a:t>N</a:t>
                      </a:r>
                      <a:endParaRPr lang="en-IN" sz="1400">
                        <a:effectLst/>
                        <a:latin typeface="Calibri"/>
                        <a:ea typeface="Calibri"/>
                        <a:cs typeface="Times New Roman"/>
                      </a:endParaRPr>
                    </a:p>
                  </a:txBody>
                  <a:tcPr marL="8749" marR="8749" marT="8749"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3"/>
                  </a:ext>
                </a:extLst>
              </a:tr>
              <a:tr h="249859">
                <a:tc>
                  <a:txBody>
                    <a:bodyPr/>
                    <a:lstStyle/>
                    <a:p>
                      <a:pPr marL="0" marR="0">
                        <a:lnSpc>
                          <a:spcPct val="107000"/>
                        </a:lnSpc>
                        <a:spcBef>
                          <a:spcPts val="0"/>
                        </a:spcBef>
                        <a:spcAft>
                          <a:spcPts val="800"/>
                        </a:spcAft>
                      </a:pPr>
                      <a:r>
                        <a:rPr lang="en-IN" sz="1400">
                          <a:effectLst/>
                        </a:rPr>
                        <a:t>Aspartate</a:t>
                      </a:r>
                      <a:endParaRPr lang="en-IN" sz="1400">
                        <a:effectLst/>
                        <a:latin typeface="Calibri"/>
                        <a:ea typeface="Calibri"/>
                        <a:cs typeface="Times New Roman"/>
                      </a:endParaRPr>
                    </a:p>
                  </a:txBody>
                  <a:tcPr marL="8749" marR="8749" marT="8749"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IN" sz="1400">
                          <a:effectLst/>
                        </a:rPr>
                        <a:t>Asp</a:t>
                      </a:r>
                      <a:endParaRPr lang="en-IN" sz="1400">
                        <a:effectLst/>
                        <a:latin typeface="Calibri"/>
                        <a:ea typeface="Calibri"/>
                        <a:cs typeface="Times New Roman"/>
                      </a:endParaRPr>
                    </a:p>
                  </a:txBody>
                  <a:tcPr marL="8749" marR="8749" marT="8749"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IN" sz="1400">
                          <a:effectLst/>
                        </a:rPr>
                        <a:t>D</a:t>
                      </a:r>
                      <a:endParaRPr lang="en-IN" sz="1400">
                        <a:effectLst/>
                        <a:latin typeface="Calibri"/>
                        <a:ea typeface="Calibri"/>
                        <a:cs typeface="Times New Roman"/>
                      </a:endParaRPr>
                    </a:p>
                  </a:txBody>
                  <a:tcPr marL="8749" marR="8749" marT="8749"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4"/>
                  </a:ext>
                </a:extLst>
              </a:tr>
              <a:tr h="249859">
                <a:tc>
                  <a:txBody>
                    <a:bodyPr/>
                    <a:lstStyle/>
                    <a:p>
                      <a:pPr marL="0" marR="0">
                        <a:lnSpc>
                          <a:spcPct val="107000"/>
                        </a:lnSpc>
                        <a:spcBef>
                          <a:spcPts val="0"/>
                        </a:spcBef>
                        <a:spcAft>
                          <a:spcPts val="800"/>
                        </a:spcAft>
                      </a:pPr>
                      <a:r>
                        <a:rPr lang="en-IN" sz="1400">
                          <a:effectLst/>
                        </a:rPr>
                        <a:t>Cysteine</a:t>
                      </a:r>
                      <a:endParaRPr lang="en-IN" sz="1400">
                        <a:effectLst/>
                        <a:latin typeface="Calibri"/>
                        <a:ea typeface="Calibri"/>
                        <a:cs typeface="Times New Roman"/>
                      </a:endParaRPr>
                    </a:p>
                  </a:txBody>
                  <a:tcPr marL="8749" marR="8749" marT="8749"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IN" sz="1400">
                          <a:effectLst/>
                        </a:rPr>
                        <a:t>Cys</a:t>
                      </a:r>
                      <a:endParaRPr lang="en-IN" sz="1400">
                        <a:effectLst/>
                        <a:latin typeface="Calibri"/>
                        <a:ea typeface="Calibri"/>
                        <a:cs typeface="Times New Roman"/>
                      </a:endParaRPr>
                    </a:p>
                  </a:txBody>
                  <a:tcPr marL="8749" marR="8749" marT="8749"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IN" sz="1400">
                          <a:effectLst/>
                        </a:rPr>
                        <a:t>C</a:t>
                      </a:r>
                      <a:endParaRPr lang="en-IN" sz="1400">
                        <a:effectLst/>
                        <a:latin typeface="Calibri"/>
                        <a:ea typeface="Calibri"/>
                        <a:cs typeface="Times New Roman"/>
                      </a:endParaRPr>
                    </a:p>
                  </a:txBody>
                  <a:tcPr marL="8749" marR="8749" marT="8749"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5"/>
                  </a:ext>
                </a:extLst>
              </a:tr>
              <a:tr h="249859">
                <a:tc>
                  <a:txBody>
                    <a:bodyPr/>
                    <a:lstStyle/>
                    <a:p>
                      <a:pPr marL="0" marR="0">
                        <a:lnSpc>
                          <a:spcPct val="107000"/>
                        </a:lnSpc>
                        <a:spcBef>
                          <a:spcPts val="0"/>
                        </a:spcBef>
                        <a:spcAft>
                          <a:spcPts val="800"/>
                        </a:spcAft>
                      </a:pPr>
                      <a:r>
                        <a:rPr lang="en-IN" sz="1400">
                          <a:effectLst/>
                        </a:rPr>
                        <a:t>Glutamate</a:t>
                      </a:r>
                      <a:endParaRPr lang="en-IN" sz="1400">
                        <a:effectLst/>
                        <a:latin typeface="Calibri"/>
                        <a:ea typeface="Calibri"/>
                        <a:cs typeface="Times New Roman"/>
                      </a:endParaRPr>
                    </a:p>
                  </a:txBody>
                  <a:tcPr marL="8749" marR="8749" marT="8749"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IN" sz="1400">
                          <a:effectLst/>
                        </a:rPr>
                        <a:t>Glu</a:t>
                      </a:r>
                      <a:endParaRPr lang="en-IN" sz="1400">
                        <a:effectLst/>
                        <a:latin typeface="Calibri"/>
                        <a:ea typeface="Calibri"/>
                        <a:cs typeface="Times New Roman"/>
                      </a:endParaRPr>
                    </a:p>
                  </a:txBody>
                  <a:tcPr marL="8749" marR="8749" marT="8749"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IN" sz="1400">
                          <a:effectLst/>
                        </a:rPr>
                        <a:t>E</a:t>
                      </a:r>
                      <a:endParaRPr lang="en-IN" sz="1400">
                        <a:effectLst/>
                        <a:latin typeface="Calibri"/>
                        <a:ea typeface="Calibri"/>
                        <a:cs typeface="Times New Roman"/>
                      </a:endParaRPr>
                    </a:p>
                  </a:txBody>
                  <a:tcPr marL="8749" marR="8749" marT="8749"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6"/>
                  </a:ext>
                </a:extLst>
              </a:tr>
              <a:tr h="249859">
                <a:tc>
                  <a:txBody>
                    <a:bodyPr/>
                    <a:lstStyle/>
                    <a:p>
                      <a:pPr marL="0" marR="0">
                        <a:lnSpc>
                          <a:spcPct val="107000"/>
                        </a:lnSpc>
                        <a:spcBef>
                          <a:spcPts val="0"/>
                        </a:spcBef>
                        <a:spcAft>
                          <a:spcPts val="800"/>
                        </a:spcAft>
                      </a:pPr>
                      <a:r>
                        <a:rPr lang="en-IN" sz="1400">
                          <a:effectLst/>
                        </a:rPr>
                        <a:t>Glutamine</a:t>
                      </a:r>
                      <a:endParaRPr lang="en-IN" sz="1400">
                        <a:effectLst/>
                        <a:latin typeface="Calibri"/>
                        <a:ea typeface="Calibri"/>
                        <a:cs typeface="Times New Roman"/>
                      </a:endParaRPr>
                    </a:p>
                  </a:txBody>
                  <a:tcPr marL="8749" marR="8749" marT="8749"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IN" sz="1400">
                          <a:effectLst/>
                        </a:rPr>
                        <a:t>Gln</a:t>
                      </a:r>
                      <a:endParaRPr lang="en-IN" sz="1400">
                        <a:effectLst/>
                        <a:latin typeface="Calibri"/>
                        <a:ea typeface="Calibri"/>
                        <a:cs typeface="Times New Roman"/>
                      </a:endParaRPr>
                    </a:p>
                  </a:txBody>
                  <a:tcPr marL="8749" marR="8749" marT="8749"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IN" sz="1400" dirty="0">
                          <a:effectLst/>
                        </a:rPr>
                        <a:t>Q</a:t>
                      </a:r>
                      <a:endParaRPr lang="en-IN" sz="1400" dirty="0">
                        <a:effectLst/>
                        <a:latin typeface="Calibri"/>
                        <a:ea typeface="Calibri"/>
                        <a:cs typeface="Times New Roman"/>
                      </a:endParaRPr>
                    </a:p>
                  </a:txBody>
                  <a:tcPr marL="8749" marR="8749" marT="8749"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7"/>
                  </a:ext>
                </a:extLst>
              </a:tr>
              <a:tr h="249859">
                <a:tc>
                  <a:txBody>
                    <a:bodyPr/>
                    <a:lstStyle/>
                    <a:p>
                      <a:pPr marL="0" marR="0">
                        <a:lnSpc>
                          <a:spcPct val="107000"/>
                        </a:lnSpc>
                        <a:spcBef>
                          <a:spcPts val="0"/>
                        </a:spcBef>
                        <a:spcAft>
                          <a:spcPts val="800"/>
                        </a:spcAft>
                      </a:pPr>
                      <a:r>
                        <a:rPr lang="en-IN" sz="1400">
                          <a:effectLst/>
                        </a:rPr>
                        <a:t>Glycine</a:t>
                      </a:r>
                      <a:endParaRPr lang="en-IN" sz="1400">
                        <a:effectLst/>
                        <a:latin typeface="Calibri"/>
                        <a:ea typeface="Calibri"/>
                        <a:cs typeface="Times New Roman"/>
                      </a:endParaRPr>
                    </a:p>
                  </a:txBody>
                  <a:tcPr marL="8749" marR="8749" marT="8749"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IN" sz="1400">
                          <a:effectLst/>
                        </a:rPr>
                        <a:t>Gly</a:t>
                      </a:r>
                      <a:endParaRPr lang="en-IN" sz="1400">
                        <a:effectLst/>
                        <a:latin typeface="Calibri"/>
                        <a:ea typeface="Calibri"/>
                        <a:cs typeface="Times New Roman"/>
                      </a:endParaRPr>
                    </a:p>
                  </a:txBody>
                  <a:tcPr marL="8749" marR="8749" marT="8749"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IN" sz="1400">
                          <a:effectLst/>
                        </a:rPr>
                        <a:t>G</a:t>
                      </a:r>
                      <a:endParaRPr lang="en-IN" sz="1400">
                        <a:effectLst/>
                        <a:latin typeface="Calibri"/>
                        <a:ea typeface="Calibri"/>
                        <a:cs typeface="Times New Roman"/>
                      </a:endParaRPr>
                    </a:p>
                  </a:txBody>
                  <a:tcPr marL="8749" marR="8749" marT="8749"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8"/>
                  </a:ext>
                </a:extLst>
              </a:tr>
              <a:tr h="249859">
                <a:tc>
                  <a:txBody>
                    <a:bodyPr/>
                    <a:lstStyle/>
                    <a:p>
                      <a:pPr marL="0" marR="0">
                        <a:lnSpc>
                          <a:spcPct val="107000"/>
                        </a:lnSpc>
                        <a:spcBef>
                          <a:spcPts val="0"/>
                        </a:spcBef>
                        <a:spcAft>
                          <a:spcPts val="800"/>
                        </a:spcAft>
                      </a:pPr>
                      <a:r>
                        <a:rPr lang="en-IN" sz="1400">
                          <a:effectLst/>
                        </a:rPr>
                        <a:t>Histidine</a:t>
                      </a:r>
                      <a:endParaRPr lang="en-IN" sz="1400">
                        <a:effectLst/>
                        <a:latin typeface="Calibri"/>
                        <a:ea typeface="Calibri"/>
                        <a:cs typeface="Times New Roman"/>
                      </a:endParaRPr>
                    </a:p>
                  </a:txBody>
                  <a:tcPr marL="8749" marR="8749" marT="8749"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IN" sz="1400">
                          <a:effectLst/>
                        </a:rPr>
                        <a:t>His</a:t>
                      </a:r>
                      <a:endParaRPr lang="en-IN" sz="1400">
                        <a:effectLst/>
                        <a:latin typeface="Calibri"/>
                        <a:ea typeface="Calibri"/>
                        <a:cs typeface="Times New Roman"/>
                      </a:endParaRPr>
                    </a:p>
                  </a:txBody>
                  <a:tcPr marL="8749" marR="8749" marT="8749"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IN" sz="1400">
                          <a:effectLst/>
                        </a:rPr>
                        <a:t>H</a:t>
                      </a:r>
                      <a:endParaRPr lang="en-IN" sz="1400">
                        <a:effectLst/>
                        <a:latin typeface="Calibri"/>
                        <a:ea typeface="Calibri"/>
                        <a:cs typeface="Times New Roman"/>
                      </a:endParaRPr>
                    </a:p>
                  </a:txBody>
                  <a:tcPr marL="8749" marR="8749" marT="8749"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9"/>
                  </a:ext>
                </a:extLst>
              </a:tr>
              <a:tr h="249859">
                <a:tc>
                  <a:txBody>
                    <a:bodyPr/>
                    <a:lstStyle/>
                    <a:p>
                      <a:pPr marL="0" marR="0">
                        <a:lnSpc>
                          <a:spcPct val="107000"/>
                        </a:lnSpc>
                        <a:spcBef>
                          <a:spcPts val="0"/>
                        </a:spcBef>
                        <a:spcAft>
                          <a:spcPts val="800"/>
                        </a:spcAft>
                      </a:pPr>
                      <a:r>
                        <a:rPr lang="en-IN" sz="1400">
                          <a:effectLst/>
                        </a:rPr>
                        <a:t>Isoleucine</a:t>
                      </a:r>
                      <a:endParaRPr lang="en-IN" sz="1400">
                        <a:effectLst/>
                        <a:latin typeface="Calibri"/>
                        <a:ea typeface="Calibri"/>
                        <a:cs typeface="Times New Roman"/>
                      </a:endParaRPr>
                    </a:p>
                  </a:txBody>
                  <a:tcPr marL="8749" marR="8749" marT="8749"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IN" sz="1400">
                          <a:effectLst/>
                        </a:rPr>
                        <a:t>Ile</a:t>
                      </a:r>
                      <a:endParaRPr lang="en-IN" sz="1400">
                        <a:effectLst/>
                        <a:latin typeface="Calibri"/>
                        <a:ea typeface="Calibri"/>
                        <a:cs typeface="Times New Roman"/>
                      </a:endParaRPr>
                    </a:p>
                  </a:txBody>
                  <a:tcPr marL="8749" marR="8749" marT="8749"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IN" sz="1400">
                          <a:effectLst/>
                        </a:rPr>
                        <a:t>I</a:t>
                      </a:r>
                      <a:endParaRPr lang="en-IN" sz="1400">
                        <a:effectLst/>
                        <a:latin typeface="Calibri"/>
                        <a:ea typeface="Calibri"/>
                        <a:cs typeface="Times New Roman"/>
                      </a:endParaRPr>
                    </a:p>
                  </a:txBody>
                  <a:tcPr marL="8749" marR="8749" marT="8749"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10"/>
                  </a:ext>
                </a:extLst>
              </a:tr>
              <a:tr h="249859">
                <a:tc>
                  <a:txBody>
                    <a:bodyPr/>
                    <a:lstStyle/>
                    <a:p>
                      <a:pPr marL="0" marR="0">
                        <a:lnSpc>
                          <a:spcPct val="107000"/>
                        </a:lnSpc>
                        <a:spcBef>
                          <a:spcPts val="0"/>
                        </a:spcBef>
                        <a:spcAft>
                          <a:spcPts val="800"/>
                        </a:spcAft>
                      </a:pPr>
                      <a:r>
                        <a:rPr lang="en-IN" sz="1400">
                          <a:effectLst/>
                        </a:rPr>
                        <a:t>Leucine</a:t>
                      </a:r>
                      <a:endParaRPr lang="en-IN" sz="1400">
                        <a:effectLst/>
                        <a:latin typeface="Calibri"/>
                        <a:ea typeface="Calibri"/>
                        <a:cs typeface="Times New Roman"/>
                      </a:endParaRPr>
                    </a:p>
                  </a:txBody>
                  <a:tcPr marL="8749" marR="8749" marT="8749"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IN" sz="1400">
                          <a:effectLst/>
                        </a:rPr>
                        <a:t>Leu</a:t>
                      </a:r>
                      <a:endParaRPr lang="en-IN" sz="1400">
                        <a:effectLst/>
                        <a:latin typeface="Calibri"/>
                        <a:ea typeface="Calibri"/>
                        <a:cs typeface="Times New Roman"/>
                      </a:endParaRPr>
                    </a:p>
                  </a:txBody>
                  <a:tcPr marL="8749" marR="8749" marT="8749"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IN" sz="1400">
                          <a:effectLst/>
                        </a:rPr>
                        <a:t>L</a:t>
                      </a:r>
                      <a:endParaRPr lang="en-IN" sz="1400">
                        <a:effectLst/>
                        <a:latin typeface="Calibri"/>
                        <a:ea typeface="Calibri"/>
                        <a:cs typeface="Times New Roman"/>
                      </a:endParaRPr>
                    </a:p>
                  </a:txBody>
                  <a:tcPr marL="8749" marR="8749" marT="8749"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11"/>
                  </a:ext>
                </a:extLst>
              </a:tr>
              <a:tr h="249859">
                <a:tc>
                  <a:txBody>
                    <a:bodyPr/>
                    <a:lstStyle/>
                    <a:p>
                      <a:pPr marL="0" marR="0">
                        <a:lnSpc>
                          <a:spcPct val="107000"/>
                        </a:lnSpc>
                        <a:spcBef>
                          <a:spcPts val="0"/>
                        </a:spcBef>
                        <a:spcAft>
                          <a:spcPts val="800"/>
                        </a:spcAft>
                      </a:pPr>
                      <a:r>
                        <a:rPr lang="en-IN" sz="1400">
                          <a:effectLst/>
                        </a:rPr>
                        <a:t>Lysine</a:t>
                      </a:r>
                      <a:endParaRPr lang="en-IN" sz="1400">
                        <a:effectLst/>
                        <a:latin typeface="Calibri"/>
                        <a:ea typeface="Calibri"/>
                        <a:cs typeface="Times New Roman"/>
                      </a:endParaRPr>
                    </a:p>
                  </a:txBody>
                  <a:tcPr marL="8749" marR="8749" marT="8749"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IN" sz="1400">
                          <a:effectLst/>
                        </a:rPr>
                        <a:t>Lys</a:t>
                      </a:r>
                      <a:endParaRPr lang="en-IN" sz="1400">
                        <a:effectLst/>
                        <a:latin typeface="Calibri"/>
                        <a:ea typeface="Calibri"/>
                        <a:cs typeface="Times New Roman"/>
                      </a:endParaRPr>
                    </a:p>
                  </a:txBody>
                  <a:tcPr marL="8749" marR="8749" marT="8749"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IN" sz="1400">
                          <a:effectLst/>
                        </a:rPr>
                        <a:t>K</a:t>
                      </a:r>
                      <a:endParaRPr lang="en-IN" sz="1400">
                        <a:effectLst/>
                        <a:latin typeface="Calibri"/>
                        <a:ea typeface="Calibri"/>
                        <a:cs typeface="Times New Roman"/>
                      </a:endParaRPr>
                    </a:p>
                  </a:txBody>
                  <a:tcPr marL="8749" marR="8749" marT="8749"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12"/>
                  </a:ext>
                </a:extLst>
              </a:tr>
              <a:tr h="249859">
                <a:tc>
                  <a:txBody>
                    <a:bodyPr/>
                    <a:lstStyle/>
                    <a:p>
                      <a:pPr marL="0" marR="0">
                        <a:lnSpc>
                          <a:spcPct val="107000"/>
                        </a:lnSpc>
                        <a:spcBef>
                          <a:spcPts val="0"/>
                        </a:spcBef>
                        <a:spcAft>
                          <a:spcPts val="800"/>
                        </a:spcAft>
                      </a:pPr>
                      <a:r>
                        <a:rPr lang="en-IN" sz="1400">
                          <a:effectLst/>
                        </a:rPr>
                        <a:t>Methionine</a:t>
                      </a:r>
                      <a:endParaRPr lang="en-IN" sz="1400">
                        <a:effectLst/>
                        <a:latin typeface="Calibri"/>
                        <a:ea typeface="Calibri"/>
                        <a:cs typeface="Times New Roman"/>
                      </a:endParaRPr>
                    </a:p>
                  </a:txBody>
                  <a:tcPr marL="8749" marR="8749" marT="8749"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IN" sz="1400">
                          <a:effectLst/>
                        </a:rPr>
                        <a:t>Met</a:t>
                      </a:r>
                      <a:endParaRPr lang="en-IN" sz="1400">
                        <a:effectLst/>
                        <a:latin typeface="Calibri"/>
                        <a:ea typeface="Calibri"/>
                        <a:cs typeface="Times New Roman"/>
                      </a:endParaRPr>
                    </a:p>
                  </a:txBody>
                  <a:tcPr marL="8749" marR="8749" marT="8749"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IN" sz="1400">
                          <a:effectLst/>
                        </a:rPr>
                        <a:t>M</a:t>
                      </a:r>
                      <a:endParaRPr lang="en-IN" sz="1400">
                        <a:effectLst/>
                        <a:latin typeface="Calibri"/>
                        <a:ea typeface="Calibri"/>
                        <a:cs typeface="Times New Roman"/>
                      </a:endParaRPr>
                    </a:p>
                  </a:txBody>
                  <a:tcPr marL="8749" marR="8749" marT="8749"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13"/>
                  </a:ext>
                </a:extLst>
              </a:tr>
              <a:tr h="249859">
                <a:tc>
                  <a:txBody>
                    <a:bodyPr/>
                    <a:lstStyle/>
                    <a:p>
                      <a:pPr marL="0" marR="0">
                        <a:lnSpc>
                          <a:spcPct val="107000"/>
                        </a:lnSpc>
                        <a:spcBef>
                          <a:spcPts val="0"/>
                        </a:spcBef>
                        <a:spcAft>
                          <a:spcPts val="800"/>
                        </a:spcAft>
                      </a:pPr>
                      <a:r>
                        <a:rPr lang="en-IN" sz="1400">
                          <a:effectLst/>
                        </a:rPr>
                        <a:t>Phenylalanine</a:t>
                      </a:r>
                      <a:endParaRPr lang="en-IN" sz="1400">
                        <a:effectLst/>
                        <a:latin typeface="Calibri"/>
                        <a:ea typeface="Calibri"/>
                        <a:cs typeface="Times New Roman"/>
                      </a:endParaRPr>
                    </a:p>
                  </a:txBody>
                  <a:tcPr marL="8749" marR="8749" marT="8749"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IN" sz="1400">
                          <a:effectLst/>
                        </a:rPr>
                        <a:t>Phe</a:t>
                      </a:r>
                      <a:endParaRPr lang="en-IN" sz="1400">
                        <a:effectLst/>
                        <a:latin typeface="Calibri"/>
                        <a:ea typeface="Calibri"/>
                        <a:cs typeface="Times New Roman"/>
                      </a:endParaRPr>
                    </a:p>
                  </a:txBody>
                  <a:tcPr marL="8749" marR="8749" marT="8749"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IN" sz="1400">
                          <a:effectLst/>
                        </a:rPr>
                        <a:t>F</a:t>
                      </a:r>
                      <a:endParaRPr lang="en-IN" sz="1400">
                        <a:effectLst/>
                        <a:latin typeface="Calibri"/>
                        <a:ea typeface="Calibri"/>
                        <a:cs typeface="Times New Roman"/>
                      </a:endParaRPr>
                    </a:p>
                  </a:txBody>
                  <a:tcPr marL="8749" marR="8749" marT="8749"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14"/>
                  </a:ext>
                </a:extLst>
              </a:tr>
              <a:tr h="249859">
                <a:tc>
                  <a:txBody>
                    <a:bodyPr/>
                    <a:lstStyle/>
                    <a:p>
                      <a:pPr marL="0" marR="0">
                        <a:lnSpc>
                          <a:spcPct val="107000"/>
                        </a:lnSpc>
                        <a:spcBef>
                          <a:spcPts val="0"/>
                        </a:spcBef>
                        <a:spcAft>
                          <a:spcPts val="800"/>
                        </a:spcAft>
                      </a:pPr>
                      <a:r>
                        <a:rPr lang="en-IN" sz="1400">
                          <a:effectLst/>
                        </a:rPr>
                        <a:t>Proline</a:t>
                      </a:r>
                      <a:endParaRPr lang="en-IN" sz="1400">
                        <a:effectLst/>
                        <a:latin typeface="Calibri"/>
                        <a:ea typeface="Calibri"/>
                        <a:cs typeface="Times New Roman"/>
                      </a:endParaRPr>
                    </a:p>
                  </a:txBody>
                  <a:tcPr marL="8749" marR="8749" marT="8749"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IN" sz="1400">
                          <a:effectLst/>
                        </a:rPr>
                        <a:t>Pro</a:t>
                      </a:r>
                      <a:endParaRPr lang="en-IN" sz="1400">
                        <a:effectLst/>
                        <a:latin typeface="Calibri"/>
                        <a:ea typeface="Calibri"/>
                        <a:cs typeface="Times New Roman"/>
                      </a:endParaRPr>
                    </a:p>
                  </a:txBody>
                  <a:tcPr marL="8749" marR="8749" marT="8749"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IN" sz="1400">
                          <a:effectLst/>
                        </a:rPr>
                        <a:t>P</a:t>
                      </a:r>
                      <a:endParaRPr lang="en-IN" sz="1400">
                        <a:effectLst/>
                        <a:latin typeface="Calibri"/>
                        <a:ea typeface="Calibri"/>
                        <a:cs typeface="Times New Roman"/>
                      </a:endParaRPr>
                    </a:p>
                  </a:txBody>
                  <a:tcPr marL="8749" marR="8749" marT="8749"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15"/>
                  </a:ext>
                </a:extLst>
              </a:tr>
              <a:tr h="249859">
                <a:tc>
                  <a:txBody>
                    <a:bodyPr/>
                    <a:lstStyle/>
                    <a:p>
                      <a:pPr marL="0" marR="0">
                        <a:lnSpc>
                          <a:spcPct val="107000"/>
                        </a:lnSpc>
                        <a:spcBef>
                          <a:spcPts val="0"/>
                        </a:spcBef>
                        <a:spcAft>
                          <a:spcPts val="800"/>
                        </a:spcAft>
                      </a:pPr>
                      <a:r>
                        <a:rPr lang="en-IN" sz="1400">
                          <a:effectLst/>
                        </a:rPr>
                        <a:t>Serine</a:t>
                      </a:r>
                      <a:endParaRPr lang="en-IN" sz="1400">
                        <a:effectLst/>
                        <a:latin typeface="Calibri"/>
                        <a:ea typeface="Calibri"/>
                        <a:cs typeface="Times New Roman"/>
                      </a:endParaRPr>
                    </a:p>
                  </a:txBody>
                  <a:tcPr marL="8749" marR="8749" marT="8749"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IN" sz="1400">
                          <a:effectLst/>
                        </a:rPr>
                        <a:t>Ser</a:t>
                      </a:r>
                      <a:endParaRPr lang="en-IN" sz="1400">
                        <a:effectLst/>
                        <a:latin typeface="Calibri"/>
                        <a:ea typeface="Calibri"/>
                        <a:cs typeface="Times New Roman"/>
                      </a:endParaRPr>
                    </a:p>
                  </a:txBody>
                  <a:tcPr marL="8749" marR="8749" marT="8749"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IN" sz="1400">
                          <a:effectLst/>
                        </a:rPr>
                        <a:t>S</a:t>
                      </a:r>
                      <a:endParaRPr lang="en-IN" sz="1400">
                        <a:effectLst/>
                        <a:latin typeface="Calibri"/>
                        <a:ea typeface="Calibri"/>
                        <a:cs typeface="Times New Roman"/>
                      </a:endParaRPr>
                    </a:p>
                  </a:txBody>
                  <a:tcPr marL="8749" marR="8749" marT="8749"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16"/>
                  </a:ext>
                </a:extLst>
              </a:tr>
              <a:tr h="249859">
                <a:tc>
                  <a:txBody>
                    <a:bodyPr/>
                    <a:lstStyle/>
                    <a:p>
                      <a:pPr marL="0" marR="0">
                        <a:lnSpc>
                          <a:spcPct val="107000"/>
                        </a:lnSpc>
                        <a:spcBef>
                          <a:spcPts val="0"/>
                        </a:spcBef>
                        <a:spcAft>
                          <a:spcPts val="800"/>
                        </a:spcAft>
                      </a:pPr>
                      <a:r>
                        <a:rPr lang="en-IN" sz="1400">
                          <a:effectLst/>
                        </a:rPr>
                        <a:t>Threonine</a:t>
                      </a:r>
                      <a:endParaRPr lang="en-IN" sz="1400">
                        <a:effectLst/>
                        <a:latin typeface="Calibri"/>
                        <a:ea typeface="Calibri"/>
                        <a:cs typeface="Times New Roman"/>
                      </a:endParaRPr>
                    </a:p>
                  </a:txBody>
                  <a:tcPr marL="8749" marR="8749" marT="8749"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IN" sz="1400">
                          <a:effectLst/>
                        </a:rPr>
                        <a:t>Thr</a:t>
                      </a:r>
                      <a:endParaRPr lang="en-IN" sz="1400">
                        <a:effectLst/>
                        <a:latin typeface="Calibri"/>
                        <a:ea typeface="Calibri"/>
                        <a:cs typeface="Times New Roman"/>
                      </a:endParaRPr>
                    </a:p>
                  </a:txBody>
                  <a:tcPr marL="8749" marR="8749" marT="8749"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IN" sz="1400">
                          <a:effectLst/>
                        </a:rPr>
                        <a:t>T</a:t>
                      </a:r>
                      <a:endParaRPr lang="en-IN" sz="1400">
                        <a:effectLst/>
                        <a:latin typeface="Calibri"/>
                        <a:ea typeface="Calibri"/>
                        <a:cs typeface="Times New Roman"/>
                      </a:endParaRPr>
                    </a:p>
                  </a:txBody>
                  <a:tcPr marL="8749" marR="8749" marT="8749"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17"/>
                  </a:ext>
                </a:extLst>
              </a:tr>
              <a:tr h="249859">
                <a:tc>
                  <a:txBody>
                    <a:bodyPr/>
                    <a:lstStyle/>
                    <a:p>
                      <a:pPr marL="0" marR="0">
                        <a:lnSpc>
                          <a:spcPct val="107000"/>
                        </a:lnSpc>
                        <a:spcBef>
                          <a:spcPts val="0"/>
                        </a:spcBef>
                        <a:spcAft>
                          <a:spcPts val="800"/>
                        </a:spcAft>
                      </a:pPr>
                      <a:r>
                        <a:rPr lang="en-IN" sz="1400">
                          <a:effectLst/>
                        </a:rPr>
                        <a:t>Tryptophan</a:t>
                      </a:r>
                      <a:endParaRPr lang="en-IN" sz="1400">
                        <a:effectLst/>
                        <a:latin typeface="Calibri"/>
                        <a:ea typeface="Calibri"/>
                        <a:cs typeface="Times New Roman"/>
                      </a:endParaRPr>
                    </a:p>
                  </a:txBody>
                  <a:tcPr marL="8749" marR="8749" marT="8749"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IN" sz="1400">
                          <a:effectLst/>
                        </a:rPr>
                        <a:t>Trp</a:t>
                      </a:r>
                      <a:endParaRPr lang="en-IN" sz="1400">
                        <a:effectLst/>
                        <a:latin typeface="Calibri"/>
                        <a:ea typeface="Calibri"/>
                        <a:cs typeface="Times New Roman"/>
                      </a:endParaRPr>
                    </a:p>
                  </a:txBody>
                  <a:tcPr marL="8749" marR="8749" marT="8749"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IN" sz="1400">
                          <a:effectLst/>
                        </a:rPr>
                        <a:t>W</a:t>
                      </a:r>
                      <a:endParaRPr lang="en-IN" sz="1400">
                        <a:effectLst/>
                        <a:latin typeface="Calibri"/>
                        <a:ea typeface="Calibri"/>
                        <a:cs typeface="Times New Roman"/>
                      </a:endParaRPr>
                    </a:p>
                  </a:txBody>
                  <a:tcPr marL="8749" marR="8749" marT="8749"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18"/>
                  </a:ext>
                </a:extLst>
              </a:tr>
              <a:tr h="249859">
                <a:tc>
                  <a:txBody>
                    <a:bodyPr/>
                    <a:lstStyle/>
                    <a:p>
                      <a:pPr marL="0" marR="0">
                        <a:lnSpc>
                          <a:spcPct val="107000"/>
                        </a:lnSpc>
                        <a:spcBef>
                          <a:spcPts val="0"/>
                        </a:spcBef>
                        <a:spcAft>
                          <a:spcPts val="800"/>
                        </a:spcAft>
                      </a:pPr>
                      <a:r>
                        <a:rPr lang="en-IN" sz="1400">
                          <a:effectLst/>
                        </a:rPr>
                        <a:t>Tyrosine</a:t>
                      </a:r>
                      <a:endParaRPr lang="en-IN" sz="1400">
                        <a:effectLst/>
                        <a:latin typeface="Calibri"/>
                        <a:ea typeface="Calibri"/>
                        <a:cs typeface="Times New Roman"/>
                      </a:endParaRPr>
                    </a:p>
                  </a:txBody>
                  <a:tcPr marL="8749" marR="8749" marT="8749"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IN" sz="1400">
                          <a:effectLst/>
                        </a:rPr>
                        <a:t>Tyr</a:t>
                      </a:r>
                      <a:endParaRPr lang="en-IN" sz="1400">
                        <a:effectLst/>
                        <a:latin typeface="Calibri"/>
                        <a:ea typeface="Calibri"/>
                        <a:cs typeface="Times New Roman"/>
                      </a:endParaRPr>
                    </a:p>
                  </a:txBody>
                  <a:tcPr marL="8749" marR="8749" marT="8749"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IN" sz="1400">
                          <a:effectLst/>
                        </a:rPr>
                        <a:t>Y</a:t>
                      </a:r>
                      <a:endParaRPr lang="en-IN" sz="1400">
                        <a:effectLst/>
                        <a:latin typeface="Calibri"/>
                        <a:ea typeface="Calibri"/>
                        <a:cs typeface="Times New Roman"/>
                      </a:endParaRPr>
                    </a:p>
                  </a:txBody>
                  <a:tcPr marL="8749" marR="8749" marT="8749"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19"/>
                  </a:ext>
                </a:extLst>
              </a:tr>
              <a:tr h="249859">
                <a:tc>
                  <a:txBody>
                    <a:bodyPr/>
                    <a:lstStyle/>
                    <a:p>
                      <a:pPr marL="0" marR="0">
                        <a:lnSpc>
                          <a:spcPct val="107000"/>
                        </a:lnSpc>
                        <a:spcBef>
                          <a:spcPts val="0"/>
                        </a:spcBef>
                        <a:spcAft>
                          <a:spcPts val="800"/>
                        </a:spcAft>
                      </a:pPr>
                      <a:r>
                        <a:rPr lang="en-IN" sz="1400" dirty="0">
                          <a:effectLst/>
                        </a:rPr>
                        <a:t>Valine</a:t>
                      </a:r>
                      <a:endParaRPr lang="en-IN" sz="1400" dirty="0">
                        <a:effectLst/>
                        <a:latin typeface="Calibri"/>
                        <a:ea typeface="Calibri"/>
                        <a:cs typeface="Times New Roman"/>
                      </a:endParaRPr>
                    </a:p>
                  </a:txBody>
                  <a:tcPr marL="8749" marR="8749" marT="8749"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12700"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IN" sz="1400" dirty="0">
                          <a:effectLst/>
                        </a:rPr>
                        <a:t>Val</a:t>
                      </a:r>
                      <a:endParaRPr lang="en-IN" sz="1400" dirty="0">
                        <a:effectLst/>
                        <a:latin typeface="Calibri"/>
                        <a:ea typeface="Calibri"/>
                        <a:cs typeface="Times New Roman"/>
                      </a:endParaRPr>
                    </a:p>
                  </a:txBody>
                  <a:tcPr marL="8749" marR="8749" marT="8749"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12700"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IN" sz="1400" dirty="0">
                          <a:effectLst/>
                        </a:rPr>
                        <a:t>V</a:t>
                      </a:r>
                      <a:endParaRPr lang="en-IN" sz="1400" dirty="0">
                        <a:effectLst/>
                        <a:latin typeface="Calibri"/>
                        <a:ea typeface="Calibri"/>
                        <a:cs typeface="Times New Roman"/>
                      </a:endParaRPr>
                    </a:p>
                  </a:txBody>
                  <a:tcPr marL="8749" marR="8749" marT="8749"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12700"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19869837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67322"/>
            <a:ext cx="8263784" cy="1107996"/>
          </a:xfrm>
        </p:spPr>
        <p:txBody>
          <a:bodyPr lIns="0" tIns="0" rIns="0" bIns="0" anchor="ctr">
            <a:spAutoFit/>
          </a:bodyPr>
          <a:lstStyle/>
          <a:p>
            <a:r>
              <a:rPr lang="en-US" sz="3600" dirty="0">
                <a:latin typeface="+mj-lt"/>
              </a:rPr>
              <a:t>The Polymers Are Polypeptides and Proteins</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541359"/>
            <a:ext cx="8263784" cy="1669688"/>
          </a:xfrm>
        </p:spPr>
        <p:txBody>
          <a:bodyPr lIns="0" tIns="0" rIns="0" bIns="0">
            <a:spAutoFit/>
          </a:bodyPr>
          <a:lstStyle/>
          <a:p>
            <a:pPr marL="347472" indent="-347472"/>
            <a:r>
              <a:rPr lang="en-US" altLang="en-US" sz="2400" dirty="0"/>
              <a:t>Amino acids are linked together stepwise into a linear polymer by </a:t>
            </a:r>
            <a:r>
              <a:rPr lang="en-US" altLang="en-US" sz="2400" i="1" dirty="0"/>
              <a:t>dehydration</a:t>
            </a:r>
            <a:r>
              <a:rPr lang="en-US" altLang="en-US" sz="2400" dirty="0"/>
              <a:t> (or </a:t>
            </a:r>
            <a:r>
              <a:rPr lang="en-US" altLang="en-US" sz="2400" i="1" dirty="0"/>
              <a:t>condensation</a:t>
            </a:r>
            <a:r>
              <a:rPr lang="en-US" altLang="en-US" sz="2400" dirty="0"/>
              <a:t>) </a:t>
            </a:r>
            <a:r>
              <a:rPr lang="en-US" altLang="en-US" sz="2400" i="1" dirty="0"/>
              <a:t>reactions.</a:t>
            </a:r>
          </a:p>
          <a:p>
            <a:pPr marL="347472" indent="-347472"/>
            <a:r>
              <a:rPr lang="en-US" altLang="en-US" sz="2400" dirty="0"/>
              <a:t>As the three atoms comprising the H</a:t>
            </a:r>
            <a:r>
              <a:rPr lang="en-US" altLang="en-US" sz="2400" baseline="-25000" dirty="0"/>
              <a:t>2</a:t>
            </a:r>
            <a:r>
              <a:rPr lang="en-US" altLang="en-US" sz="2400" dirty="0"/>
              <a:t>O are removed, a covalent C—N bond (a </a:t>
            </a:r>
            <a:r>
              <a:rPr lang="en-US" altLang="en-US" sz="2400" b="1" dirty="0"/>
              <a:t>peptide</a:t>
            </a:r>
            <a:r>
              <a:rPr lang="en-US" altLang="en-US" sz="2400" dirty="0"/>
              <a:t> </a:t>
            </a:r>
            <a:r>
              <a:rPr lang="en-US" altLang="en-US" sz="2400" b="1" dirty="0"/>
              <a:t>bond</a:t>
            </a:r>
            <a:r>
              <a:rPr lang="en-US" altLang="en-US" sz="2400" dirty="0"/>
              <a:t>) is formed.</a:t>
            </a:r>
          </a:p>
        </p:txBody>
      </p:sp>
    </p:spTree>
    <p:extLst>
      <p:ext uri="{BB962C8B-B14F-4D97-AF65-F5344CB8AC3E}">
        <p14:creationId xmlns:p14="http://schemas.microsoft.com/office/powerpoint/2010/main" val="39398466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68548"/>
            <a:ext cx="8263784" cy="553998"/>
          </a:xfrm>
        </p:spPr>
        <p:txBody>
          <a:bodyPr lIns="0" tIns="0" rIns="0" bIns="0" anchor="ctr">
            <a:spAutoFit/>
          </a:bodyPr>
          <a:lstStyle/>
          <a:p>
            <a:r>
              <a:rPr lang="en-US" sz="3600" dirty="0">
                <a:latin typeface="+mj-lt"/>
              </a:rPr>
              <a:t>Directionality of Polypeptides</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91416"/>
            <a:ext cx="8263784" cy="2600712"/>
          </a:xfrm>
        </p:spPr>
        <p:txBody>
          <a:bodyPr lIns="0" tIns="0" rIns="0" bIns="0">
            <a:spAutoFit/>
          </a:bodyPr>
          <a:lstStyle/>
          <a:p>
            <a:pPr marL="347472" indent="-347472"/>
            <a:r>
              <a:rPr lang="en-US" altLang="en-US" sz="2400" dirty="0"/>
              <a:t>Because of the way peptide bonds are formed, polypeptides have </a:t>
            </a:r>
            <a:r>
              <a:rPr lang="en-US" altLang="en-US" sz="2400" i="1" dirty="0"/>
              <a:t>directionality.</a:t>
            </a:r>
          </a:p>
          <a:p>
            <a:pPr marL="347472" indent="-347472"/>
            <a:r>
              <a:rPr lang="en-US" altLang="en-US" sz="2400" dirty="0"/>
              <a:t>The end with the amino group is called the </a:t>
            </a:r>
            <a:r>
              <a:rPr lang="en-US" altLang="en-US" sz="2400" b="1" dirty="0"/>
              <a:t>N-</a:t>
            </a:r>
            <a:r>
              <a:rPr lang="en-US" altLang="en-US" sz="2400" dirty="0"/>
              <a:t> (or </a:t>
            </a:r>
            <a:r>
              <a:rPr lang="en-US" altLang="en-US" sz="2400" b="1" dirty="0"/>
              <a:t>amino</a:t>
            </a:r>
            <a:r>
              <a:rPr lang="en-US" altLang="en-US" sz="2400" dirty="0"/>
              <a:t>) </a:t>
            </a:r>
            <a:r>
              <a:rPr lang="en-US" altLang="en-US" sz="2400" b="1" dirty="0"/>
              <a:t>terminus</a:t>
            </a:r>
            <a:r>
              <a:rPr lang="en-US" altLang="en-US" sz="2400" dirty="0"/>
              <a:t>.</a:t>
            </a:r>
          </a:p>
          <a:p>
            <a:pPr marL="347472" indent="-347472"/>
            <a:r>
              <a:rPr lang="en-US" altLang="en-US" sz="2400" dirty="0"/>
              <a:t>The end with the carboxyl group is called the </a:t>
            </a:r>
            <a:r>
              <a:rPr lang="en-US" altLang="en-US" sz="2400" b="1" dirty="0"/>
              <a:t>C-</a:t>
            </a:r>
            <a:r>
              <a:rPr lang="en-US" altLang="en-US" sz="2400" dirty="0"/>
              <a:t> (or </a:t>
            </a:r>
            <a:r>
              <a:rPr lang="en-US" altLang="en-US" sz="2400" b="1" dirty="0"/>
              <a:t>carboxyl</a:t>
            </a:r>
            <a:r>
              <a:rPr lang="en-US" altLang="en-US" sz="2400" dirty="0"/>
              <a:t>) </a:t>
            </a:r>
            <a:r>
              <a:rPr lang="en-US" altLang="en-US" sz="2400" b="1" dirty="0"/>
              <a:t>terminus</a:t>
            </a:r>
            <a:r>
              <a:rPr lang="en-US" altLang="en-US" sz="2400" dirty="0"/>
              <a:t>.</a:t>
            </a:r>
          </a:p>
        </p:txBody>
      </p:sp>
    </p:spTree>
    <p:extLst>
      <p:ext uri="{BB962C8B-B14F-4D97-AF65-F5344CB8AC3E}">
        <p14:creationId xmlns:p14="http://schemas.microsoft.com/office/powerpoint/2010/main" val="32922772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19100" y="176901"/>
            <a:ext cx="8267700" cy="553998"/>
          </a:xfrm>
        </p:spPr>
        <p:txBody>
          <a:bodyPr wrap="square" lIns="0" tIns="0" rIns="0" bIns="0" anchor="ctr">
            <a:spAutoFit/>
          </a:bodyPr>
          <a:lstStyle/>
          <a:p>
            <a:r>
              <a:rPr lang="en-US" dirty="0"/>
              <a:t>Peptide Bond Formation</a:t>
            </a:r>
          </a:p>
        </p:txBody>
      </p:sp>
      <p:sp>
        <p:nvSpPr>
          <p:cNvPr id="6" name="Content Placeholder 5"/>
          <p:cNvSpPr>
            <a:spLocks noGrp="1"/>
          </p:cNvSpPr>
          <p:nvPr>
            <p:ph sz="quarter" idx="13"/>
          </p:nvPr>
        </p:nvSpPr>
        <p:spPr>
          <a:xfrm>
            <a:off x="442452" y="1094661"/>
            <a:ext cx="3337978" cy="738664"/>
          </a:xfrm>
        </p:spPr>
        <p:txBody>
          <a:bodyPr wrap="square" lIns="0" tIns="0" rIns="0" bIns="0">
            <a:spAutoFit/>
          </a:bodyPr>
          <a:lstStyle/>
          <a:p>
            <a:pPr marL="0" indent="0">
              <a:buNone/>
            </a:pPr>
            <a:r>
              <a:rPr lang="en-US" sz="2400" b="1" dirty="0"/>
              <a:t>Figure 3.3</a:t>
            </a:r>
            <a:r>
              <a:rPr lang="en-US" sz="2400" dirty="0"/>
              <a:t> Peptide Bond Formation.</a:t>
            </a:r>
          </a:p>
        </p:txBody>
      </p:sp>
      <p:pic>
        <p:nvPicPr>
          <p:cNvPr id="7" name="Picture Placeholder 6" descr="Ball-and-stick model shows the formation of a peptide bond between the amino acids glycine and alanine.&#10;Long description is available in notes, press F6">
            <a:extLst>
              <a:ext uri="{FF2B5EF4-FFF2-40B4-BE49-F238E27FC236}">
                <a16:creationId xmlns:a16="http://schemas.microsoft.com/office/drawing/2014/main" id="{5C0F211D-0700-417D-94A0-D1BDC397DE76}"/>
              </a:ext>
            </a:extLst>
          </p:cNvPr>
          <p:cNvPicPr>
            <a:picLocks noGrp="1" noChangeAspect="1"/>
          </p:cNvPicPr>
          <p:nvPr>
            <p:ph type="pic" sz="quarter" idx="14"/>
          </p:nvPr>
        </p:nvPicPr>
        <p:blipFill rotWithShape="1">
          <a:blip r:embed="rId3"/>
          <a:srcRect b="2449"/>
          <a:stretch/>
        </p:blipFill>
        <p:spPr>
          <a:xfrm>
            <a:off x="3975058" y="1082717"/>
            <a:ext cx="4711526" cy="5191219"/>
          </a:xfrm>
          <a:prstGeom prst="rect">
            <a:avLst/>
          </a:prstGeom>
        </p:spPr>
      </p:pic>
    </p:spTree>
    <p:extLst>
      <p:ext uri="{BB962C8B-B14F-4D97-AF65-F5344CB8AC3E}">
        <p14:creationId xmlns:p14="http://schemas.microsoft.com/office/powerpoint/2010/main" val="20977522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68548"/>
            <a:ext cx="8263784" cy="553998"/>
          </a:xfrm>
        </p:spPr>
        <p:txBody>
          <a:bodyPr lIns="0" tIns="0" rIns="0" bIns="0" anchor="ctr">
            <a:spAutoFit/>
          </a:bodyPr>
          <a:lstStyle/>
          <a:p>
            <a:r>
              <a:rPr lang="en-US" sz="3600" dirty="0">
                <a:latin typeface="+mj-lt"/>
              </a:rPr>
              <a:t>Proteins and Polypeptides </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91416"/>
            <a:ext cx="8263784" cy="2970044"/>
          </a:xfrm>
        </p:spPr>
        <p:txBody>
          <a:bodyPr wrap="square" lIns="0" tIns="0" rIns="0" bIns="0">
            <a:spAutoFit/>
          </a:bodyPr>
          <a:lstStyle/>
          <a:p>
            <a:pPr marL="347472" indent="-347472"/>
            <a:r>
              <a:rPr lang="en-US" altLang="en-US" sz="2400" dirty="0"/>
              <a:t>The process of elongating a chain of amino acids is called </a:t>
            </a:r>
            <a:r>
              <a:rPr lang="en-US" altLang="en-US" sz="2400" i="1" dirty="0"/>
              <a:t>protein</a:t>
            </a:r>
            <a:r>
              <a:rPr lang="en-US" altLang="en-US" sz="2400" dirty="0"/>
              <a:t> </a:t>
            </a:r>
            <a:r>
              <a:rPr lang="en-US" altLang="en-US" sz="2400" i="1" dirty="0"/>
              <a:t>synthesis.</a:t>
            </a:r>
          </a:p>
          <a:p>
            <a:pPr marL="347472" indent="-347472"/>
            <a:r>
              <a:rPr lang="en-US" altLang="en-US" sz="2400" dirty="0"/>
              <a:t>However, the immediate product of amino acid polymerization is a </a:t>
            </a:r>
            <a:r>
              <a:rPr lang="en-US" altLang="en-US" sz="2400" b="1" dirty="0"/>
              <a:t>polypeptide</a:t>
            </a:r>
            <a:r>
              <a:rPr lang="en-US" altLang="en-US" sz="2400" dirty="0"/>
              <a:t>.</a:t>
            </a:r>
          </a:p>
          <a:p>
            <a:pPr marL="347472" indent="-347472"/>
            <a:r>
              <a:rPr lang="en-US" altLang="en-US" sz="2400" dirty="0"/>
              <a:t>A polypeptide does not become a protein until it has assumed a unique, stable, three-dimensional shape and is biologically active.</a:t>
            </a:r>
          </a:p>
        </p:txBody>
      </p:sp>
    </p:spTree>
    <p:extLst>
      <p:ext uri="{BB962C8B-B14F-4D97-AF65-F5344CB8AC3E}">
        <p14:creationId xmlns:p14="http://schemas.microsoft.com/office/powerpoint/2010/main" val="18446373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68548"/>
            <a:ext cx="8263784" cy="553998"/>
          </a:xfrm>
        </p:spPr>
        <p:txBody>
          <a:bodyPr lIns="0" tIns="0" rIns="0" bIns="0" anchor="ctr">
            <a:spAutoFit/>
          </a:bodyPr>
          <a:lstStyle/>
          <a:p>
            <a:r>
              <a:rPr lang="en-US" sz="3600" dirty="0">
                <a:latin typeface="+mj-lt"/>
              </a:rPr>
              <a:t>Monomeric and Multimeric Proteins </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91416"/>
            <a:ext cx="8263784" cy="2970044"/>
          </a:xfrm>
        </p:spPr>
        <p:txBody>
          <a:bodyPr wrap="square" lIns="0" tIns="0" rIns="0" bIns="0">
            <a:spAutoFit/>
          </a:bodyPr>
          <a:lstStyle/>
          <a:p>
            <a:pPr marL="347472" indent="-347472"/>
            <a:r>
              <a:rPr lang="en-US" altLang="en-US" sz="2400" dirty="0"/>
              <a:t>Proteins that consist of a single polypeptide are </a:t>
            </a:r>
            <a:r>
              <a:rPr lang="en-US" altLang="en-US" sz="2400" b="1" dirty="0"/>
              <a:t>monomeric</a:t>
            </a:r>
            <a:r>
              <a:rPr lang="en-US" altLang="en-US" sz="2400" dirty="0"/>
              <a:t> </a:t>
            </a:r>
            <a:r>
              <a:rPr lang="en-US" altLang="en-US" sz="2400" b="1" dirty="0"/>
              <a:t>proteins</a:t>
            </a:r>
            <a:r>
              <a:rPr lang="en-US" altLang="en-US" sz="2400" dirty="0"/>
              <a:t>, whereas </a:t>
            </a:r>
            <a:r>
              <a:rPr lang="en-US" altLang="en-US" sz="2400" b="1" dirty="0"/>
              <a:t>multimeric</a:t>
            </a:r>
            <a:r>
              <a:rPr lang="en-US" altLang="en-US" sz="2400" dirty="0"/>
              <a:t> </a:t>
            </a:r>
            <a:r>
              <a:rPr lang="en-US" altLang="en-US" sz="2400" b="1" dirty="0"/>
              <a:t>proteins</a:t>
            </a:r>
            <a:r>
              <a:rPr lang="en-US" altLang="en-US" sz="2400" dirty="0"/>
              <a:t> consist of two or more polypeptides.</a:t>
            </a:r>
          </a:p>
          <a:p>
            <a:pPr marL="347472" indent="-347472"/>
            <a:r>
              <a:rPr lang="en-US" altLang="en-US" sz="2400" dirty="0"/>
              <a:t>Proteins consisting of two or three polypeptides are called </a:t>
            </a:r>
            <a:r>
              <a:rPr lang="en-US" altLang="en-US" sz="2400" i="1" dirty="0"/>
              <a:t>dimers</a:t>
            </a:r>
            <a:r>
              <a:rPr lang="en-US" altLang="en-US" sz="2400" dirty="0"/>
              <a:t> or </a:t>
            </a:r>
            <a:r>
              <a:rPr lang="en-US" altLang="en-US" sz="2400" i="1" dirty="0"/>
              <a:t>trimers</a:t>
            </a:r>
            <a:r>
              <a:rPr lang="en-US" altLang="en-US" sz="2400" dirty="0"/>
              <a:t>, respectively.</a:t>
            </a:r>
          </a:p>
          <a:p>
            <a:pPr marL="347472" indent="-347472"/>
            <a:r>
              <a:rPr lang="en-US" altLang="en-US" sz="2400" dirty="0"/>
              <a:t>Hemoglobin is a </a:t>
            </a:r>
            <a:r>
              <a:rPr lang="en-US" altLang="en-US" sz="2400" i="1" dirty="0"/>
              <a:t>tetramer</a:t>
            </a:r>
            <a:r>
              <a:rPr lang="en-US" altLang="en-US" sz="2400" dirty="0"/>
              <a:t>, consisting of two </a:t>
            </a:r>
            <a:r>
              <a:rPr lang="el-GR" altLang="en-US" sz="2400" i="1" dirty="0">
                <a:latin typeface="Arial" panose="020B0604020202020204" pitchFamily="34" charset="0"/>
                <a:cs typeface="Arial" panose="020B0604020202020204" pitchFamily="34" charset="0"/>
                <a:sym typeface="Symbol" panose="05050102010706020507" pitchFamily="18" charset="2"/>
              </a:rPr>
              <a:t>α</a:t>
            </a:r>
            <a:r>
              <a:rPr lang="en-US" altLang="en-US" sz="2400" dirty="0"/>
              <a:t> subunits and two </a:t>
            </a:r>
            <a:r>
              <a:rPr lang="el-GR" altLang="en-US" sz="2400" i="1" dirty="0">
                <a:latin typeface="Times New Roman" panose="02020603050405020304" pitchFamily="18" charset="0"/>
                <a:cs typeface="Times New Roman" panose="02020603050405020304" pitchFamily="18" charset="0"/>
                <a:sym typeface="Symbol" panose="05050102010706020507" pitchFamily="18" charset="2"/>
              </a:rPr>
              <a:t>β</a:t>
            </a:r>
            <a:r>
              <a:rPr lang="en-US" altLang="en-US" sz="2400" dirty="0"/>
              <a:t> subunits.</a:t>
            </a:r>
          </a:p>
        </p:txBody>
      </p:sp>
    </p:spTree>
    <p:extLst>
      <p:ext uri="{BB962C8B-B14F-4D97-AF65-F5344CB8AC3E}">
        <p14:creationId xmlns:p14="http://schemas.microsoft.com/office/powerpoint/2010/main" val="6821387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19100" y="176901"/>
            <a:ext cx="8267700" cy="553998"/>
          </a:xfrm>
        </p:spPr>
        <p:txBody>
          <a:bodyPr wrap="square" lIns="0" tIns="0" rIns="0" bIns="0" anchor="ctr">
            <a:spAutoFit/>
          </a:bodyPr>
          <a:lstStyle/>
          <a:p>
            <a:r>
              <a:rPr lang="en-US" dirty="0"/>
              <a:t>The Structure of Hemoglobin</a:t>
            </a:r>
          </a:p>
        </p:txBody>
      </p:sp>
      <p:sp>
        <p:nvSpPr>
          <p:cNvPr id="6" name="Content Placeholder 5"/>
          <p:cNvSpPr>
            <a:spLocks noGrp="1"/>
          </p:cNvSpPr>
          <p:nvPr>
            <p:ph sz="quarter" idx="13"/>
          </p:nvPr>
        </p:nvSpPr>
        <p:spPr>
          <a:xfrm>
            <a:off x="442451" y="1094661"/>
            <a:ext cx="8267699" cy="369332"/>
          </a:xfrm>
        </p:spPr>
        <p:txBody>
          <a:bodyPr wrap="square" lIns="0" tIns="0" rIns="0" bIns="0">
            <a:spAutoFit/>
          </a:bodyPr>
          <a:lstStyle/>
          <a:p>
            <a:pPr marL="0" indent="0">
              <a:buNone/>
            </a:pPr>
            <a:r>
              <a:rPr lang="en-US" sz="2400" b="1" dirty="0"/>
              <a:t>Figure 3.4</a:t>
            </a:r>
            <a:r>
              <a:rPr lang="en-US" sz="2400" dirty="0"/>
              <a:t> The Structure of Hemoglobin.</a:t>
            </a:r>
          </a:p>
        </p:txBody>
      </p:sp>
      <p:pic>
        <p:nvPicPr>
          <p:cNvPr id="8" name="Picture Placeholder 7" descr="Quaternary structure of a hemoglobin molecule is made of four polypeptide subunits in folded state. Two alpha subunits are at the bottom and two beta subunits are at the top. Each subunit has a heme group with an iron atom shown in red. &#10;">
            <a:extLst>
              <a:ext uri="{FF2B5EF4-FFF2-40B4-BE49-F238E27FC236}">
                <a16:creationId xmlns:a16="http://schemas.microsoft.com/office/drawing/2014/main" id="{135CA704-4047-48D7-B2C4-727406A2666F}"/>
              </a:ext>
            </a:extLst>
          </p:cNvPr>
          <p:cNvPicPr>
            <a:picLocks noGrp="1" noChangeAspect="1"/>
          </p:cNvPicPr>
          <p:nvPr>
            <p:ph type="pic" sz="quarter" idx="14"/>
          </p:nvPr>
        </p:nvPicPr>
        <p:blipFill rotWithShape="1">
          <a:blip r:embed="rId3"/>
          <a:srcRect b="2489"/>
          <a:stretch/>
        </p:blipFill>
        <p:spPr>
          <a:xfrm>
            <a:off x="2195569" y="2643328"/>
            <a:ext cx="4752863" cy="3669468"/>
          </a:xfrm>
          <a:prstGeom prst="rect">
            <a:avLst/>
          </a:prstGeom>
        </p:spPr>
      </p:pic>
    </p:spTree>
    <p:extLst>
      <p:ext uri="{BB962C8B-B14F-4D97-AF65-F5344CB8AC3E}">
        <p14:creationId xmlns:p14="http://schemas.microsoft.com/office/powerpoint/2010/main" val="27464235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66092"/>
            <a:ext cx="8263784" cy="1661993"/>
          </a:xfrm>
        </p:spPr>
        <p:txBody>
          <a:bodyPr lIns="0" tIns="0" rIns="0" bIns="0" anchor="ctr">
            <a:spAutoFit/>
          </a:bodyPr>
          <a:lstStyle/>
          <a:p>
            <a:r>
              <a:rPr lang="en-US" sz="3600" dirty="0">
                <a:latin typeface="+mj-lt"/>
              </a:rPr>
              <a:t>Several Kinds of Bonds and Interactions Are Important in Protein Folding and Stability</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2076000"/>
            <a:ext cx="8263784" cy="3339376"/>
          </a:xfrm>
        </p:spPr>
        <p:txBody>
          <a:bodyPr wrap="square" lIns="0" tIns="0" rIns="0" bIns="0">
            <a:spAutoFit/>
          </a:bodyPr>
          <a:lstStyle/>
          <a:p>
            <a:pPr marL="347472" indent="-347472"/>
            <a:r>
              <a:rPr lang="en-US" altLang="en-US" sz="2400" dirty="0"/>
              <a:t>Both covalent bonds and noncovalent interactions are needed for a protein to adopt its proper shape, or </a:t>
            </a:r>
            <a:r>
              <a:rPr lang="en-US" altLang="en-US" sz="2400" b="1" dirty="0"/>
              <a:t>conformation</a:t>
            </a:r>
            <a:r>
              <a:rPr lang="en-US" altLang="en-US" sz="2400" dirty="0"/>
              <a:t>.</a:t>
            </a:r>
          </a:p>
          <a:p>
            <a:pPr marL="347472" indent="-347472"/>
            <a:r>
              <a:rPr lang="en-US" altLang="en-US" sz="2400" dirty="0"/>
              <a:t>These same bonds and interactions are required for polypeptides to form multimeric proteins.</a:t>
            </a:r>
          </a:p>
          <a:p>
            <a:pPr marL="347472" indent="-347472"/>
            <a:r>
              <a:rPr lang="en-US" altLang="en-US" sz="2400" dirty="0"/>
              <a:t>The interactions involve carboxyl, amino, and R groups of the amino acids, called </a:t>
            </a:r>
            <a:r>
              <a:rPr lang="en-US" altLang="en-US" sz="2400" i="1" dirty="0"/>
              <a:t>amino</a:t>
            </a:r>
            <a:r>
              <a:rPr lang="en-US" altLang="en-US" sz="2400" dirty="0"/>
              <a:t> </a:t>
            </a:r>
            <a:r>
              <a:rPr lang="en-US" altLang="en-US" sz="2400" i="1" dirty="0"/>
              <a:t>acid</a:t>
            </a:r>
            <a:r>
              <a:rPr lang="en-US" altLang="en-US" sz="2400" dirty="0"/>
              <a:t> </a:t>
            </a:r>
            <a:r>
              <a:rPr lang="en-US" altLang="en-US" sz="2400" i="1" dirty="0"/>
              <a:t>residues</a:t>
            </a:r>
            <a:r>
              <a:rPr lang="en-US" altLang="en-US" sz="2400" dirty="0"/>
              <a:t> once incorporated into a polypeptide.</a:t>
            </a:r>
          </a:p>
        </p:txBody>
      </p:sp>
    </p:spTree>
    <p:extLst>
      <p:ext uri="{BB962C8B-B14F-4D97-AF65-F5344CB8AC3E}">
        <p14:creationId xmlns:p14="http://schemas.microsoft.com/office/powerpoint/2010/main" val="25295104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19100" y="175672"/>
            <a:ext cx="8267700" cy="1107996"/>
          </a:xfrm>
        </p:spPr>
        <p:txBody>
          <a:bodyPr wrap="square" lIns="0" tIns="0" rIns="0" bIns="0" anchor="ctr">
            <a:spAutoFit/>
          </a:bodyPr>
          <a:lstStyle/>
          <a:p>
            <a:r>
              <a:rPr lang="en-US" dirty="0"/>
              <a:t>Bonds and Interactions Involved in Protein Folding and Stability</a:t>
            </a:r>
          </a:p>
        </p:txBody>
      </p:sp>
      <p:sp>
        <p:nvSpPr>
          <p:cNvPr id="6" name="Content Placeholder 5"/>
          <p:cNvSpPr>
            <a:spLocks noGrp="1"/>
          </p:cNvSpPr>
          <p:nvPr>
            <p:ph sz="quarter" idx="13"/>
          </p:nvPr>
        </p:nvSpPr>
        <p:spPr>
          <a:xfrm>
            <a:off x="442451" y="1544603"/>
            <a:ext cx="3425026" cy="1477328"/>
          </a:xfrm>
        </p:spPr>
        <p:txBody>
          <a:bodyPr wrap="square" lIns="0" tIns="0" rIns="0" bIns="0">
            <a:spAutoFit/>
          </a:bodyPr>
          <a:lstStyle/>
          <a:p>
            <a:pPr marL="0" indent="0">
              <a:buNone/>
            </a:pPr>
            <a:r>
              <a:rPr lang="en-US" sz="2400" b="1" dirty="0"/>
              <a:t>Figure 3.5</a:t>
            </a:r>
            <a:r>
              <a:rPr lang="en-US" sz="2400" dirty="0"/>
              <a:t> Bonds and Interactions Involved in Protein Folding and Stability.</a:t>
            </a:r>
          </a:p>
        </p:txBody>
      </p:sp>
      <p:pic>
        <p:nvPicPr>
          <p:cNvPr id="7" name="Picture Placeholder 6" descr="Bonds that stabilize a folded polypeptide backbone. &#10;Long description is available in notes, press F6">
            <a:extLst>
              <a:ext uri="{FF2B5EF4-FFF2-40B4-BE49-F238E27FC236}">
                <a16:creationId xmlns:a16="http://schemas.microsoft.com/office/drawing/2014/main" id="{86F8811C-7658-40B3-BC1D-D2D650A1AC72}"/>
              </a:ext>
            </a:extLst>
          </p:cNvPr>
          <p:cNvPicPr>
            <a:picLocks noGrp="1" noChangeAspect="1"/>
          </p:cNvPicPr>
          <p:nvPr>
            <p:ph type="pic" sz="quarter" idx="14"/>
          </p:nvPr>
        </p:nvPicPr>
        <p:blipFill rotWithShape="1">
          <a:blip r:embed="rId3"/>
          <a:srcRect b="1993"/>
          <a:stretch/>
        </p:blipFill>
        <p:spPr>
          <a:xfrm>
            <a:off x="4079626" y="1535603"/>
            <a:ext cx="4572160" cy="4452031"/>
          </a:xfrm>
          <a:prstGeom prst="rect">
            <a:avLst/>
          </a:prstGeom>
        </p:spPr>
      </p:pic>
    </p:spTree>
    <p:extLst>
      <p:ext uri="{BB962C8B-B14F-4D97-AF65-F5344CB8AC3E}">
        <p14:creationId xmlns:p14="http://schemas.microsoft.com/office/powerpoint/2010/main" val="11852822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68546"/>
            <a:ext cx="8263784" cy="553998"/>
          </a:xfrm>
        </p:spPr>
        <p:txBody>
          <a:bodyPr lIns="0" tIns="0" rIns="0" bIns="0" anchor="ctr">
            <a:spAutoFit/>
          </a:bodyPr>
          <a:lstStyle/>
          <a:p>
            <a:r>
              <a:rPr lang="en-US" sz="3600" dirty="0">
                <a:latin typeface="+mj-lt"/>
              </a:rPr>
              <a:t>Disulfide Bonds</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91414"/>
            <a:ext cx="8263784" cy="2970044"/>
          </a:xfrm>
        </p:spPr>
        <p:txBody>
          <a:bodyPr wrap="square" lIns="0" tIns="0" rIns="0" bIns="0">
            <a:spAutoFit/>
          </a:bodyPr>
          <a:lstStyle/>
          <a:p>
            <a:pPr marL="347472" indent="-347472"/>
            <a:r>
              <a:rPr lang="en-US" altLang="en-US" sz="2400" dirty="0"/>
              <a:t>Covalent </a:t>
            </a:r>
            <a:r>
              <a:rPr lang="en-US" altLang="en-US" sz="2400" b="1" dirty="0"/>
              <a:t>disulfide</a:t>
            </a:r>
            <a:r>
              <a:rPr lang="en-US" altLang="en-US" sz="2400" dirty="0"/>
              <a:t> </a:t>
            </a:r>
            <a:r>
              <a:rPr lang="en-US" altLang="en-US" sz="2400" b="1" dirty="0"/>
              <a:t>bonds</a:t>
            </a:r>
            <a:r>
              <a:rPr lang="en-US" altLang="en-US" sz="2400" dirty="0"/>
              <a:t> form between the sulfur atoms of two cysteine residues.</a:t>
            </a:r>
          </a:p>
          <a:p>
            <a:pPr marL="347472" indent="-347472"/>
            <a:r>
              <a:rPr lang="en-US" altLang="en-US" sz="2400" dirty="0"/>
              <a:t>They form through the removal of two hydrogen ions (oxidation) and can be broken only by the addition of two hydrogens (reduction).</a:t>
            </a:r>
          </a:p>
          <a:p>
            <a:pPr marL="347472" indent="-347472"/>
            <a:r>
              <a:rPr lang="en-US" altLang="en-US" sz="2400" dirty="0"/>
              <a:t>Once formed, disulfide bonds confer considerable stability to the protein conformation. </a:t>
            </a:r>
          </a:p>
        </p:txBody>
      </p:sp>
    </p:spTree>
    <p:extLst>
      <p:ext uri="{BB962C8B-B14F-4D97-AF65-F5344CB8AC3E}">
        <p14:creationId xmlns:p14="http://schemas.microsoft.com/office/powerpoint/2010/main" val="34231832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68546"/>
            <a:ext cx="8263784" cy="553998"/>
          </a:xfrm>
        </p:spPr>
        <p:txBody>
          <a:bodyPr lIns="0" tIns="0" rIns="0" bIns="0" anchor="ctr">
            <a:spAutoFit/>
          </a:bodyPr>
          <a:lstStyle/>
          <a:p>
            <a:r>
              <a:rPr lang="en-US" sz="3600" dirty="0">
                <a:latin typeface="+mj-lt"/>
              </a:rPr>
              <a:t>Categories of Disulfide Bonds</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91414"/>
            <a:ext cx="8263784" cy="2231380"/>
          </a:xfrm>
        </p:spPr>
        <p:txBody>
          <a:bodyPr wrap="square" lIns="0" tIns="0" rIns="0" bIns="0">
            <a:spAutoFit/>
          </a:bodyPr>
          <a:lstStyle/>
          <a:p>
            <a:pPr marL="347472" indent="-347472"/>
            <a:r>
              <a:rPr lang="en-US" altLang="en-US" sz="2400" i="1" dirty="0"/>
              <a:t>Intramolecular disulfide bonds</a:t>
            </a:r>
            <a:r>
              <a:rPr lang="en-US" altLang="en-US" sz="2400" dirty="0"/>
              <a:t> form between cysteines in the same polypeptide.</a:t>
            </a:r>
          </a:p>
          <a:p>
            <a:pPr marL="347472" indent="-347472"/>
            <a:r>
              <a:rPr lang="en-US" altLang="en-US" sz="2400" i="1" dirty="0"/>
              <a:t>Intermolecular disulfide bonds</a:t>
            </a:r>
            <a:r>
              <a:rPr lang="en-US" altLang="en-US" sz="2400" dirty="0"/>
              <a:t> form between cysteines in two different polypeptides.</a:t>
            </a:r>
          </a:p>
          <a:p>
            <a:pPr marL="347472" indent="-347472"/>
            <a:r>
              <a:rPr lang="en-US" altLang="en-US" sz="2400" dirty="0"/>
              <a:t>They link the two polypeptides together.</a:t>
            </a:r>
          </a:p>
        </p:txBody>
      </p:sp>
    </p:spTree>
    <p:extLst>
      <p:ext uri="{BB962C8B-B14F-4D97-AF65-F5344CB8AC3E}">
        <p14:creationId xmlns:p14="http://schemas.microsoft.com/office/powerpoint/2010/main" val="10708301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68546"/>
            <a:ext cx="8263784" cy="553998"/>
          </a:xfrm>
        </p:spPr>
        <p:txBody>
          <a:bodyPr lIns="0" tIns="0" rIns="0" bIns="0" anchor="ctr">
            <a:spAutoFit/>
          </a:bodyPr>
          <a:lstStyle/>
          <a:p>
            <a:r>
              <a:rPr lang="en-US" sz="3600" dirty="0">
                <a:latin typeface="+mj-lt"/>
              </a:rPr>
              <a:t>Noncovalent Bonds and Interactions</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91414"/>
            <a:ext cx="8263784" cy="2408352"/>
          </a:xfrm>
        </p:spPr>
        <p:txBody>
          <a:bodyPr wrap="square" lIns="0" tIns="0" rIns="0" bIns="0">
            <a:spAutoFit/>
          </a:bodyPr>
          <a:lstStyle/>
          <a:p>
            <a:pPr marL="347472" indent="-347472"/>
            <a:r>
              <a:rPr lang="en-US" altLang="en-US" sz="2400" b="1" dirty="0"/>
              <a:t>Noncovalent bonds and interactions</a:t>
            </a:r>
            <a:r>
              <a:rPr lang="en-US" altLang="en-US" sz="2400" dirty="0"/>
              <a:t> include </a:t>
            </a:r>
            <a:r>
              <a:rPr lang="en-US" altLang="en-US" sz="2400" i="1" dirty="0"/>
              <a:t>hydrogen bonds, ionic bonds, van der Waals interactions,</a:t>
            </a:r>
            <a:r>
              <a:rPr lang="en-US" altLang="en-US" sz="2400" dirty="0"/>
              <a:t> and </a:t>
            </a:r>
            <a:r>
              <a:rPr lang="en-US" altLang="en-US" sz="2400" i="1" dirty="0"/>
              <a:t>hydrophobic</a:t>
            </a:r>
            <a:r>
              <a:rPr lang="en-US" altLang="en-US" sz="2400" dirty="0"/>
              <a:t> </a:t>
            </a:r>
            <a:r>
              <a:rPr lang="en-US" altLang="en-US" sz="2400" i="1" dirty="0"/>
              <a:t>interactions.</a:t>
            </a:r>
          </a:p>
          <a:p>
            <a:pPr marL="347472" indent="-347472"/>
            <a:r>
              <a:rPr lang="en-US" altLang="en-US" sz="2400" dirty="0"/>
              <a:t>These are individually weaker than covalent bonds but collectively can strongly influence protein structure and stability.</a:t>
            </a:r>
          </a:p>
        </p:txBody>
      </p:sp>
    </p:spTree>
    <p:extLst>
      <p:ext uri="{BB962C8B-B14F-4D97-AF65-F5344CB8AC3E}">
        <p14:creationId xmlns:p14="http://schemas.microsoft.com/office/powerpoint/2010/main" val="9433215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68546"/>
            <a:ext cx="8263784" cy="553998"/>
          </a:xfrm>
        </p:spPr>
        <p:txBody>
          <a:bodyPr lIns="0" tIns="0" rIns="0" bIns="0" anchor="ctr">
            <a:spAutoFit/>
          </a:bodyPr>
          <a:lstStyle/>
          <a:p>
            <a:r>
              <a:rPr lang="en-US" sz="3600" dirty="0">
                <a:latin typeface="+mj-lt"/>
              </a:rPr>
              <a:t>Hydrogen Bonds</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91414"/>
            <a:ext cx="8263784" cy="3339376"/>
          </a:xfrm>
        </p:spPr>
        <p:txBody>
          <a:bodyPr wrap="square" lIns="0" tIns="0" rIns="0" bIns="0">
            <a:spAutoFit/>
          </a:bodyPr>
          <a:lstStyle/>
          <a:p>
            <a:pPr marL="347472" indent="-347472"/>
            <a:r>
              <a:rPr lang="en-US" altLang="en-US" sz="2400" b="1" dirty="0"/>
              <a:t>Hydrogen</a:t>
            </a:r>
            <a:r>
              <a:rPr lang="en-US" altLang="en-US" sz="2400" dirty="0"/>
              <a:t> </a:t>
            </a:r>
            <a:r>
              <a:rPr lang="en-US" altLang="en-US" sz="2400" b="1" dirty="0"/>
              <a:t>bonds</a:t>
            </a:r>
            <a:r>
              <a:rPr lang="en-US" altLang="en-US" sz="2400" dirty="0"/>
              <a:t> form in water and between amino acids in a polypeptide chain via their R groups.</a:t>
            </a:r>
          </a:p>
          <a:p>
            <a:pPr marL="347472" indent="-347472"/>
            <a:r>
              <a:rPr lang="en-US" altLang="en-US" sz="2400" dirty="0"/>
              <a:t>Hydrogen bond </a:t>
            </a:r>
            <a:r>
              <a:rPr lang="en-US" altLang="en-US" sz="2400" i="1" dirty="0"/>
              <a:t>donors</a:t>
            </a:r>
            <a:r>
              <a:rPr lang="en-US" altLang="en-US" sz="2400" dirty="0"/>
              <a:t> (e.g., hydroxyl or amino groups) have hydrogen atoms covalently linked to more electronegative atoms.</a:t>
            </a:r>
          </a:p>
          <a:p>
            <a:pPr marL="347472" indent="-347472"/>
            <a:r>
              <a:rPr lang="en-US" altLang="en-US" sz="2400" dirty="0"/>
              <a:t>Hydrogen bond </a:t>
            </a:r>
            <a:r>
              <a:rPr lang="en-US" altLang="en-US" sz="2400" i="1" dirty="0"/>
              <a:t>acceptors</a:t>
            </a:r>
            <a:r>
              <a:rPr lang="en-US" altLang="en-US" sz="2400" dirty="0"/>
              <a:t> (e.g., carbonyl or sulfhydryl groups) have an electronegative atom that attracts the donor hydrogen.</a:t>
            </a:r>
          </a:p>
        </p:txBody>
      </p:sp>
    </p:spTree>
    <p:extLst>
      <p:ext uri="{BB962C8B-B14F-4D97-AF65-F5344CB8AC3E}">
        <p14:creationId xmlns:p14="http://schemas.microsoft.com/office/powerpoint/2010/main" val="23477546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68546"/>
            <a:ext cx="8263784" cy="553998"/>
          </a:xfrm>
        </p:spPr>
        <p:txBody>
          <a:bodyPr lIns="0" tIns="0" rIns="0" bIns="0" anchor="ctr">
            <a:spAutoFit/>
          </a:bodyPr>
          <a:lstStyle/>
          <a:p>
            <a:r>
              <a:rPr lang="en-US" sz="3600" dirty="0">
                <a:latin typeface="+mj-lt"/>
              </a:rPr>
              <a:t>Ionic Bonds</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91414"/>
            <a:ext cx="8263784" cy="2600712"/>
          </a:xfrm>
        </p:spPr>
        <p:txBody>
          <a:bodyPr wrap="square" lIns="0" tIns="0" rIns="0" bIns="0">
            <a:spAutoFit/>
          </a:bodyPr>
          <a:lstStyle/>
          <a:p>
            <a:pPr marL="347472" indent="-347472"/>
            <a:r>
              <a:rPr lang="en-US" altLang="en-US" sz="2400" b="1" dirty="0"/>
              <a:t>Ionic bonds</a:t>
            </a:r>
            <a:r>
              <a:rPr lang="en-US" altLang="en-US" sz="2400" dirty="0">
                <a:solidFill>
                  <a:schemeClr val="tx1"/>
                </a:solidFill>
              </a:rPr>
              <a:t>,</a:t>
            </a:r>
            <a:r>
              <a:rPr lang="en-US" altLang="en-US" sz="2400" dirty="0"/>
              <a:t> or </a:t>
            </a:r>
            <a:r>
              <a:rPr lang="en-US" altLang="en-US" sz="2400" i="1" dirty="0"/>
              <a:t>electrostatic interactions,</a:t>
            </a:r>
            <a:r>
              <a:rPr lang="en-US" altLang="en-US" sz="2400" dirty="0"/>
              <a:t> form between positively and negatively charged R groups.</a:t>
            </a:r>
          </a:p>
          <a:p>
            <a:pPr marL="347472" indent="-347472"/>
            <a:r>
              <a:rPr lang="en-US" altLang="en-US" sz="2400" dirty="0"/>
              <a:t>They exert attractive forces over longer distances than some of the other noncovalent interactions.</a:t>
            </a:r>
          </a:p>
          <a:p>
            <a:pPr marL="347472" indent="-347472"/>
            <a:r>
              <a:rPr lang="en-US" altLang="en-US" sz="2400" dirty="0"/>
              <a:t>Because they depend on the charge on the R groups, changes in pH can disrupt ionic bonds. </a:t>
            </a:r>
          </a:p>
        </p:txBody>
      </p:sp>
    </p:spTree>
    <p:extLst>
      <p:ext uri="{BB962C8B-B14F-4D97-AF65-F5344CB8AC3E}">
        <p14:creationId xmlns:p14="http://schemas.microsoft.com/office/powerpoint/2010/main" val="20283456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68546"/>
            <a:ext cx="8263784" cy="553998"/>
          </a:xfrm>
        </p:spPr>
        <p:txBody>
          <a:bodyPr lIns="0" tIns="0" rIns="0" bIns="0" anchor="ctr">
            <a:spAutoFit/>
          </a:bodyPr>
          <a:lstStyle/>
          <a:p>
            <a:r>
              <a:rPr lang="en-US" sz="3600" dirty="0">
                <a:latin typeface="+mj-lt"/>
              </a:rPr>
              <a:t>Van Der Waals Interactions</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91414"/>
            <a:ext cx="8263784" cy="2600712"/>
          </a:xfrm>
        </p:spPr>
        <p:txBody>
          <a:bodyPr wrap="square" lIns="0" tIns="0" rIns="0" bIns="0">
            <a:spAutoFit/>
          </a:bodyPr>
          <a:lstStyle/>
          <a:p>
            <a:pPr marL="347472" indent="-347472"/>
            <a:r>
              <a:rPr lang="en-US" altLang="en-US" sz="2400" dirty="0"/>
              <a:t>Molecules with nonpolar covalent bonds may have transient positively and negatively charged regions.</a:t>
            </a:r>
          </a:p>
          <a:p>
            <a:pPr marL="347472" indent="-347472"/>
            <a:r>
              <a:rPr lang="en-US" altLang="en-US" sz="2400" dirty="0"/>
              <a:t>These are called </a:t>
            </a:r>
            <a:r>
              <a:rPr lang="en-US" altLang="en-US" sz="2400" i="1" dirty="0"/>
              <a:t>dipoles,</a:t>
            </a:r>
            <a:r>
              <a:rPr lang="en-US" altLang="en-US" sz="2400" dirty="0"/>
              <a:t> and two molecules with dipoles will be attracted to one another if they are close enough.</a:t>
            </a:r>
          </a:p>
          <a:p>
            <a:pPr marL="347472" indent="-347472"/>
            <a:r>
              <a:rPr lang="en-US" altLang="en-US" sz="2400" dirty="0"/>
              <a:t>This transient interaction is called a </a:t>
            </a:r>
            <a:r>
              <a:rPr lang="en-US" altLang="en-US" sz="2400" b="1" dirty="0"/>
              <a:t>van der Waals interaction</a:t>
            </a:r>
            <a:r>
              <a:rPr lang="en-US" altLang="en-US" sz="2400" dirty="0"/>
              <a:t> or </a:t>
            </a:r>
            <a:r>
              <a:rPr lang="en-US" altLang="en-US" sz="2400" i="1" dirty="0"/>
              <a:t>van der Waals force.</a:t>
            </a:r>
          </a:p>
        </p:txBody>
      </p:sp>
    </p:spTree>
    <p:extLst>
      <p:ext uri="{BB962C8B-B14F-4D97-AF65-F5344CB8AC3E}">
        <p14:creationId xmlns:p14="http://schemas.microsoft.com/office/powerpoint/2010/main" val="11275436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68546"/>
            <a:ext cx="8263784" cy="553998"/>
          </a:xfrm>
        </p:spPr>
        <p:txBody>
          <a:bodyPr lIns="0" tIns="0" rIns="0" bIns="0" anchor="ctr">
            <a:spAutoFit/>
          </a:bodyPr>
          <a:lstStyle/>
          <a:p>
            <a:r>
              <a:rPr lang="en-US" sz="3600" dirty="0">
                <a:latin typeface="+mj-lt"/>
              </a:rPr>
              <a:t>Hydrophobic Interactions</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91414"/>
            <a:ext cx="8263784" cy="3339376"/>
          </a:xfrm>
        </p:spPr>
        <p:txBody>
          <a:bodyPr wrap="square" lIns="0" tIns="0" rIns="0" bIns="0">
            <a:spAutoFit/>
          </a:bodyPr>
          <a:lstStyle/>
          <a:p>
            <a:pPr marL="347472" indent="-347472"/>
            <a:r>
              <a:rPr lang="en-US" altLang="en-US" sz="2400" dirty="0"/>
              <a:t>A </a:t>
            </a:r>
            <a:r>
              <a:rPr lang="en-US" altLang="en-US" sz="2400" b="1" dirty="0"/>
              <a:t>hydrophobic</a:t>
            </a:r>
            <a:r>
              <a:rPr lang="en-US" altLang="en-US" sz="2400" dirty="0"/>
              <a:t> </a:t>
            </a:r>
            <a:r>
              <a:rPr lang="en-US" altLang="en-US" sz="2400" b="1" dirty="0"/>
              <a:t>interaction</a:t>
            </a:r>
            <a:r>
              <a:rPr lang="en-US" altLang="en-US" sz="2400" dirty="0"/>
              <a:t> is the tendency of hydrophobic molecules or parts of molecules to be excluded from interactions with water.</a:t>
            </a:r>
          </a:p>
          <a:p>
            <a:pPr marL="347472" indent="-347472"/>
            <a:r>
              <a:rPr lang="en-US" altLang="en-US" sz="2400" dirty="0"/>
              <a:t>Amino acids with hydrophobic side chains tend to be found within proteins.</a:t>
            </a:r>
          </a:p>
          <a:p>
            <a:pPr marL="347472" indent="-347472"/>
            <a:r>
              <a:rPr lang="en-US" altLang="en-US" sz="2400" dirty="0"/>
              <a:t>Protein folding is a balance between the tendency of hydrophilic groups to interact with water and of hydrophobic groups to avoid interaction with water.</a:t>
            </a:r>
          </a:p>
        </p:txBody>
      </p:sp>
    </p:spTree>
    <p:extLst>
      <p:ext uri="{BB962C8B-B14F-4D97-AF65-F5344CB8AC3E}">
        <p14:creationId xmlns:p14="http://schemas.microsoft.com/office/powerpoint/2010/main" val="32368423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68546"/>
            <a:ext cx="8263784" cy="553998"/>
          </a:xfrm>
        </p:spPr>
        <p:txBody>
          <a:bodyPr lIns="0" tIns="0" rIns="0" bIns="0" anchor="ctr">
            <a:spAutoFit/>
          </a:bodyPr>
          <a:lstStyle/>
          <a:p>
            <a:r>
              <a:rPr lang="en-US" sz="3600" dirty="0">
                <a:latin typeface="+mj-lt"/>
              </a:rPr>
              <a:t>Chaperone Interactions</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91414"/>
            <a:ext cx="8263784" cy="2600712"/>
          </a:xfrm>
        </p:spPr>
        <p:txBody>
          <a:bodyPr wrap="square" lIns="0" tIns="0" rIns="0" bIns="0">
            <a:spAutoFit/>
          </a:bodyPr>
          <a:lstStyle/>
          <a:p>
            <a:pPr marL="347472" indent="-347472"/>
            <a:r>
              <a:rPr lang="en-US" sz="2400" b="1" dirty="0"/>
              <a:t>Molecular</a:t>
            </a:r>
            <a:r>
              <a:rPr lang="en-US" sz="2400" dirty="0"/>
              <a:t> </a:t>
            </a:r>
            <a:r>
              <a:rPr lang="en-US" sz="2400" b="1" dirty="0"/>
              <a:t>chaperones</a:t>
            </a:r>
            <a:r>
              <a:rPr lang="en-US" sz="2400" dirty="0"/>
              <a:t> are proteins that aid in the proper and accurate folding of other proteins.</a:t>
            </a:r>
          </a:p>
          <a:p>
            <a:pPr marL="347472" indent="-347472"/>
            <a:r>
              <a:rPr lang="en-US" sz="2400" dirty="0"/>
              <a:t>They act during protein synthesis or facilitate refolding. </a:t>
            </a:r>
          </a:p>
          <a:p>
            <a:pPr marL="347472" indent="-347472"/>
            <a:r>
              <a:rPr lang="en-US" sz="2400" dirty="0"/>
              <a:t>The general mechanism involves shielding parts of the protein from the interactions discussed until more of the protein can be made.</a:t>
            </a:r>
          </a:p>
        </p:txBody>
      </p:sp>
    </p:spTree>
    <p:extLst>
      <p:ext uri="{BB962C8B-B14F-4D97-AF65-F5344CB8AC3E}">
        <p14:creationId xmlns:p14="http://schemas.microsoft.com/office/powerpoint/2010/main" val="26414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67317"/>
            <a:ext cx="8263784" cy="1107996"/>
          </a:xfrm>
        </p:spPr>
        <p:txBody>
          <a:bodyPr lIns="0" tIns="0" rIns="0" bIns="0" anchor="ctr">
            <a:spAutoFit/>
          </a:bodyPr>
          <a:lstStyle/>
          <a:p>
            <a:r>
              <a:rPr lang="en-US" sz="3600" dirty="0">
                <a:latin typeface="+mj-lt"/>
              </a:rPr>
              <a:t>Protein Structure Depends on Amino Acid Sequence and Interactions</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541358"/>
            <a:ext cx="8263784" cy="2893100"/>
          </a:xfrm>
        </p:spPr>
        <p:txBody>
          <a:bodyPr wrap="square" lIns="0" tIns="0" rIns="0" bIns="0">
            <a:spAutoFit/>
          </a:bodyPr>
          <a:lstStyle/>
          <a:p>
            <a:pPr marL="347472" indent="-347472"/>
            <a:r>
              <a:rPr lang="en-US" altLang="en-US" sz="2400" dirty="0"/>
              <a:t>The overall shape and structure of a protein are described in terms of four levels of organization</a:t>
            </a:r>
          </a:p>
          <a:p>
            <a:pPr marL="834390" lvl="1" indent="-347472"/>
            <a:r>
              <a:rPr lang="en-US" altLang="en-US" sz="2400" i="1" dirty="0"/>
              <a:t>Primary structure</a:t>
            </a:r>
            <a:r>
              <a:rPr lang="en-US" altLang="en-US" sz="2400" dirty="0"/>
              <a:t>—amino acid sequence</a:t>
            </a:r>
          </a:p>
          <a:p>
            <a:pPr marL="834390" lvl="1" indent="-347472"/>
            <a:r>
              <a:rPr lang="en-US" altLang="en-US" sz="2400" i="1" dirty="0"/>
              <a:t>Secondary structure</a:t>
            </a:r>
            <a:r>
              <a:rPr lang="en-US" altLang="en-US" sz="2400" dirty="0"/>
              <a:t>—local folding of polypeptide</a:t>
            </a:r>
          </a:p>
          <a:p>
            <a:pPr marL="834390" lvl="1" indent="-347472"/>
            <a:r>
              <a:rPr lang="en-US" altLang="en-US" sz="2400" i="1" dirty="0"/>
              <a:t>Tertiary structure</a:t>
            </a:r>
            <a:r>
              <a:rPr lang="en-US" altLang="en-US" sz="2400" dirty="0"/>
              <a:t>—three-dimensional conformation</a:t>
            </a:r>
          </a:p>
          <a:p>
            <a:pPr marL="834390" lvl="1" indent="-347472"/>
            <a:r>
              <a:rPr lang="en-US" altLang="en-US" sz="2400" i="1" dirty="0"/>
              <a:t>Quaternary structure</a:t>
            </a:r>
            <a:r>
              <a:rPr lang="en-US" altLang="en-US" sz="2400" dirty="0"/>
              <a:t>—interactions between monomeric proteins to form a multimeric unit</a:t>
            </a:r>
          </a:p>
        </p:txBody>
      </p:sp>
    </p:spTree>
    <p:extLst>
      <p:ext uri="{BB962C8B-B14F-4D97-AF65-F5344CB8AC3E}">
        <p14:creationId xmlns:p14="http://schemas.microsoft.com/office/powerpoint/2010/main" val="20343272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16256" y="174427"/>
            <a:ext cx="8229600" cy="1097279"/>
          </a:xfrm>
        </p:spPr>
        <p:txBody>
          <a:bodyPr lIns="0" tIns="0" rIns="0" bIns="0" anchor="ctr"/>
          <a:lstStyle/>
          <a:p>
            <a:r>
              <a:rPr lang="en-US" dirty="0"/>
              <a:t>Levels of Organization of Protein Structure</a:t>
            </a:r>
            <a:endParaRPr lang="en-IN" dirty="0"/>
          </a:p>
        </p:txBody>
      </p:sp>
      <p:sp>
        <p:nvSpPr>
          <p:cNvPr id="7" name="Content Placeholder 6"/>
          <p:cNvSpPr>
            <a:spLocks noGrp="1"/>
          </p:cNvSpPr>
          <p:nvPr>
            <p:ph sz="quarter" idx="13"/>
          </p:nvPr>
        </p:nvSpPr>
        <p:spPr>
          <a:xfrm>
            <a:off x="457200" y="1552575"/>
            <a:ext cx="8218488" cy="412703"/>
          </a:xfrm>
        </p:spPr>
        <p:txBody>
          <a:bodyPr lIns="0" tIns="0" rIns="0" bIns="0"/>
          <a:lstStyle/>
          <a:p>
            <a:pPr marL="0" indent="0">
              <a:buNone/>
            </a:pPr>
            <a:r>
              <a:rPr lang="en-US" sz="2400" b="1" dirty="0"/>
              <a:t>Table 3.3</a:t>
            </a:r>
            <a:r>
              <a:rPr lang="en-US" sz="2400" dirty="0"/>
              <a:t> Levels of Organization of Protein Structure</a:t>
            </a:r>
          </a:p>
        </p:txBody>
      </p:sp>
      <p:graphicFrame>
        <p:nvGraphicFramePr>
          <p:cNvPr id="3" name="Table 2"/>
          <p:cNvGraphicFramePr>
            <a:graphicFrameLocks noGrp="1"/>
          </p:cNvGraphicFramePr>
          <p:nvPr>
            <p:extLst>
              <p:ext uri="{D42A27DB-BD31-4B8C-83A1-F6EECF244321}">
                <p14:modId xmlns:p14="http://schemas.microsoft.com/office/powerpoint/2010/main" val="2320103393"/>
              </p:ext>
            </p:extLst>
          </p:nvPr>
        </p:nvGraphicFramePr>
        <p:xfrm>
          <a:off x="457200" y="2180993"/>
          <a:ext cx="8229600" cy="3930633"/>
        </p:xfrm>
        <a:graphic>
          <a:graphicData uri="http://schemas.openxmlformats.org/drawingml/2006/table">
            <a:tbl>
              <a:tblPr firstRow="1" bandRow="1">
                <a:tableStyleId>{40F9630F-82C1-40B7-BC3A-925EFCFF5E92}</a:tableStyleId>
              </a:tblPr>
              <a:tblGrid>
                <a:gridCol w="2352020">
                  <a:extLst>
                    <a:ext uri="{9D8B030D-6E8A-4147-A177-3AD203B41FA5}">
                      <a16:colId xmlns:a16="http://schemas.microsoft.com/office/drawing/2014/main" val="20000"/>
                    </a:ext>
                  </a:extLst>
                </a:gridCol>
                <a:gridCol w="2911632">
                  <a:extLst>
                    <a:ext uri="{9D8B030D-6E8A-4147-A177-3AD203B41FA5}">
                      <a16:colId xmlns:a16="http://schemas.microsoft.com/office/drawing/2014/main" val="20001"/>
                    </a:ext>
                  </a:extLst>
                </a:gridCol>
                <a:gridCol w="2965948">
                  <a:extLst>
                    <a:ext uri="{9D8B030D-6E8A-4147-A177-3AD203B41FA5}">
                      <a16:colId xmlns:a16="http://schemas.microsoft.com/office/drawing/2014/main" val="20002"/>
                    </a:ext>
                  </a:extLst>
                </a:gridCol>
              </a:tblGrid>
              <a:tr h="855505">
                <a:tc>
                  <a:txBody>
                    <a:bodyPr/>
                    <a:lstStyle/>
                    <a:p>
                      <a:pPr marL="0" marR="0">
                        <a:lnSpc>
                          <a:spcPct val="107000"/>
                        </a:lnSpc>
                        <a:spcBef>
                          <a:spcPts val="0"/>
                        </a:spcBef>
                        <a:spcAft>
                          <a:spcPts val="800"/>
                        </a:spcAft>
                      </a:pPr>
                      <a:r>
                        <a:rPr lang="en-IN" sz="1600" dirty="0">
                          <a:solidFill>
                            <a:schemeClr val="bg1"/>
                          </a:solidFill>
                          <a:effectLst/>
                        </a:rPr>
                        <a:t>Level of Structure</a:t>
                      </a:r>
                      <a:endParaRPr lang="en-IN" sz="1600" dirty="0">
                        <a:solidFill>
                          <a:schemeClr val="bg1"/>
                        </a:solidFill>
                        <a:effectLst/>
                        <a:latin typeface="Calibri"/>
                        <a:ea typeface="Calibri"/>
                        <a:cs typeface="Times New Roman"/>
                      </a:endParaRPr>
                    </a:p>
                  </a:txBody>
                  <a:tcPr marL="9525" marR="9525" marT="9525" marB="0" anchor="ct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noFill/>
                      <a:prstDash val="solid"/>
                      <a:round/>
                      <a:headEnd type="none" w="med" len="med"/>
                      <a:tailEnd type="none" w="med" len="med"/>
                    </a:lnT>
                    <a:lnB w="12700" cap="flat" cmpd="sng">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a:lnSpc>
                          <a:spcPct val="107000"/>
                        </a:lnSpc>
                        <a:spcBef>
                          <a:spcPts val="0"/>
                        </a:spcBef>
                        <a:spcAft>
                          <a:spcPts val="800"/>
                        </a:spcAft>
                      </a:pPr>
                      <a:r>
                        <a:rPr lang="en-IN" sz="1600" dirty="0">
                          <a:solidFill>
                            <a:schemeClr val="bg1"/>
                          </a:solidFill>
                          <a:effectLst/>
                        </a:rPr>
                        <a:t>Basis of Structure</a:t>
                      </a:r>
                      <a:endParaRPr lang="en-IN" sz="1600" dirty="0">
                        <a:solidFill>
                          <a:schemeClr val="bg1"/>
                        </a:solidFill>
                        <a:effectLst/>
                        <a:latin typeface="Calibri"/>
                        <a:ea typeface="Calibri"/>
                        <a:cs typeface="Times New Roman"/>
                      </a:endParaRPr>
                    </a:p>
                  </a:txBody>
                  <a:tcPr marL="9525" marR="9525" marT="9525" marB="0" anchor="ct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noFill/>
                      <a:prstDash val="solid"/>
                      <a:round/>
                      <a:headEnd type="none" w="med" len="med"/>
                      <a:tailEnd type="none" w="med" len="med"/>
                    </a:lnT>
                    <a:lnB w="12700" cap="flat" cmpd="sng">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a:lnSpc>
                          <a:spcPct val="107000"/>
                        </a:lnSpc>
                        <a:spcBef>
                          <a:spcPts val="0"/>
                        </a:spcBef>
                        <a:spcAft>
                          <a:spcPts val="800"/>
                        </a:spcAft>
                      </a:pPr>
                      <a:r>
                        <a:rPr lang="en-US" sz="1600" dirty="0">
                          <a:solidFill>
                            <a:schemeClr val="bg1"/>
                          </a:solidFill>
                          <a:effectLst/>
                        </a:rPr>
                        <a:t>Kinds of Bonds and </a:t>
                      </a:r>
                      <a:endParaRPr lang="en-IN" sz="1600" dirty="0">
                        <a:solidFill>
                          <a:schemeClr val="bg1"/>
                        </a:solidFill>
                        <a:effectLst/>
                      </a:endParaRPr>
                    </a:p>
                    <a:p>
                      <a:pPr marL="0" marR="0">
                        <a:lnSpc>
                          <a:spcPct val="107000"/>
                        </a:lnSpc>
                        <a:spcBef>
                          <a:spcPts val="0"/>
                        </a:spcBef>
                        <a:spcAft>
                          <a:spcPts val="800"/>
                        </a:spcAft>
                      </a:pPr>
                      <a:r>
                        <a:rPr lang="en-US" sz="1600" dirty="0">
                          <a:solidFill>
                            <a:schemeClr val="bg1"/>
                          </a:solidFill>
                          <a:effectLst/>
                        </a:rPr>
                        <a:t>Interactions Involved</a:t>
                      </a:r>
                      <a:endParaRPr lang="en-IN" sz="1600" dirty="0">
                        <a:solidFill>
                          <a:schemeClr val="bg1"/>
                        </a:solidFill>
                        <a:effectLst/>
                        <a:latin typeface="Calibri"/>
                        <a:ea typeface="Calibri"/>
                        <a:cs typeface="Times New Roman"/>
                      </a:endParaRPr>
                    </a:p>
                  </a:txBody>
                  <a:tcPr marL="9525" marR="9525" marT="9525" marB="0" anchor="ct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noFill/>
                      <a:prstDash val="solid"/>
                      <a:round/>
                      <a:headEnd type="none" w="med" len="med"/>
                      <a:tailEnd type="none" w="med" len="med"/>
                    </a:lnT>
                    <a:lnB w="12700" cap="flat" cmpd="sng">
                      <a:noFill/>
                      <a:prstDash val="solid"/>
                      <a:round/>
                      <a:headEnd type="none" w="med" len="med"/>
                      <a:tailEnd type="none" w="med" len="med"/>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10000"/>
                  </a:ext>
                </a:extLst>
              </a:tr>
              <a:tr h="433126">
                <a:tc>
                  <a:txBody>
                    <a:bodyPr/>
                    <a:lstStyle/>
                    <a:p>
                      <a:pPr marL="0" marR="0">
                        <a:lnSpc>
                          <a:spcPct val="107000"/>
                        </a:lnSpc>
                        <a:spcBef>
                          <a:spcPts val="0"/>
                        </a:spcBef>
                        <a:spcAft>
                          <a:spcPts val="800"/>
                        </a:spcAft>
                      </a:pPr>
                      <a:r>
                        <a:rPr lang="en-IN" sz="1600">
                          <a:effectLst/>
                        </a:rPr>
                        <a:t>Primary</a:t>
                      </a:r>
                      <a:endParaRPr lang="en-IN" sz="1600">
                        <a:effectLst/>
                        <a:latin typeface="Calibri"/>
                        <a:ea typeface="Calibri"/>
                        <a:cs typeface="Times New Roman"/>
                      </a:endParaRPr>
                    </a:p>
                  </a:txBody>
                  <a:tcPr marL="9525" marR="9525" marT="9525" marB="0" anchor="ct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IN" sz="1600">
                          <a:effectLst/>
                        </a:rPr>
                        <a:t>Amino acid sequence</a:t>
                      </a:r>
                      <a:endParaRPr lang="en-IN" sz="1600">
                        <a:effectLst/>
                        <a:latin typeface="Calibri"/>
                        <a:ea typeface="Calibri"/>
                        <a:cs typeface="Times New Roman"/>
                      </a:endParaRPr>
                    </a:p>
                  </a:txBody>
                  <a:tcPr marL="9525" marR="9525" marT="9525" marB="0" anchor="ct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IN" sz="1600">
                          <a:effectLst/>
                        </a:rPr>
                        <a:t>Covalent peptide bonds</a:t>
                      </a:r>
                      <a:endParaRPr lang="en-IN" sz="1600">
                        <a:effectLst/>
                        <a:latin typeface="Calibri"/>
                        <a:ea typeface="Calibri"/>
                        <a:cs typeface="Times New Roman"/>
                      </a:endParaRPr>
                    </a:p>
                  </a:txBody>
                  <a:tcPr marL="9525" marR="9525" marT="9525" marB="0" anchor="ct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1"/>
                  </a:ext>
                </a:extLst>
              </a:tr>
              <a:tr h="722899">
                <a:tc>
                  <a:txBody>
                    <a:bodyPr/>
                    <a:lstStyle/>
                    <a:p>
                      <a:pPr marL="0" marR="0">
                        <a:lnSpc>
                          <a:spcPct val="107000"/>
                        </a:lnSpc>
                        <a:spcBef>
                          <a:spcPts val="0"/>
                        </a:spcBef>
                        <a:spcAft>
                          <a:spcPts val="800"/>
                        </a:spcAft>
                      </a:pPr>
                      <a:r>
                        <a:rPr lang="en-IN" sz="1600">
                          <a:effectLst/>
                        </a:rPr>
                        <a:t>Secondary</a:t>
                      </a:r>
                      <a:endParaRPr lang="en-IN" sz="1600">
                        <a:effectLst/>
                        <a:latin typeface="Calibri"/>
                        <a:ea typeface="Calibri"/>
                        <a:cs typeface="Times New Roman"/>
                      </a:endParaRPr>
                    </a:p>
                  </a:txBody>
                  <a:tcPr marL="9525" marR="9525" marT="9525"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US" sz="1600" dirty="0">
                          <a:solidFill>
                            <a:schemeClr val="tx1"/>
                          </a:solidFill>
                          <a:effectLst/>
                        </a:rPr>
                        <a:t>Folding into </a:t>
                      </a:r>
                      <a:r>
                        <a:rPr lang="en-US" sz="1600" i="1" dirty="0">
                          <a:solidFill>
                            <a:schemeClr val="tx1"/>
                          </a:solidFill>
                          <a:effectLst/>
                        </a:rPr>
                        <a:t>α</a:t>
                      </a:r>
                      <a:r>
                        <a:rPr lang="en-US" sz="1600" dirty="0">
                          <a:solidFill>
                            <a:schemeClr val="tx1"/>
                          </a:solidFill>
                          <a:effectLst/>
                        </a:rPr>
                        <a:t> helix, </a:t>
                      </a:r>
                      <a:r>
                        <a:rPr lang="en-US" sz="1600" i="1" dirty="0">
                          <a:solidFill>
                            <a:schemeClr val="tx1"/>
                          </a:solidFill>
                          <a:effectLst/>
                        </a:rPr>
                        <a:t>β</a:t>
                      </a:r>
                      <a:r>
                        <a:rPr lang="en-US" sz="1600" dirty="0">
                          <a:solidFill>
                            <a:schemeClr val="tx1"/>
                          </a:solidFill>
                          <a:effectLst/>
                        </a:rPr>
                        <a:t> sheet, or random coil</a:t>
                      </a:r>
                      <a:endParaRPr lang="en-IN" sz="1600" dirty="0">
                        <a:solidFill>
                          <a:schemeClr val="tx1"/>
                        </a:solidFill>
                        <a:effectLst/>
                        <a:latin typeface="Calibri"/>
                        <a:ea typeface="Calibri"/>
                        <a:cs typeface="Times New Roman"/>
                      </a:endParaRPr>
                    </a:p>
                  </a:txBody>
                  <a:tcPr marL="9525" marR="9525" marT="9525"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US" sz="1600" dirty="0">
                          <a:solidFill>
                            <a:schemeClr val="tx1"/>
                          </a:solidFill>
                          <a:effectLst/>
                        </a:rPr>
                        <a:t>Hydrogen bonds between NH and CO groups of peptide bonds in the backbone</a:t>
                      </a:r>
                      <a:endParaRPr lang="en-IN" sz="1600" dirty="0">
                        <a:solidFill>
                          <a:schemeClr val="tx1"/>
                        </a:solidFill>
                        <a:effectLst/>
                        <a:latin typeface="Calibri"/>
                        <a:ea typeface="Calibri"/>
                        <a:cs typeface="Times New Roman"/>
                      </a:endParaRPr>
                    </a:p>
                  </a:txBody>
                  <a:tcPr marL="9525" marR="9525" marT="9525"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2"/>
                  </a:ext>
                </a:extLst>
              </a:tr>
              <a:tr h="1083838">
                <a:tc>
                  <a:txBody>
                    <a:bodyPr/>
                    <a:lstStyle/>
                    <a:p>
                      <a:pPr marL="0" marR="0">
                        <a:lnSpc>
                          <a:spcPct val="107000"/>
                        </a:lnSpc>
                        <a:spcBef>
                          <a:spcPts val="0"/>
                        </a:spcBef>
                        <a:spcAft>
                          <a:spcPts val="800"/>
                        </a:spcAft>
                      </a:pPr>
                      <a:r>
                        <a:rPr lang="en-IN" sz="1600">
                          <a:effectLst/>
                        </a:rPr>
                        <a:t>Tertiary</a:t>
                      </a:r>
                      <a:endParaRPr lang="en-IN" sz="1600">
                        <a:effectLst/>
                        <a:latin typeface="Calibri"/>
                        <a:ea typeface="Calibri"/>
                        <a:cs typeface="Times New Roman"/>
                      </a:endParaRPr>
                    </a:p>
                  </a:txBody>
                  <a:tcPr marL="9525" marR="9525" marT="9525"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US" sz="1600" dirty="0">
                          <a:effectLst/>
                        </a:rPr>
                        <a:t>Three-dimensional folding of a single polypeptide chain</a:t>
                      </a:r>
                      <a:endParaRPr lang="en-IN" sz="1600" dirty="0">
                        <a:effectLst/>
                        <a:latin typeface="Calibri"/>
                        <a:ea typeface="Calibri"/>
                        <a:cs typeface="Times New Roman"/>
                      </a:endParaRPr>
                    </a:p>
                  </a:txBody>
                  <a:tcPr marL="9525" marR="9525" marT="9525"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IN" sz="1600" dirty="0" err="1">
                          <a:effectLst/>
                        </a:rPr>
                        <a:t>Disulfide</a:t>
                      </a:r>
                      <a:r>
                        <a:rPr lang="en-IN" sz="1600" dirty="0">
                          <a:effectLst/>
                        </a:rPr>
                        <a:t> bonds, hydrogen bonds, ionic bonds, van der Waals interactions, hydrophobic interactions</a:t>
                      </a:r>
                      <a:endParaRPr lang="en-IN" sz="1600" dirty="0">
                        <a:effectLst/>
                        <a:latin typeface="Calibri"/>
                        <a:ea typeface="Calibri"/>
                        <a:cs typeface="Times New Roman"/>
                      </a:endParaRPr>
                    </a:p>
                  </a:txBody>
                  <a:tcPr marL="9525" marR="9525" marT="9525"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3"/>
                  </a:ext>
                </a:extLst>
              </a:tr>
              <a:tr h="722899">
                <a:tc>
                  <a:txBody>
                    <a:bodyPr/>
                    <a:lstStyle/>
                    <a:p>
                      <a:pPr marL="0" marR="0">
                        <a:lnSpc>
                          <a:spcPct val="107000"/>
                        </a:lnSpc>
                        <a:spcBef>
                          <a:spcPts val="0"/>
                        </a:spcBef>
                        <a:spcAft>
                          <a:spcPts val="800"/>
                        </a:spcAft>
                      </a:pPr>
                      <a:r>
                        <a:rPr lang="en-IN" sz="1600">
                          <a:effectLst/>
                        </a:rPr>
                        <a:t>Quaternary</a:t>
                      </a:r>
                      <a:endParaRPr lang="en-IN" sz="1600">
                        <a:effectLst/>
                        <a:latin typeface="Calibri"/>
                        <a:ea typeface="Calibri"/>
                        <a:cs typeface="Times New Roman"/>
                      </a:endParaRPr>
                    </a:p>
                  </a:txBody>
                  <a:tcPr marL="9525" marR="9525" marT="9525"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12700"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US" sz="1600">
                          <a:effectLst/>
                        </a:rPr>
                        <a:t>Association of multiple polypeptides to form a multimeric protein</a:t>
                      </a:r>
                      <a:endParaRPr lang="en-IN" sz="1600">
                        <a:effectLst/>
                        <a:latin typeface="Calibri"/>
                        <a:ea typeface="Calibri"/>
                        <a:cs typeface="Times New Roman"/>
                      </a:endParaRPr>
                    </a:p>
                  </a:txBody>
                  <a:tcPr marL="9525" marR="9525" marT="9525"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12700"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US" sz="1600" dirty="0">
                          <a:effectLst/>
                        </a:rPr>
                        <a:t>Same as for tertiary structure</a:t>
                      </a:r>
                      <a:endParaRPr lang="en-IN" sz="1600" dirty="0">
                        <a:effectLst/>
                        <a:latin typeface="Calibri"/>
                        <a:ea typeface="Calibri"/>
                        <a:cs typeface="Times New Roman"/>
                      </a:endParaRPr>
                    </a:p>
                  </a:txBody>
                  <a:tcPr marL="9525" marR="9525" marT="9525"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12700"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1438902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19100" y="175672"/>
            <a:ext cx="8267700" cy="1107996"/>
          </a:xfrm>
        </p:spPr>
        <p:txBody>
          <a:bodyPr wrap="square" lIns="0" tIns="0" rIns="0" bIns="0" anchor="ctr">
            <a:spAutoFit/>
          </a:bodyPr>
          <a:lstStyle/>
          <a:p>
            <a:r>
              <a:rPr lang="en-US" dirty="0"/>
              <a:t>The Four Levels of Organization of Protein</a:t>
            </a:r>
          </a:p>
        </p:txBody>
      </p:sp>
      <p:sp>
        <p:nvSpPr>
          <p:cNvPr id="6" name="Content Placeholder 5"/>
          <p:cNvSpPr>
            <a:spLocks noGrp="1"/>
          </p:cNvSpPr>
          <p:nvPr>
            <p:ph sz="quarter" idx="13"/>
          </p:nvPr>
        </p:nvSpPr>
        <p:spPr>
          <a:xfrm>
            <a:off x="442451" y="1544603"/>
            <a:ext cx="8244349" cy="738664"/>
          </a:xfrm>
        </p:spPr>
        <p:txBody>
          <a:bodyPr wrap="square" lIns="0" tIns="0" rIns="0" bIns="0">
            <a:spAutoFit/>
          </a:bodyPr>
          <a:lstStyle/>
          <a:p>
            <a:pPr marL="0" indent="0">
              <a:buNone/>
            </a:pPr>
            <a:r>
              <a:rPr lang="en-US" sz="2400" b="1" dirty="0"/>
              <a:t>Figure 3.6</a:t>
            </a:r>
            <a:r>
              <a:rPr lang="en-US" sz="2400" dirty="0"/>
              <a:t> The Four Levels of Organization of Protein Structure.</a:t>
            </a:r>
          </a:p>
        </p:txBody>
      </p:sp>
      <p:pic>
        <p:nvPicPr>
          <p:cNvPr id="8" name="Picture Placeholder 7" descr="Description of the primary, secondary, tertiary, and quaternary structures of hemoglobin. &#10;Long description is available in notes, press F6">
            <a:extLst>
              <a:ext uri="{FF2B5EF4-FFF2-40B4-BE49-F238E27FC236}">
                <a16:creationId xmlns:a16="http://schemas.microsoft.com/office/drawing/2014/main" id="{9B707879-DC93-47E0-A733-1B94BDA24D9C}"/>
              </a:ext>
            </a:extLst>
          </p:cNvPr>
          <p:cNvPicPr>
            <a:picLocks noGrp="1" noChangeAspect="1"/>
          </p:cNvPicPr>
          <p:nvPr>
            <p:ph type="pic" sz="quarter" idx="14"/>
          </p:nvPr>
        </p:nvPicPr>
        <p:blipFill rotWithShape="1">
          <a:blip r:embed="rId3"/>
          <a:srcRect b="2793"/>
          <a:stretch/>
        </p:blipFill>
        <p:spPr>
          <a:xfrm>
            <a:off x="1361410" y="2574491"/>
            <a:ext cx="6421181" cy="3779810"/>
          </a:xfrm>
          <a:prstGeom prst="rect">
            <a:avLst/>
          </a:prstGeom>
        </p:spPr>
      </p:pic>
    </p:spTree>
    <p:extLst>
      <p:ext uri="{BB962C8B-B14F-4D97-AF65-F5344CB8AC3E}">
        <p14:creationId xmlns:p14="http://schemas.microsoft.com/office/powerpoint/2010/main" val="33554871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68546"/>
            <a:ext cx="8263784" cy="553998"/>
          </a:xfrm>
        </p:spPr>
        <p:txBody>
          <a:bodyPr lIns="0" tIns="0" rIns="0" bIns="0" anchor="ctr">
            <a:spAutoFit/>
          </a:bodyPr>
          <a:lstStyle/>
          <a:p>
            <a:r>
              <a:rPr lang="en-US" sz="3600" dirty="0">
                <a:latin typeface="+mj-lt"/>
              </a:rPr>
              <a:t>Primary Structure</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91414"/>
            <a:ext cx="8263784" cy="3531736"/>
          </a:xfrm>
        </p:spPr>
        <p:txBody>
          <a:bodyPr wrap="square" lIns="0" tIns="0" rIns="0" bIns="0">
            <a:spAutoFit/>
          </a:bodyPr>
          <a:lstStyle/>
          <a:p>
            <a:pPr marL="347472" indent="-347472"/>
            <a:r>
              <a:rPr lang="en-US" altLang="en-US" sz="2400" b="1" dirty="0"/>
              <a:t>Primary</a:t>
            </a:r>
            <a:r>
              <a:rPr lang="en-US" altLang="en-US" sz="2400" dirty="0"/>
              <a:t> </a:t>
            </a:r>
            <a:r>
              <a:rPr lang="en-US" altLang="en-US" sz="2400" b="1" dirty="0"/>
              <a:t>structure</a:t>
            </a:r>
            <a:r>
              <a:rPr lang="en-US" altLang="en-US" sz="2400" dirty="0"/>
              <a:t> refers to the amino acid sequence.</a:t>
            </a:r>
          </a:p>
          <a:p>
            <a:pPr marL="347472" indent="-347472"/>
            <a:r>
              <a:rPr lang="en-US" altLang="en-US" sz="2400" dirty="0"/>
              <a:t>By convention, amino acid sequences are written from the N-terminus to the C-terminus, the direction in which the polypeptide was synthesized.</a:t>
            </a:r>
          </a:p>
          <a:p>
            <a:pPr marL="347472" indent="-347472"/>
            <a:r>
              <a:rPr lang="en-US" altLang="en-US" sz="2400" dirty="0"/>
              <a:t>The first protein to have its amino acid sequence determined was the hormone insulin.</a:t>
            </a:r>
          </a:p>
          <a:p>
            <a:pPr marL="347472" indent="-347472"/>
            <a:r>
              <a:rPr lang="en-US" altLang="en-US" sz="2400" dirty="0"/>
              <a:t>Insulin consists of one </a:t>
            </a:r>
            <a:r>
              <a:rPr lang="en-US" altLang="en-US" sz="2400" i="1" dirty="0"/>
              <a:t>A</a:t>
            </a:r>
            <a:r>
              <a:rPr lang="en-US" altLang="en-US" sz="2400" dirty="0"/>
              <a:t> and one </a:t>
            </a:r>
            <a:r>
              <a:rPr lang="en-US" altLang="en-US" sz="2400" i="1" dirty="0"/>
              <a:t>B subunit</a:t>
            </a:r>
            <a:r>
              <a:rPr lang="en-US" altLang="en-US" sz="2400" dirty="0"/>
              <a:t> with 21 and 30 amino acids, respectively.</a:t>
            </a:r>
          </a:p>
        </p:txBody>
      </p:sp>
    </p:spTree>
    <p:extLst>
      <p:ext uri="{BB962C8B-B14F-4D97-AF65-F5344CB8AC3E}">
        <p14:creationId xmlns:p14="http://schemas.microsoft.com/office/powerpoint/2010/main" val="28499090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19100" y="176899"/>
            <a:ext cx="8267700" cy="553998"/>
          </a:xfrm>
        </p:spPr>
        <p:txBody>
          <a:bodyPr wrap="square" lIns="0" tIns="0" rIns="0" bIns="0" anchor="ctr">
            <a:spAutoFit/>
          </a:bodyPr>
          <a:lstStyle/>
          <a:p>
            <a:r>
              <a:rPr lang="en-US" dirty="0"/>
              <a:t>The Structure of Insulin</a:t>
            </a:r>
          </a:p>
        </p:txBody>
      </p:sp>
      <p:sp>
        <p:nvSpPr>
          <p:cNvPr id="6" name="Content Placeholder 5"/>
          <p:cNvSpPr>
            <a:spLocks noGrp="1"/>
          </p:cNvSpPr>
          <p:nvPr>
            <p:ph sz="quarter" idx="13"/>
          </p:nvPr>
        </p:nvSpPr>
        <p:spPr>
          <a:xfrm>
            <a:off x="442451" y="1094661"/>
            <a:ext cx="8244349" cy="369332"/>
          </a:xfrm>
        </p:spPr>
        <p:txBody>
          <a:bodyPr wrap="square" lIns="0" tIns="0" rIns="0" bIns="0">
            <a:spAutoFit/>
          </a:bodyPr>
          <a:lstStyle/>
          <a:p>
            <a:pPr marL="0" indent="0">
              <a:buNone/>
            </a:pPr>
            <a:r>
              <a:rPr lang="en-US" sz="2400" b="1" dirty="0"/>
              <a:t>Figure 3.7</a:t>
            </a:r>
            <a:r>
              <a:rPr lang="en-US" sz="2400" dirty="0"/>
              <a:t> The Structure of Insulin.</a:t>
            </a:r>
          </a:p>
        </p:txBody>
      </p:sp>
      <p:pic>
        <p:nvPicPr>
          <p:cNvPr id="7" name="Picture Placeholder 6" descr="The primary sequence and the overall basic structure of insulin. &#10;Long description is available in notes, press F6">
            <a:extLst>
              <a:ext uri="{FF2B5EF4-FFF2-40B4-BE49-F238E27FC236}">
                <a16:creationId xmlns:a16="http://schemas.microsoft.com/office/drawing/2014/main" id="{0D3C4D28-F325-4A0B-AA1B-7C816B2F6FF8}"/>
              </a:ext>
            </a:extLst>
          </p:cNvPr>
          <p:cNvPicPr>
            <a:picLocks noGrp="1" noChangeAspect="1"/>
          </p:cNvPicPr>
          <p:nvPr>
            <p:ph type="pic" sz="quarter" idx="14"/>
          </p:nvPr>
        </p:nvPicPr>
        <p:blipFill rotWithShape="1">
          <a:blip r:embed="rId3"/>
          <a:srcRect b="7585"/>
          <a:stretch/>
        </p:blipFill>
        <p:spPr>
          <a:xfrm>
            <a:off x="500670" y="3003470"/>
            <a:ext cx="8142660" cy="1566367"/>
          </a:xfrm>
          <a:prstGeom prst="rect">
            <a:avLst/>
          </a:prstGeom>
        </p:spPr>
      </p:pic>
    </p:spTree>
    <p:extLst>
      <p:ext uri="{BB962C8B-B14F-4D97-AF65-F5344CB8AC3E}">
        <p14:creationId xmlns:p14="http://schemas.microsoft.com/office/powerpoint/2010/main" val="4653830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68546"/>
            <a:ext cx="8263784" cy="553998"/>
          </a:xfrm>
        </p:spPr>
        <p:txBody>
          <a:bodyPr lIns="0" tIns="0" rIns="0" bIns="0" anchor="ctr">
            <a:spAutoFit/>
          </a:bodyPr>
          <a:lstStyle/>
          <a:p>
            <a:r>
              <a:rPr lang="en-US" sz="3600" dirty="0">
                <a:latin typeface="+mj-lt"/>
              </a:rPr>
              <a:t>Determining Amino Acid Sequence</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91414"/>
            <a:ext cx="8263784" cy="3339376"/>
          </a:xfrm>
        </p:spPr>
        <p:txBody>
          <a:bodyPr wrap="square" lIns="0" tIns="0" rIns="0" bIns="0">
            <a:spAutoFit/>
          </a:bodyPr>
          <a:lstStyle/>
          <a:p>
            <a:pPr marL="347472" indent="-347472"/>
            <a:r>
              <a:rPr lang="en-US" altLang="en-US" sz="2400" dirty="0"/>
              <a:t>Sanger obtained the Nobel Prize for his work on the insulin protein sequence.</a:t>
            </a:r>
          </a:p>
          <a:p>
            <a:pPr marL="347472" indent="-347472"/>
            <a:r>
              <a:rPr lang="en-US" altLang="en-US" sz="2400" dirty="0"/>
              <a:t>He cleaved the protein into smaller fragments and analyzed the amino acid order within individual overlapping fragments.</a:t>
            </a:r>
          </a:p>
          <a:p>
            <a:pPr marL="347472" indent="-347472"/>
            <a:r>
              <a:rPr lang="en-US" altLang="en-US" sz="2400" dirty="0"/>
              <a:t>Sanger</a:t>
            </a:r>
            <a:r>
              <a:rPr lang="en-US" altLang="ja-JP" sz="2400" dirty="0"/>
              <a:t>’s work paved the way for the sequencing of hundreds of other proteins and for advancements in the methods used for sequencing proteins.</a:t>
            </a:r>
          </a:p>
        </p:txBody>
      </p:sp>
    </p:spTree>
    <p:extLst>
      <p:ext uri="{BB962C8B-B14F-4D97-AF65-F5344CB8AC3E}">
        <p14:creationId xmlns:p14="http://schemas.microsoft.com/office/powerpoint/2010/main" val="36798827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68546"/>
            <a:ext cx="8263784" cy="553998"/>
          </a:xfrm>
        </p:spPr>
        <p:txBody>
          <a:bodyPr lIns="0" tIns="0" rIns="0" bIns="0" anchor="ctr">
            <a:spAutoFit/>
          </a:bodyPr>
          <a:lstStyle/>
          <a:p>
            <a:r>
              <a:rPr lang="en-US" sz="3600" dirty="0">
                <a:latin typeface="+mj-lt"/>
              </a:rPr>
              <a:t>The Importance of Primary Structure</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91414"/>
            <a:ext cx="8263784" cy="2408352"/>
          </a:xfrm>
        </p:spPr>
        <p:txBody>
          <a:bodyPr wrap="square" lIns="0" tIns="0" rIns="0" bIns="0">
            <a:spAutoFit/>
          </a:bodyPr>
          <a:lstStyle/>
          <a:p>
            <a:pPr marL="347472" indent="-347472"/>
            <a:r>
              <a:rPr lang="en-US" altLang="en-US" sz="2400" dirty="0"/>
              <a:t>Primary structure is important genetically because the sequence is specified by the order of nucleotides in the corresponding messenger </a:t>
            </a:r>
            <a:r>
              <a:rPr lang="en-US" altLang="en-US" sz="2400" spc="-300" dirty="0"/>
              <a:t>R N </a:t>
            </a:r>
            <a:r>
              <a:rPr lang="en-US" altLang="en-US" sz="2400" dirty="0"/>
              <a:t>A.</a:t>
            </a:r>
          </a:p>
          <a:p>
            <a:pPr marL="347472" indent="-347472"/>
            <a:r>
              <a:rPr lang="en-US" altLang="en-US" sz="2400" dirty="0"/>
              <a:t>It is important structurally because the order and identity of amino acids directs the formation of the higher-order (secondary and tertiary) structures.</a:t>
            </a:r>
          </a:p>
        </p:txBody>
      </p:sp>
    </p:spTree>
    <p:extLst>
      <p:ext uri="{BB962C8B-B14F-4D97-AF65-F5344CB8AC3E}">
        <p14:creationId xmlns:p14="http://schemas.microsoft.com/office/powerpoint/2010/main" val="3996608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68546"/>
            <a:ext cx="8263784" cy="553998"/>
          </a:xfrm>
        </p:spPr>
        <p:txBody>
          <a:bodyPr lIns="0" tIns="0" rIns="0" bIns="0" anchor="ctr">
            <a:spAutoFit/>
          </a:bodyPr>
          <a:lstStyle/>
          <a:p>
            <a:r>
              <a:rPr lang="en-US" sz="3600" dirty="0">
                <a:latin typeface="+mj-lt"/>
              </a:rPr>
              <a:t>Secondary Structure</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91414"/>
            <a:ext cx="8263784" cy="2408352"/>
          </a:xfrm>
        </p:spPr>
        <p:txBody>
          <a:bodyPr wrap="square" lIns="0" tIns="0" rIns="0" bIns="0">
            <a:spAutoFit/>
          </a:bodyPr>
          <a:lstStyle/>
          <a:p>
            <a:pPr marL="347472" indent="-347472"/>
            <a:r>
              <a:rPr lang="en-US" altLang="en-US" sz="2400" dirty="0">
                <a:solidFill>
                  <a:schemeClr val="tx1"/>
                </a:solidFill>
                <a:latin typeface="+mj-lt"/>
              </a:rPr>
              <a:t>The </a:t>
            </a:r>
            <a:r>
              <a:rPr lang="en-US" altLang="en-US" sz="2400" b="1" dirty="0">
                <a:solidFill>
                  <a:schemeClr val="tx1"/>
                </a:solidFill>
                <a:latin typeface="+mj-lt"/>
              </a:rPr>
              <a:t>secondary</a:t>
            </a:r>
            <a:r>
              <a:rPr lang="en-US" altLang="en-US" sz="2400" dirty="0">
                <a:solidFill>
                  <a:schemeClr val="tx1"/>
                </a:solidFill>
                <a:latin typeface="+mj-lt"/>
              </a:rPr>
              <a:t> </a:t>
            </a:r>
            <a:r>
              <a:rPr lang="en-US" altLang="en-US" sz="2400" b="1" dirty="0">
                <a:solidFill>
                  <a:schemeClr val="tx1"/>
                </a:solidFill>
                <a:latin typeface="+mj-lt"/>
              </a:rPr>
              <a:t>structure</a:t>
            </a:r>
            <a:r>
              <a:rPr lang="en-US" altLang="en-US" sz="2400" dirty="0">
                <a:solidFill>
                  <a:schemeClr val="tx1"/>
                </a:solidFill>
                <a:latin typeface="+mj-lt"/>
              </a:rPr>
              <a:t> of a protein describes local regions of structure that result from hydrogen bonding between </a:t>
            </a:r>
            <a:r>
              <a:rPr lang="en-US" altLang="en-US" sz="2400" spc="-300" dirty="0">
                <a:solidFill>
                  <a:schemeClr val="tx1"/>
                </a:solidFill>
                <a:latin typeface="+mj-lt"/>
              </a:rPr>
              <a:t>N </a:t>
            </a:r>
            <a:r>
              <a:rPr lang="en-US" altLang="en-US" sz="2400" dirty="0">
                <a:solidFill>
                  <a:schemeClr val="tx1"/>
                </a:solidFill>
                <a:latin typeface="+mj-lt"/>
              </a:rPr>
              <a:t>H and </a:t>
            </a:r>
            <a:r>
              <a:rPr lang="en-US" altLang="en-US" sz="2400" spc="-300" dirty="0">
                <a:solidFill>
                  <a:schemeClr val="tx1"/>
                </a:solidFill>
                <a:latin typeface="+mj-lt"/>
              </a:rPr>
              <a:t>C </a:t>
            </a:r>
            <a:r>
              <a:rPr lang="en-US" altLang="en-US" sz="2400" dirty="0">
                <a:solidFill>
                  <a:schemeClr val="tx1"/>
                </a:solidFill>
                <a:latin typeface="+mj-lt"/>
              </a:rPr>
              <a:t>O groups along the polypeptide backbone.</a:t>
            </a:r>
          </a:p>
          <a:p>
            <a:pPr marL="347472" indent="-347472"/>
            <a:r>
              <a:rPr lang="en-US" altLang="en-US" sz="2400" dirty="0">
                <a:solidFill>
                  <a:schemeClr val="tx1"/>
                </a:solidFill>
                <a:latin typeface="+mj-lt"/>
              </a:rPr>
              <a:t>These result in two major patterns, the </a:t>
            </a:r>
            <a:r>
              <a:rPr lang="el-GR" altLang="en-US" sz="2400" i="1" dirty="0">
                <a:solidFill>
                  <a:schemeClr val="tx1"/>
                </a:solidFill>
                <a:latin typeface="+mj-lt"/>
                <a:cs typeface="Times New Roman" panose="02020603050405020304" pitchFamily="18" charset="0"/>
                <a:sym typeface="Symbol" panose="05050102010706020507" pitchFamily="18" charset="2"/>
              </a:rPr>
              <a:t>α</a:t>
            </a:r>
            <a:r>
              <a:rPr lang="en-US" altLang="en-US" sz="2400" b="1" dirty="0">
                <a:solidFill>
                  <a:schemeClr val="tx1"/>
                </a:solidFill>
                <a:latin typeface="+mj-lt"/>
              </a:rPr>
              <a:t> helix</a:t>
            </a:r>
            <a:r>
              <a:rPr lang="en-US" altLang="en-US" sz="2400" dirty="0">
                <a:solidFill>
                  <a:schemeClr val="tx1"/>
                </a:solidFill>
                <a:latin typeface="+mj-lt"/>
              </a:rPr>
              <a:t> and the </a:t>
            </a:r>
            <a:r>
              <a:rPr lang="el-GR" altLang="en-US" sz="2400" i="1" dirty="0">
                <a:solidFill>
                  <a:schemeClr val="tx1"/>
                </a:solidFill>
                <a:latin typeface="+mj-lt"/>
                <a:cs typeface="Times New Roman" panose="02020603050405020304" pitchFamily="18" charset="0"/>
                <a:sym typeface="Symbol" panose="05050102010706020507" pitchFamily="18" charset="2"/>
              </a:rPr>
              <a:t>β</a:t>
            </a:r>
            <a:r>
              <a:rPr lang="en-US" altLang="en-US" sz="2400" dirty="0">
                <a:solidFill>
                  <a:schemeClr val="tx1"/>
                </a:solidFill>
                <a:latin typeface="+mj-lt"/>
              </a:rPr>
              <a:t> </a:t>
            </a:r>
            <a:r>
              <a:rPr lang="en-US" altLang="en-US" sz="2400" b="1" dirty="0">
                <a:solidFill>
                  <a:schemeClr val="tx1"/>
                </a:solidFill>
                <a:latin typeface="+mj-lt"/>
              </a:rPr>
              <a:t>sheet</a:t>
            </a:r>
            <a:r>
              <a:rPr lang="en-US" altLang="en-US" sz="2400" dirty="0">
                <a:solidFill>
                  <a:schemeClr val="tx1"/>
                </a:solidFill>
                <a:latin typeface="+mj-lt"/>
              </a:rPr>
              <a:t>.</a:t>
            </a:r>
          </a:p>
        </p:txBody>
      </p:sp>
    </p:spTree>
    <p:extLst>
      <p:ext uri="{BB962C8B-B14F-4D97-AF65-F5344CB8AC3E}">
        <p14:creationId xmlns:p14="http://schemas.microsoft.com/office/powerpoint/2010/main" val="28646501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83060"/>
            <a:ext cx="8263784" cy="553998"/>
          </a:xfrm>
        </p:spPr>
        <p:txBody>
          <a:bodyPr lIns="0" tIns="0" rIns="0" bIns="0" anchor="ctr">
            <a:spAutoFit/>
          </a:bodyPr>
          <a:lstStyle/>
          <a:p>
            <a:r>
              <a:rPr lang="en-US" sz="3600" dirty="0">
                <a:latin typeface="+mj-lt"/>
              </a:rPr>
              <a:t>The </a:t>
            </a:r>
            <a:r>
              <a:rPr lang="el-GR" sz="3600" i="1" dirty="0">
                <a:latin typeface="+mj-lt"/>
              </a:rPr>
              <a:t>α</a:t>
            </a:r>
            <a:r>
              <a:rPr lang="el-GR" sz="3600" dirty="0">
                <a:latin typeface="+mj-lt"/>
              </a:rPr>
              <a:t> </a:t>
            </a:r>
            <a:r>
              <a:rPr lang="en-US" sz="3600" dirty="0">
                <a:latin typeface="+mj-lt"/>
              </a:rPr>
              <a:t>Helix</a:t>
            </a:r>
            <a:r>
              <a:rPr lang="en-US" sz="2800" dirty="0">
                <a:latin typeface="+mj-lt"/>
              </a:rPr>
              <a:t> (1 of 2)</a:t>
            </a:r>
            <a:endParaRPr lang="en-US" sz="3600" dirty="0">
              <a:latin typeface="+mj-lt"/>
            </a:endParaRP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91414"/>
            <a:ext cx="8263784" cy="2600712"/>
          </a:xfrm>
        </p:spPr>
        <p:txBody>
          <a:bodyPr wrap="square" lIns="0" tIns="0" rIns="0" bIns="0">
            <a:spAutoFit/>
          </a:bodyPr>
          <a:lstStyle/>
          <a:p>
            <a:pPr marL="347472" indent="-347472"/>
            <a:r>
              <a:rPr lang="en-US" altLang="en-US" sz="2400" dirty="0">
                <a:latin typeface="+mj-lt"/>
              </a:rPr>
              <a:t>The </a:t>
            </a:r>
            <a:r>
              <a:rPr lang="el-GR" altLang="en-US" sz="2400" i="1" dirty="0">
                <a:latin typeface="+mj-lt"/>
                <a:cs typeface="Times New Roman" panose="02020603050405020304" pitchFamily="18" charset="0"/>
                <a:sym typeface="Symbol" panose="05050102010706020507" pitchFamily="18" charset="2"/>
              </a:rPr>
              <a:t>α</a:t>
            </a:r>
            <a:r>
              <a:rPr lang="en-US" altLang="en-US" sz="2400" dirty="0">
                <a:latin typeface="+mj-lt"/>
              </a:rPr>
              <a:t> helix is spiral in shape, consisting of the peptide backbone, with R groups jutting out from the spiral.</a:t>
            </a:r>
          </a:p>
          <a:p>
            <a:pPr marL="347472" indent="-347472"/>
            <a:r>
              <a:rPr lang="en-US" altLang="en-US" sz="2400" dirty="0">
                <a:latin typeface="+mj-lt"/>
              </a:rPr>
              <a:t>There are 3.6 amino acids per turn of the helix.</a:t>
            </a:r>
          </a:p>
          <a:p>
            <a:pPr marL="347472" indent="-347472"/>
            <a:r>
              <a:rPr lang="en-US" altLang="en-US" sz="2400" dirty="0">
                <a:latin typeface="+mj-lt"/>
              </a:rPr>
              <a:t>A hydrogen bond forms between the </a:t>
            </a:r>
            <a:r>
              <a:rPr lang="en-US" altLang="en-US" sz="2400" spc="-300" dirty="0">
                <a:latin typeface="+mj-lt"/>
              </a:rPr>
              <a:t>N </a:t>
            </a:r>
            <a:r>
              <a:rPr lang="en-US" altLang="en-US" sz="2400" dirty="0">
                <a:latin typeface="+mj-lt"/>
              </a:rPr>
              <a:t>H group of one amino acid and the </a:t>
            </a:r>
            <a:r>
              <a:rPr lang="en-US" altLang="en-US" sz="2400" spc="-300" dirty="0">
                <a:latin typeface="+mj-lt"/>
              </a:rPr>
              <a:t>C </a:t>
            </a:r>
            <a:r>
              <a:rPr lang="en-US" altLang="en-US" sz="2400" dirty="0">
                <a:latin typeface="+mj-lt"/>
              </a:rPr>
              <a:t>O group of a second amino acid that is one turn away from the first.</a:t>
            </a:r>
          </a:p>
        </p:txBody>
      </p:sp>
    </p:spTree>
    <p:extLst>
      <p:ext uri="{BB962C8B-B14F-4D97-AF65-F5344CB8AC3E}">
        <p14:creationId xmlns:p14="http://schemas.microsoft.com/office/powerpoint/2010/main" val="14259481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19100" y="191413"/>
            <a:ext cx="8267700" cy="553998"/>
          </a:xfrm>
        </p:spPr>
        <p:txBody>
          <a:bodyPr wrap="square" lIns="0" tIns="0" rIns="0" bIns="0" anchor="ctr">
            <a:spAutoFit/>
          </a:bodyPr>
          <a:lstStyle/>
          <a:p>
            <a:r>
              <a:rPr lang="en-US" dirty="0"/>
              <a:t>The </a:t>
            </a:r>
            <a:r>
              <a:rPr lang="el-GR" i="1" dirty="0"/>
              <a:t>α</a:t>
            </a:r>
            <a:r>
              <a:rPr lang="el-GR" dirty="0"/>
              <a:t> </a:t>
            </a:r>
            <a:r>
              <a:rPr lang="en-US" dirty="0"/>
              <a:t>Helix </a:t>
            </a:r>
            <a:r>
              <a:rPr lang="en-US" sz="2800" dirty="0"/>
              <a:t>(2 of 2)</a:t>
            </a:r>
            <a:endParaRPr lang="en-US" dirty="0"/>
          </a:p>
        </p:txBody>
      </p:sp>
      <p:sp>
        <p:nvSpPr>
          <p:cNvPr id="6" name="Content Placeholder 5"/>
          <p:cNvSpPr>
            <a:spLocks noGrp="1"/>
          </p:cNvSpPr>
          <p:nvPr>
            <p:ph sz="quarter" idx="13"/>
          </p:nvPr>
        </p:nvSpPr>
        <p:spPr>
          <a:xfrm>
            <a:off x="442452" y="1094661"/>
            <a:ext cx="3201500" cy="738664"/>
          </a:xfrm>
        </p:spPr>
        <p:txBody>
          <a:bodyPr wrap="square" lIns="0" tIns="0" rIns="0" bIns="0">
            <a:spAutoFit/>
          </a:bodyPr>
          <a:lstStyle/>
          <a:p>
            <a:pPr marL="0" indent="0">
              <a:buNone/>
            </a:pPr>
            <a:r>
              <a:rPr lang="en-US" sz="2400" b="1" dirty="0"/>
              <a:t>Figure 3.8</a:t>
            </a:r>
            <a:r>
              <a:rPr lang="en-US" sz="2400" dirty="0"/>
              <a:t> The </a:t>
            </a:r>
            <a:r>
              <a:rPr lang="el-GR" sz="2400" i="1" dirty="0"/>
              <a:t>α</a:t>
            </a:r>
            <a:r>
              <a:rPr lang="en-US" sz="2400" dirty="0"/>
              <a:t> Helix and </a:t>
            </a:r>
            <a:r>
              <a:rPr lang="el-GR" sz="2400" i="1" dirty="0"/>
              <a:t>β</a:t>
            </a:r>
            <a:r>
              <a:rPr lang="en-IN" sz="2400" dirty="0"/>
              <a:t> </a:t>
            </a:r>
            <a:r>
              <a:rPr lang="en-US" sz="2400" dirty="0"/>
              <a:t>Sheet.</a:t>
            </a:r>
          </a:p>
        </p:txBody>
      </p:sp>
      <p:pic>
        <p:nvPicPr>
          <p:cNvPr id="8" name="Picture Placeholder 7" descr="Description of the alpha helix and beta sheet that form the secondary structure of a protein.&#10;Long description is available in notes, press F6">
            <a:extLst>
              <a:ext uri="{FF2B5EF4-FFF2-40B4-BE49-F238E27FC236}">
                <a16:creationId xmlns:a16="http://schemas.microsoft.com/office/drawing/2014/main" id="{BB79A58C-1221-4367-8192-C411782677FF}"/>
              </a:ext>
            </a:extLst>
          </p:cNvPr>
          <p:cNvPicPr>
            <a:picLocks noGrp="1" noChangeAspect="1"/>
          </p:cNvPicPr>
          <p:nvPr>
            <p:ph type="pic" sz="quarter" idx="14"/>
          </p:nvPr>
        </p:nvPicPr>
        <p:blipFill rotWithShape="1">
          <a:blip r:embed="rId3"/>
          <a:srcRect b="2052"/>
          <a:stretch/>
        </p:blipFill>
        <p:spPr>
          <a:xfrm>
            <a:off x="3830452" y="1109394"/>
            <a:ext cx="4821382" cy="4998762"/>
          </a:xfrm>
          <a:prstGeom prst="rect">
            <a:avLst/>
          </a:prstGeom>
        </p:spPr>
      </p:pic>
    </p:spTree>
    <p:extLst>
      <p:ext uri="{BB962C8B-B14F-4D97-AF65-F5344CB8AC3E}">
        <p14:creationId xmlns:p14="http://schemas.microsoft.com/office/powerpoint/2010/main" val="8007013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83060"/>
            <a:ext cx="8263784" cy="553998"/>
          </a:xfrm>
        </p:spPr>
        <p:txBody>
          <a:bodyPr lIns="0" tIns="0" rIns="0" bIns="0" anchor="ctr">
            <a:spAutoFit/>
          </a:bodyPr>
          <a:lstStyle/>
          <a:p>
            <a:r>
              <a:rPr lang="en-US" sz="3600" dirty="0">
                <a:latin typeface="+mj-lt"/>
              </a:rPr>
              <a:t>The </a:t>
            </a:r>
            <a:r>
              <a:rPr lang="en-US" sz="3600" i="1" dirty="0">
                <a:latin typeface="+mj-lt"/>
              </a:rPr>
              <a:t>β</a:t>
            </a:r>
            <a:r>
              <a:rPr lang="en-US" sz="3600" dirty="0">
                <a:latin typeface="+mj-lt"/>
              </a:rPr>
              <a:t> Sheet </a:t>
            </a:r>
            <a:r>
              <a:rPr lang="en-US" sz="2800" dirty="0">
                <a:latin typeface="+mj-lt"/>
              </a:rPr>
              <a:t>(1 of 3)</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91414"/>
            <a:ext cx="8263784" cy="2600712"/>
          </a:xfrm>
        </p:spPr>
        <p:txBody>
          <a:bodyPr wrap="square" lIns="0" tIns="0" rIns="0" bIns="0">
            <a:spAutoFit/>
          </a:bodyPr>
          <a:lstStyle/>
          <a:p>
            <a:pPr marL="347472" indent="-347472"/>
            <a:r>
              <a:rPr lang="en-US" altLang="en-US" sz="2400" dirty="0">
                <a:latin typeface="+mj-lt"/>
              </a:rPr>
              <a:t>The </a:t>
            </a:r>
            <a:r>
              <a:rPr lang="el-GR" altLang="en-US" sz="2400" i="1" dirty="0">
                <a:latin typeface="+mj-lt"/>
                <a:cs typeface="Times New Roman" panose="02020603050405020304" pitchFamily="18" charset="0"/>
                <a:sym typeface="Symbol" panose="05050102010706020507" pitchFamily="18" charset="2"/>
              </a:rPr>
              <a:t>β</a:t>
            </a:r>
            <a:r>
              <a:rPr lang="en-US" altLang="en-US" sz="2400" dirty="0">
                <a:latin typeface="+mj-lt"/>
              </a:rPr>
              <a:t> sheet is an extended </a:t>
            </a:r>
            <a:r>
              <a:rPr lang="en-US" altLang="en-US" sz="2400" dirty="0" err="1">
                <a:latin typeface="+mj-lt"/>
              </a:rPr>
              <a:t>sheetlike</a:t>
            </a:r>
            <a:r>
              <a:rPr lang="en-US" altLang="en-US" sz="2400" dirty="0">
                <a:latin typeface="+mj-lt"/>
              </a:rPr>
              <a:t> conformation with successive atoms of the polypeptide chain located at </a:t>
            </a:r>
            <a:r>
              <a:rPr lang="en-US" altLang="ja-JP" sz="2400" dirty="0">
                <a:latin typeface="+mj-lt"/>
              </a:rPr>
              <a:t>“peaks” or “troughs.”</a:t>
            </a:r>
          </a:p>
          <a:p>
            <a:pPr marL="347472" indent="-347472"/>
            <a:r>
              <a:rPr lang="en-US" altLang="en-US" sz="2400" dirty="0">
                <a:latin typeface="+mj-lt"/>
              </a:rPr>
              <a:t>The R groups jut out on alternating sides of the sheet.</a:t>
            </a:r>
          </a:p>
          <a:p>
            <a:pPr marL="347472" indent="-347472"/>
            <a:r>
              <a:rPr lang="en-US" altLang="en-US" sz="2400" dirty="0">
                <a:latin typeface="+mj-lt"/>
              </a:rPr>
              <a:t>Because of the formation of peaks and troughs, it is sometimes referred to as a </a:t>
            </a:r>
            <a:r>
              <a:rPr lang="el-GR" altLang="en-US" sz="2400" i="1" dirty="0">
                <a:latin typeface="+mj-lt"/>
                <a:cs typeface="Times New Roman" panose="02020603050405020304" pitchFamily="18" charset="0"/>
                <a:sym typeface="Symbol" panose="05050102010706020507" pitchFamily="18" charset="2"/>
              </a:rPr>
              <a:t>β</a:t>
            </a:r>
            <a:r>
              <a:rPr lang="en-US" altLang="en-US" sz="2400" i="1" dirty="0">
                <a:latin typeface="+mj-lt"/>
              </a:rPr>
              <a:t>-pleated</a:t>
            </a:r>
            <a:r>
              <a:rPr lang="en-US" altLang="en-US" sz="2400" dirty="0">
                <a:latin typeface="+mj-lt"/>
              </a:rPr>
              <a:t> </a:t>
            </a:r>
            <a:r>
              <a:rPr lang="en-US" altLang="en-US" sz="2400" i="1" dirty="0">
                <a:latin typeface="+mj-lt"/>
              </a:rPr>
              <a:t>sheet.</a:t>
            </a:r>
            <a:endParaRPr lang="en-US" altLang="en-US" sz="2400" dirty="0">
              <a:latin typeface="+mj-lt"/>
            </a:endParaRPr>
          </a:p>
        </p:txBody>
      </p:sp>
    </p:spTree>
    <p:extLst>
      <p:ext uri="{BB962C8B-B14F-4D97-AF65-F5344CB8AC3E}">
        <p14:creationId xmlns:p14="http://schemas.microsoft.com/office/powerpoint/2010/main" val="7875118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83060"/>
            <a:ext cx="8263784" cy="553998"/>
          </a:xfrm>
        </p:spPr>
        <p:txBody>
          <a:bodyPr lIns="0" tIns="0" rIns="0" bIns="0" anchor="ctr">
            <a:spAutoFit/>
          </a:bodyPr>
          <a:lstStyle/>
          <a:p>
            <a:r>
              <a:rPr lang="en-US" sz="3600" dirty="0">
                <a:latin typeface="+mj-lt"/>
              </a:rPr>
              <a:t>The </a:t>
            </a:r>
            <a:r>
              <a:rPr lang="en-US" sz="3600" i="1" dirty="0">
                <a:latin typeface="+mj-lt"/>
              </a:rPr>
              <a:t>β</a:t>
            </a:r>
            <a:r>
              <a:rPr lang="en-US" sz="3600" dirty="0">
                <a:latin typeface="+mj-lt"/>
              </a:rPr>
              <a:t> Sheet </a:t>
            </a:r>
            <a:r>
              <a:rPr lang="en-US" sz="2800" dirty="0">
                <a:latin typeface="+mj-lt"/>
              </a:rPr>
              <a:t>(2 of 3)</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91414"/>
            <a:ext cx="8263784" cy="3339376"/>
          </a:xfrm>
        </p:spPr>
        <p:txBody>
          <a:bodyPr wrap="square" lIns="0" tIns="0" rIns="0" bIns="0">
            <a:spAutoFit/>
          </a:bodyPr>
          <a:lstStyle/>
          <a:p>
            <a:pPr marL="347472" indent="-347472"/>
            <a:r>
              <a:rPr lang="en-US" altLang="en-US" sz="2400" dirty="0">
                <a:latin typeface="+mj-lt"/>
              </a:rPr>
              <a:t>The </a:t>
            </a:r>
            <a:r>
              <a:rPr lang="el-GR" altLang="en-US" sz="2400" i="1" dirty="0">
                <a:latin typeface="+mj-lt"/>
                <a:cs typeface="Times New Roman" panose="02020603050405020304" pitchFamily="18" charset="0"/>
                <a:sym typeface="Symbol" panose="05050102010706020507" pitchFamily="18" charset="2"/>
              </a:rPr>
              <a:t>β</a:t>
            </a:r>
            <a:r>
              <a:rPr lang="en-US" altLang="en-US" sz="2400" dirty="0">
                <a:latin typeface="+mj-lt"/>
              </a:rPr>
              <a:t> sheet is characterized by a maximum of hydrogen bonding, but </a:t>
            </a:r>
            <a:r>
              <a:rPr lang="el-GR" altLang="en-US" sz="2400" i="1" dirty="0">
                <a:latin typeface="+mj-lt"/>
                <a:cs typeface="Times New Roman" panose="02020603050405020304" pitchFamily="18" charset="0"/>
                <a:sym typeface="Symbol" panose="05050102010706020507" pitchFamily="18" charset="2"/>
              </a:rPr>
              <a:t>β</a:t>
            </a:r>
            <a:r>
              <a:rPr lang="en-US" altLang="en-US" sz="2400" dirty="0">
                <a:latin typeface="+mj-lt"/>
              </a:rPr>
              <a:t> sheet formation may involve different polypeptides or different regions of a single polypeptide.</a:t>
            </a:r>
          </a:p>
          <a:p>
            <a:pPr marL="347472" indent="-347472"/>
            <a:r>
              <a:rPr lang="en-US" altLang="en-US" sz="2400" dirty="0">
                <a:latin typeface="+mj-lt"/>
              </a:rPr>
              <a:t>If the parts of polypeptides forming the </a:t>
            </a:r>
            <a:r>
              <a:rPr lang="el-GR" altLang="en-US" sz="2400" i="1" dirty="0">
                <a:latin typeface="+mj-lt"/>
                <a:cs typeface="Times New Roman" panose="02020603050405020304" pitchFamily="18" charset="0"/>
                <a:sym typeface="Symbol" panose="05050102010706020507" pitchFamily="18" charset="2"/>
              </a:rPr>
              <a:t>β</a:t>
            </a:r>
            <a:r>
              <a:rPr lang="en-US" altLang="en-US" sz="2400" dirty="0">
                <a:latin typeface="+mj-lt"/>
              </a:rPr>
              <a:t> sheet have the same polarity (relative to the N- and C- termini), they are called </a:t>
            </a:r>
            <a:r>
              <a:rPr lang="en-US" altLang="en-US" sz="2400" i="1" dirty="0">
                <a:latin typeface="+mj-lt"/>
              </a:rPr>
              <a:t>parallel.</a:t>
            </a:r>
          </a:p>
          <a:p>
            <a:pPr marL="347472" indent="-347472"/>
            <a:r>
              <a:rPr lang="en-US" altLang="en-US" sz="2400" dirty="0">
                <a:latin typeface="+mj-lt"/>
              </a:rPr>
              <a:t>If the parts of polypeptides forming the </a:t>
            </a:r>
            <a:r>
              <a:rPr lang="el-GR" altLang="en-US" sz="2400" i="1" dirty="0">
                <a:latin typeface="+mj-lt"/>
                <a:cs typeface="Times New Roman" panose="02020603050405020304" pitchFamily="18" charset="0"/>
                <a:sym typeface="Symbol" panose="05050102010706020507" pitchFamily="18" charset="2"/>
              </a:rPr>
              <a:t>β</a:t>
            </a:r>
            <a:r>
              <a:rPr lang="en-US" altLang="en-US" sz="2400" dirty="0">
                <a:latin typeface="+mj-lt"/>
              </a:rPr>
              <a:t> sheet have opposite polarity, they are called </a:t>
            </a:r>
            <a:r>
              <a:rPr lang="en-US" altLang="en-US" sz="2400" i="1" dirty="0">
                <a:latin typeface="+mj-lt"/>
              </a:rPr>
              <a:t>antiparallel.</a:t>
            </a:r>
          </a:p>
        </p:txBody>
      </p:sp>
    </p:spTree>
    <p:extLst>
      <p:ext uri="{BB962C8B-B14F-4D97-AF65-F5344CB8AC3E}">
        <p14:creationId xmlns:p14="http://schemas.microsoft.com/office/powerpoint/2010/main" val="12978736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19100" y="191413"/>
            <a:ext cx="8267700" cy="553998"/>
          </a:xfrm>
        </p:spPr>
        <p:txBody>
          <a:bodyPr wrap="square" lIns="0" tIns="0" rIns="0" bIns="0" anchor="ctr">
            <a:spAutoFit/>
          </a:bodyPr>
          <a:lstStyle/>
          <a:p>
            <a:r>
              <a:rPr lang="en-US" dirty="0"/>
              <a:t>The </a:t>
            </a:r>
            <a:r>
              <a:rPr lang="en-US" i="1" dirty="0"/>
              <a:t>β</a:t>
            </a:r>
            <a:r>
              <a:rPr lang="el-GR" dirty="0"/>
              <a:t> </a:t>
            </a:r>
            <a:r>
              <a:rPr lang="en-US" dirty="0"/>
              <a:t>Sheet </a:t>
            </a:r>
            <a:r>
              <a:rPr lang="en-US" sz="2800" dirty="0"/>
              <a:t>(3 of 3)</a:t>
            </a:r>
          </a:p>
        </p:txBody>
      </p:sp>
      <p:sp>
        <p:nvSpPr>
          <p:cNvPr id="6" name="Content Placeholder 5"/>
          <p:cNvSpPr>
            <a:spLocks noGrp="1"/>
          </p:cNvSpPr>
          <p:nvPr>
            <p:ph sz="quarter" idx="13"/>
          </p:nvPr>
        </p:nvSpPr>
        <p:spPr>
          <a:xfrm>
            <a:off x="442452" y="1094661"/>
            <a:ext cx="2901249" cy="738664"/>
          </a:xfrm>
        </p:spPr>
        <p:txBody>
          <a:bodyPr wrap="square" lIns="0" tIns="0" rIns="0" bIns="0">
            <a:spAutoFit/>
          </a:bodyPr>
          <a:lstStyle/>
          <a:p>
            <a:pPr marL="0" indent="0">
              <a:buNone/>
            </a:pPr>
            <a:r>
              <a:rPr lang="en-US" sz="2400" b="1" dirty="0"/>
              <a:t>Figure 3.8</a:t>
            </a:r>
            <a:r>
              <a:rPr lang="en-US" sz="2400" dirty="0"/>
              <a:t> The Helix and Sheet.</a:t>
            </a:r>
          </a:p>
        </p:txBody>
      </p:sp>
      <p:pic>
        <p:nvPicPr>
          <p:cNvPr id="7" name="Picture Placeholder 6" descr="Description of the alpha helix and beta sheet that form the secondary structure of a protein.&#10;Long description is available in notes, press F6">
            <a:extLst>
              <a:ext uri="{FF2B5EF4-FFF2-40B4-BE49-F238E27FC236}">
                <a16:creationId xmlns:a16="http://schemas.microsoft.com/office/drawing/2014/main" id="{3A9B4634-7648-43AF-B496-AD010EF8E1EA}"/>
              </a:ext>
            </a:extLst>
          </p:cNvPr>
          <p:cNvPicPr>
            <a:picLocks noGrp="1" noChangeAspect="1"/>
          </p:cNvPicPr>
          <p:nvPr>
            <p:ph type="pic" sz="quarter" idx="14"/>
          </p:nvPr>
        </p:nvPicPr>
        <p:blipFill rotWithShape="1">
          <a:blip r:embed="rId3"/>
          <a:srcRect b="2356"/>
          <a:stretch/>
        </p:blipFill>
        <p:spPr>
          <a:xfrm>
            <a:off x="3715066" y="1083618"/>
            <a:ext cx="4873223" cy="5246848"/>
          </a:xfrm>
          <a:prstGeom prst="rect">
            <a:avLst/>
          </a:prstGeom>
        </p:spPr>
      </p:pic>
    </p:spTree>
    <p:extLst>
      <p:ext uri="{BB962C8B-B14F-4D97-AF65-F5344CB8AC3E}">
        <p14:creationId xmlns:p14="http://schemas.microsoft.com/office/powerpoint/2010/main" val="1229976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67319"/>
            <a:ext cx="8263784" cy="1107996"/>
          </a:xfrm>
        </p:spPr>
        <p:txBody>
          <a:bodyPr lIns="0" tIns="0" rIns="0" bIns="0" anchor="ctr">
            <a:spAutoFit/>
          </a:bodyPr>
          <a:lstStyle/>
          <a:p>
            <a:r>
              <a:rPr lang="en-US" sz="3600" dirty="0">
                <a:latin typeface="+mj-lt"/>
              </a:rPr>
              <a:t>Amino Acid Sequence and Secondary Structure</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541356"/>
            <a:ext cx="8263784" cy="2039020"/>
          </a:xfrm>
        </p:spPr>
        <p:txBody>
          <a:bodyPr wrap="square" lIns="0" tIns="0" rIns="0" bIns="0">
            <a:spAutoFit/>
          </a:bodyPr>
          <a:lstStyle/>
          <a:p>
            <a:pPr marL="347472" indent="-347472"/>
            <a:r>
              <a:rPr lang="en-US" altLang="en-US" sz="2400" dirty="0">
                <a:latin typeface="+mj-lt"/>
              </a:rPr>
              <a:t>Certain amino acids (e.g., leucine, methionine, glutamate) tend to form </a:t>
            </a:r>
            <a:r>
              <a:rPr lang="el-GR" altLang="en-US" sz="2400" i="1" dirty="0">
                <a:latin typeface="+mj-lt"/>
                <a:cs typeface="Times New Roman" panose="02020603050405020304" pitchFamily="18" charset="0"/>
                <a:sym typeface="Symbol" panose="05050102010706020507" pitchFamily="18" charset="2"/>
              </a:rPr>
              <a:t>α</a:t>
            </a:r>
            <a:r>
              <a:rPr lang="en-US" altLang="en-US" sz="2400" dirty="0">
                <a:latin typeface="+mj-lt"/>
              </a:rPr>
              <a:t> helices, whereas others (e.g., isoleucine, valine, phenylalanine) tend to form </a:t>
            </a:r>
            <a:r>
              <a:rPr lang="el-GR" altLang="en-US" sz="2400" i="1" dirty="0">
                <a:latin typeface="+mj-lt"/>
                <a:cs typeface="Times New Roman" panose="02020603050405020304" pitchFamily="18" charset="0"/>
                <a:sym typeface="Symbol" panose="05050102010706020507" pitchFamily="18" charset="2"/>
              </a:rPr>
              <a:t>β</a:t>
            </a:r>
            <a:r>
              <a:rPr lang="el-GR" altLang="en-US" sz="2400" i="1" dirty="0">
                <a:latin typeface="+mj-lt"/>
                <a:cs typeface="Arial" panose="020B0604020202020204" pitchFamily="34" charset="0"/>
                <a:sym typeface="Symbol" panose="05050102010706020507" pitchFamily="18" charset="2"/>
              </a:rPr>
              <a:t> </a:t>
            </a:r>
            <a:r>
              <a:rPr lang="en-US" altLang="en-US" sz="2400" dirty="0">
                <a:latin typeface="+mj-lt"/>
              </a:rPr>
              <a:t>sheets.</a:t>
            </a:r>
          </a:p>
          <a:p>
            <a:pPr marL="347472" indent="-347472"/>
            <a:r>
              <a:rPr lang="en-US" altLang="en-US" sz="2400" dirty="0">
                <a:latin typeface="+mj-lt"/>
              </a:rPr>
              <a:t>Proline cannot form  hydrogen bonds and tends to disrupt </a:t>
            </a:r>
            <a:r>
              <a:rPr lang="el-GR" altLang="en-US" sz="2400" i="1" dirty="0">
                <a:latin typeface="+mj-lt"/>
                <a:cs typeface="Times New Roman" panose="02020603050405020304" pitchFamily="18" charset="0"/>
                <a:sym typeface="Symbol" panose="05050102010706020507" pitchFamily="18" charset="2"/>
              </a:rPr>
              <a:t>α</a:t>
            </a:r>
            <a:r>
              <a:rPr lang="en-US" altLang="en-US" sz="2400" dirty="0">
                <a:latin typeface="+mj-lt"/>
              </a:rPr>
              <a:t> helix structures by introducing a bend in the helix.</a:t>
            </a:r>
          </a:p>
        </p:txBody>
      </p:sp>
    </p:spTree>
    <p:extLst>
      <p:ext uri="{BB962C8B-B14F-4D97-AF65-F5344CB8AC3E}">
        <p14:creationId xmlns:p14="http://schemas.microsoft.com/office/powerpoint/2010/main" val="9253671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68546"/>
            <a:ext cx="8263784" cy="553998"/>
          </a:xfrm>
        </p:spPr>
        <p:txBody>
          <a:bodyPr lIns="0" tIns="0" rIns="0" bIns="0" anchor="ctr">
            <a:spAutoFit/>
          </a:bodyPr>
          <a:lstStyle/>
          <a:p>
            <a:r>
              <a:rPr lang="en-US" sz="3600" dirty="0">
                <a:latin typeface="+mj-lt"/>
              </a:rPr>
              <a:t>Motifs</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91412"/>
            <a:ext cx="8263784" cy="2600712"/>
          </a:xfrm>
        </p:spPr>
        <p:txBody>
          <a:bodyPr wrap="square" lIns="0" tIns="0" rIns="0" bIns="0">
            <a:spAutoFit/>
          </a:bodyPr>
          <a:lstStyle/>
          <a:p>
            <a:pPr marL="347472" indent="-347472"/>
            <a:r>
              <a:rPr lang="en-US" altLang="en-US" sz="2400" dirty="0">
                <a:latin typeface="+mj-lt"/>
              </a:rPr>
              <a:t>Certain combinations of </a:t>
            </a:r>
            <a:r>
              <a:rPr lang="el-GR" altLang="en-US" sz="2400" i="1" dirty="0">
                <a:latin typeface="+mj-lt"/>
                <a:cs typeface="Times New Roman" panose="02020603050405020304" pitchFamily="18" charset="0"/>
                <a:sym typeface="Symbol" panose="05050102010706020507" pitchFamily="18" charset="2"/>
              </a:rPr>
              <a:t>α</a:t>
            </a:r>
            <a:r>
              <a:rPr lang="en-US" altLang="en-US" sz="2400" dirty="0">
                <a:latin typeface="+mj-lt"/>
              </a:rPr>
              <a:t> helices and </a:t>
            </a:r>
            <a:r>
              <a:rPr lang="el-GR" altLang="en-US" sz="2400" i="1" dirty="0">
                <a:latin typeface="+mj-lt"/>
                <a:cs typeface="Times New Roman" panose="02020603050405020304" pitchFamily="18" charset="0"/>
                <a:sym typeface="Symbol" panose="05050102010706020507" pitchFamily="18" charset="2"/>
              </a:rPr>
              <a:t>β</a:t>
            </a:r>
            <a:r>
              <a:rPr lang="en-US" altLang="en-US" sz="2400" dirty="0">
                <a:latin typeface="+mj-lt"/>
              </a:rPr>
              <a:t> sheets have been identified in many proteins.</a:t>
            </a:r>
          </a:p>
          <a:p>
            <a:pPr marL="347472" indent="-347472"/>
            <a:r>
              <a:rPr lang="en-US" altLang="en-US" sz="2400" dirty="0">
                <a:latin typeface="+mj-lt"/>
              </a:rPr>
              <a:t>These units of secondary structure consist of short stretches of </a:t>
            </a:r>
            <a:r>
              <a:rPr lang="el-GR" altLang="en-US" sz="2400" i="1" dirty="0">
                <a:latin typeface="+mj-lt"/>
                <a:cs typeface="Times New Roman" panose="02020603050405020304" pitchFamily="18" charset="0"/>
                <a:sym typeface="Symbol" panose="05050102010706020507" pitchFamily="18" charset="2"/>
              </a:rPr>
              <a:t>α</a:t>
            </a:r>
            <a:r>
              <a:rPr lang="en-US" altLang="en-US" sz="2400" dirty="0">
                <a:latin typeface="+mj-lt"/>
              </a:rPr>
              <a:t> helices and </a:t>
            </a:r>
            <a:r>
              <a:rPr lang="el-GR" altLang="en-US" sz="2400" i="1" dirty="0">
                <a:latin typeface="+mj-lt"/>
                <a:cs typeface="Times New Roman" panose="02020603050405020304" pitchFamily="18" charset="0"/>
                <a:sym typeface="Symbol" panose="05050102010706020507" pitchFamily="18" charset="2"/>
              </a:rPr>
              <a:t>β</a:t>
            </a:r>
            <a:r>
              <a:rPr lang="en-US" altLang="en-US" sz="2400" dirty="0">
                <a:latin typeface="+mj-lt"/>
              </a:rPr>
              <a:t> sheets and are called </a:t>
            </a:r>
            <a:r>
              <a:rPr lang="en-US" altLang="en-US" sz="2400" b="1" dirty="0">
                <a:latin typeface="+mj-lt"/>
              </a:rPr>
              <a:t>motifs</a:t>
            </a:r>
            <a:r>
              <a:rPr lang="en-US" altLang="en-US" sz="2400" dirty="0">
                <a:latin typeface="+mj-lt"/>
              </a:rPr>
              <a:t>.</a:t>
            </a:r>
          </a:p>
          <a:p>
            <a:pPr marL="347472" indent="-347472"/>
            <a:r>
              <a:rPr lang="en-US" altLang="en-US" sz="2400" dirty="0">
                <a:latin typeface="+mj-lt"/>
              </a:rPr>
              <a:t>Examples include the </a:t>
            </a:r>
            <a:r>
              <a:rPr lang="el-GR" altLang="en-US" sz="2400" i="1" dirty="0">
                <a:latin typeface="+mj-lt"/>
                <a:cs typeface="Times New Roman" panose="02020603050405020304" pitchFamily="18" charset="0"/>
                <a:sym typeface="Symbol" panose="05050102010706020507" pitchFamily="18" charset="2"/>
              </a:rPr>
              <a:t>β</a:t>
            </a:r>
            <a:r>
              <a:rPr lang="en-US" altLang="en-US" sz="2400" dirty="0">
                <a:latin typeface="+mj-lt"/>
                <a:cs typeface="Times New Roman" panose="02020603050405020304" pitchFamily="18" charset="0"/>
                <a:sym typeface="Symbol" panose="05050102010706020507" pitchFamily="18" charset="2"/>
              </a:rPr>
              <a:t>–</a:t>
            </a:r>
            <a:r>
              <a:rPr lang="el-GR" altLang="en-US" sz="2400" i="1" dirty="0">
                <a:latin typeface="+mj-lt"/>
                <a:cs typeface="Times New Roman" panose="02020603050405020304" pitchFamily="18" charset="0"/>
                <a:sym typeface="Symbol" panose="05050102010706020507" pitchFamily="18" charset="2"/>
              </a:rPr>
              <a:t>α</a:t>
            </a:r>
            <a:r>
              <a:rPr lang="en-US" altLang="en-US" sz="2400" dirty="0">
                <a:latin typeface="+mj-lt"/>
                <a:cs typeface="Times New Roman" panose="02020603050405020304" pitchFamily="18" charset="0"/>
                <a:sym typeface="Symbol" panose="05050102010706020507" pitchFamily="18" charset="2"/>
              </a:rPr>
              <a:t>–</a:t>
            </a:r>
            <a:r>
              <a:rPr lang="el-GR" altLang="en-US" sz="2400" i="1" dirty="0">
                <a:latin typeface="+mj-lt"/>
                <a:cs typeface="Times New Roman" panose="02020603050405020304" pitchFamily="18" charset="0"/>
                <a:sym typeface="Symbol" panose="05050102010706020507" pitchFamily="18" charset="2"/>
              </a:rPr>
              <a:t>β</a:t>
            </a:r>
            <a:r>
              <a:rPr lang="en-US" altLang="en-US" sz="2400" dirty="0">
                <a:latin typeface="+mj-lt"/>
              </a:rPr>
              <a:t>, the hairpin loop, and the helix-turn-helix motifs.</a:t>
            </a:r>
          </a:p>
        </p:txBody>
      </p:sp>
    </p:spTree>
    <p:extLst>
      <p:ext uri="{BB962C8B-B14F-4D97-AF65-F5344CB8AC3E}">
        <p14:creationId xmlns:p14="http://schemas.microsoft.com/office/powerpoint/2010/main" val="37743626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19100" y="176899"/>
            <a:ext cx="8267700" cy="553998"/>
          </a:xfrm>
        </p:spPr>
        <p:txBody>
          <a:bodyPr wrap="square" lIns="0" tIns="0" rIns="0" bIns="0" anchor="ctr">
            <a:spAutoFit/>
          </a:bodyPr>
          <a:lstStyle/>
          <a:p>
            <a:r>
              <a:rPr lang="en-US" dirty="0"/>
              <a:t>Common Structural Motifs</a:t>
            </a:r>
          </a:p>
        </p:txBody>
      </p:sp>
      <p:sp>
        <p:nvSpPr>
          <p:cNvPr id="6" name="Content Placeholder 5"/>
          <p:cNvSpPr>
            <a:spLocks noGrp="1"/>
          </p:cNvSpPr>
          <p:nvPr>
            <p:ph sz="quarter" idx="13"/>
          </p:nvPr>
        </p:nvSpPr>
        <p:spPr>
          <a:xfrm>
            <a:off x="442451" y="1094661"/>
            <a:ext cx="3419865" cy="738664"/>
          </a:xfrm>
        </p:spPr>
        <p:txBody>
          <a:bodyPr wrap="square" lIns="0" tIns="0" rIns="0" bIns="0">
            <a:spAutoFit/>
          </a:bodyPr>
          <a:lstStyle/>
          <a:p>
            <a:pPr marL="0" indent="0">
              <a:buNone/>
            </a:pPr>
            <a:r>
              <a:rPr lang="en-US" sz="2400" b="1" dirty="0">
                <a:latin typeface="+mn-lt"/>
              </a:rPr>
              <a:t>Figure 3.9</a:t>
            </a:r>
            <a:r>
              <a:rPr lang="en-US" sz="2400" dirty="0">
                <a:latin typeface="+mn-lt"/>
              </a:rPr>
              <a:t> Common Structural Motifs.</a:t>
            </a:r>
          </a:p>
        </p:txBody>
      </p:sp>
      <p:pic>
        <p:nvPicPr>
          <p:cNvPr id="8" name="Picture Placeholder 7" descr="The basic pattern of three kinds of structural motifs in the secondary structure, namely, beta hyphen alpha hyphen beta, hairpin loop, and helix hyphen turn hyphen helix motifs. &#10;Long description is available in notes, press F6">
            <a:extLst>
              <a:ext uri="{FF2B5EF4-FFF2-40B4-BE49-F238E27FC236}">
                <a16:creationId xmlns:a16="http://schemas.microsoft.com/office/drawing/2014/main" id="{4EDB9FD0-76D3-4B0F-93A2-8281FD2106D7}"/>
              </a:ext>
            </a:extLst>
          </p:cNvPr>
          <p:cNvPicPr>
            <a:picLocks noGrp="1" noChangeAspect="1"/>
          </p:cNvPicPr>
          <p:nvPr>
            <p:ph type="pic" sz="quarter" idx="14"/>
          </p:nvPr>
        </p:nvPicPr>
        <p:blipFill rotWithShape="1">
          <a:blip r:embed="rId3"/>
          <a:srcRect b="2273"/>
          <a:stretch/>
        </p:blipFill>
        <p:spPr>
          <a:xfrm>
            <a:off x="4537392" y="1026263"/>
            <a:ext cx="4138415" cy="5310077"/>
          </a:xfrm>
          <a:prstGeom prst="rect">
            <a:avLst/>
          </a:prstGeom>
        </p:spPr>
      </p:pic>
    </p:spTree>
    <p:extLst>
      <p:ext uri="{BB962C8B-B14F-4D97-AF65-F5344CB8AC3E}">
        <p14:creationId xmlns:p14="http://schemas.microsoft.com/office/powerpoint/2010/main" val="386936214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68546"/>
            <a:ext cx="8263784" cy="553998"/>
          </a:xfrm>
        </p:spPr>
        <p:txBody>
          <a:bodyPr lIns="0" tIns="0" rIns="0" bIns="0" anchor="ctr">
            <a:spAutoFit/>
          </a:bodyPr>
          <a:lstStyle/>
          <a:p>
            <a:r>
              <a:rPr lang="en-US" sz="3600" dirty="0">
                <a:latin typeface="+mj-lt"/>
              </a:rPr>
              <a:t>Tertiary Structure</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91412"/>
            <a:ext cx="8263784" cy="3339376"/>
          </a:xfrm>
        </p:spPr>
        <p:txBody>
          <a:bodyPr wrap="square" lIns="0" tIns="0" rIns="0" bIns="0">
            <a:spAutoFit/>
          </a:bodyPr>
          <a:lstStyle/>
          <a:p>
            <a:pPr marL="347472" indent="-347472"/>
            <a:r>
              <a:rPr lang="en-US" altLang="en-US" sz="2400" dirty="0"/>
              <a:t>The </a:t>
            </a:r>
            <a:r>
              <a:rPr lang="en-US" altLang="en-US" sz="2400" b="1" dirty="0"/>
              <a:t>tertiary</a:t>
            </a:r>
            <a:r>
              <a:rPr lang="en-US" altLang="en-US" sz="2400" dirty="0"/>
              <a:t> </a:t>
            </a:r>
            <a:r>
              <a:rPr lang="en-US" altLang="en-US" sz="2400" b="1" dirty="0"/>
              <a:t>structure</a:t>
            </a:r>
            <a:r>
              <a:rPr lang="en-US" altLang="en-US" sz="2400" dirty="0"/>
              <a:t> reflects the unique aspect of the amino acid sequence because it depends on interactions of the R groups.</a:t>
            </a:r>
          </a:p>
          <a:p>
            <a:pPr marL="347472" indent="-347472"/>
            <a:r>
              <a:rPr lang="en-US" altLang="en-US" sz="2400" dirty="0"/>
              <a:t>Tertiary structure is neither repetitive nor easy to predict.</a:t>
            </a:r>
          </a:p>
          <a:p>
            <a:pPr marL="347472" indent="-347472"/>
            <a:r>
              <a:rPr lang="en-US" altLang="en-US" sz="2400" dirty="0"/>
              <a:t>It results from the sum of hydrophobic residues avoiding water, hydrophilic residues interacting with water, the repulsion of similarly charged residues, and attraction between oppositely charged residues.</a:t>
            </a:r>
          </a:p>
        </p:txBody>
      </p:sp>
    </p:spTree>
    <p:extLst>
      <p:ext uri="{BB962C8B-B14F-4D97-AF65-F5344CB8AC3E}">
        <p14:creationId xmlns:p14="http://schemas.microsoft.com/office/powerpoint/2010/main" val="85116665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69761"/>
            <a:ext cx="8263784" cy="553998"/>
          </a:xfrm>
        </p:spPr>
        <p:txBody>
          <a:bodyPr lIns="0" tIns="0" rIns="0" bIns="0" anchor="ctr">
            <a:spAutoFit/>
          </a:bodyPr>
          <a:lstStyle/>
          <a:p>
            <a:r>
              <a:rPr lang="en-US" altLang="en-US" sz="3600" dirty="0">
                <a:latin typeface="+mj-lt"/>
                <a:cs typeface="Times New Roman" panose="02020603050405020304" pitchFamily="18" charset="0"/>
              </a:rPr>
              <a:t>Native Conformation</a:t>
            </a:r>
            <a:endParaRPr lang="en-US" sz="3600" dirty="0">
              <a:latin typeface="+mj-lt"/>
              <a:cs typeface="Times New Roman" panose="02020603050405020304" pitchFamily="18" charset="0"/>
            </a:endParaRP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89319"/>
            <a:ext cx="8229600" cy="2192908"/>
          </a:xfrm>
          <a:noFill/>
          <a:ln>
            <a:noFill/>
          </a:ln>
        </p:spPr>
        <p:txBody>
          <a:bodyPr lIns="0" tIns="0" rIns="0" bIns="0" anchor="t" anchorCtr="0">
            <a:spAutoFit/>
          </a:bodyPr>
          <a:lstStyle/>
          <a:p>
            <a:pPr marL="342900" indent="-342900"/>
            <a:r>
              <a:rPr lang="en-US" altLang="en-US" sz="2400" dirty="0"/>
              <a:t>The most stable possible three-dimensional structure of a particular polypeptide is called the </a:t>
            </a:r>
            <a:r>
              <a:rPr lang="en-US" altLang="en-US" sz="2400" b="1" dirty="0"/>
              <a:t>native conformation.</a:t>
            </a:r>
          </a:p>
          <a:p>
            <a:pPr marL="342900" indent="-342900"/>
            <a:r>
              <a:rPr lang="en-US" altLang="en-US" sz="2400" dirty="0"/>
              <a:t>Proteins can be divided into two broad categories</a:t>
            </a:r>
          </a:p>
          <a:p>
            <a:pPr lvl="1" indent="-342000"/>
            <a:r>
              <a:rPr lang="en-US" altLang="en-US" sz="2400" i="1" dirty="0"/>
              <a:t>Fibrous proteins</a:t>
            </a:r>
          </a:p>
          <a:p>
            <a:pPr lvl="1" indent="-342000"/>
            <a:r>
              <a:rPr lang="en-US" altLang="en-US" sz="2400" i="1" dirty="0"/>
              <a:t>Globular proteins</a:t>
            </a:r>
          </a:p>
        </p:txBody>
      </p:sp>
    </p:spTree>
    <p:extLst>
      <p:ext uri="{BB962C8B-B14F-4D97-AF65-F5344CB8AC3E}">
        <p14:creationId xmlns:p14="http://schemas.microsoft.com/office/powerpoint/2010/main" val="79204281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69761"/>
            <a:ext cx="8263784" cy="553998"/>
          </a:xfrm>
        </p:spPr>
        <p:txBody>
          <a:bodyPr lIns="0" tIns="0" rIns="0" bIns="0" anchor="ctr">
            <a:spAutoFit/>
          </a:bodyPr>
          <a:lstStyle/>
          <a:p>
            <a:r>
              <a:rPr lang="en-US" altLang="en-US" sz="3600" dirty="0">
                <a:latin typeface="+mj-lt"/>
              </a:rPr>
              <a:t>Fibrous Proteins</a:t>
            </a:r>
            <a:endParaRPr lang="en-US" sz="3600" dirty="0">
              <a:latin typeface="+mj-lt"/>
              <a:cs typeface="Times New Roman" panose="02020603050405020304" pitchFamily="18" charset="0"/>
            </a:endParaRP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62023"/>
            <a:ext cx="8229600" cy="3454792"/>
          </a:xfrm>
          <a:noFill/>
          <a:ln>
            <a:noFill/>
          </a:ln>
        </p:spPr>
        <p:txBody>
          <a:bodyPr lIns="0" tIns="0" rIns="0" bIns="0" anchor="t" anchorCtr="0">
            <a:spAutoFit/>
          </a:bodyPr>
          <a:lstStyle/>
          <a:p>
            <a:pPr marL="342900" indent="-342900"/>
            <a:r>
              <a:rPr lang="en-US" altLang="en-US" sz="2400" b="1" dirty="0"/>
              <a:t>Fibrous proteins</a:t>
            </a:r>
            <a:r>
              <a:rPr lang="en-US" altLang="en-US" sz="2400" dirty="0"/>
              <a:t> have extensive regions of secondary structure, giving them a highly ordered, repetitive structure.</a:t>
            </a:r>
          </a:p>
          <a:p>
            <a:pPr marL="342900" indent="-342900"/>
            <a:r>
              <a:rPr lang="en-US" altLang="en-US" sz="2400" dirty="0"/>
              <a:t>Some examples include:</a:t>
            </a:r>
          </a:p>
          <a:p>
            <a:pPr lvl="1" indent="-342000"/>
            <a:r>
              <a:rPr lang="en-US" altLang="en-US" sz="2400" i="1" dirty="0"/>
              <a:t>Fibroin</a:t>
            </a:r>
            <a:r>
              <a:rPr lang="en-US" altLang="en-US" sz="2400" dirty="0"/>
              <a:t> proteins of silk</a:t>
            </a:r>
          </a:p>
          <a:p>
            <a:pPr lvl="1" indent="-342000"/>
            <a:r>
              <a:rPr lang="en-US" altLang="en-US" sz="2400" i="1" dirty="0"/>
              <a:t>Keratin</a:t>
            </a:r>
            <a:r>
              <a:rPr lang="en-US" altLang="en-US" sz="2400" dirty="0"/>
              <a:t> proteins of hair and wool</a:t>
            </a:r>
          </a:p>
          <a:p>
            <a:pPr lvl="1" indent="-342000"/>
            <a:r>
              <a:rPr lang="en-US" altLang="en-US" sz="2400" i="1" dirty="0"/>
              <a:t>Collagen</a:t>
            </a:r>
            <a:r>
              <a:rPr lang="en-US" altLang="en-US" sz="2400" dirty="0"/>
              <a:t> found in tendons and skin</a:t>
            </a:r>
          </a:p>
          <a:p>
            <a:pPr lvl="1" indent="-342000"/>
            <a:r>
              <a:rPr lang="en-US" altLang="en-US" sz="2400" i="1" dirty="0"/>
              <a:t>Elastin</a:t>
            </a:r>
            <a:r>
              <a:rPr lang="en-US" altLang="en-US" sz="2400" dirty="0"/>
              <a:t> found in ligaments and blood vessels</a:t>
            </a:r>
          </a:p>
        </p:txBody>
      </p:sp>
    </p:spTree>
    <p:extLst>
      <p:ext uri="{BB962C8B-B14F-4D97-AF65-F5344CB8AC3E}">
        <p14:creationId xmlns:p14="http://schemas.microsoft.com/office/powerpoint/2010/main" val="388745303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19100" y="178055"/>
            <a:ext cx="8293100" cy="553998"/>
          </a:xfrm>
          <a:noFill/>
          <a:ln>
            <a:noFill/>
          </a:ln>
        </p:spPr>
        <p:txBody>
          <a:bodyPr wrap="square" lIns="0" tIns="0" rIns="0" bIns="0" anchor="ctr" anchorCtr="0">
            <a:spAutoFit/>
          </a:bodyPr>
          <a:lstStyle/>
          <a:p>
            <a:r>
              <a:rPr lang="en-US" dirty="0"/>
              <a:t>The Fibroin Structure</a:t>
            </a:r>
          </a:p>
        </p:txBody>
      </p:sp>
      <p:sp>
        <p:nvSpPr>
          <p:cNvPr id="6" name="Content Placeholder 5"/>
          <p:cNvSpPr>
            <a:spLocks noGrp="1"/>
          </p:cNvSpPr>
          <p:nvPr>
            <p:ph sz="quarter" idx="15"/>
          </p:nvPr>
        </p:nvSpPr>
        <p:spPr>
          <a:xfrm>
            <a:off x="421688" y="1095684"/>
            <a:ext cx="8290512" cy="369332"/>
          </a:xfrm>
          <a:noFill/>
          <a:ln>
            <a:noFill/>
          </a:ln>
        </p:spPr>
        <p:txBody>
          <a:bodyPr wrap="square" lIns="0" tIns="0" rIns="0" bIns="0" anchor="t" anchorCtr="0">
            <a:spAutoFit/>
          </a:bodyPr>
          <a:lstStyle/>
          <a:p>
            <a:pPr marL="0" indent="0">
              <a:buNone/>
            </a:pPr>
            <a:r>
              <a:rPr lang="en-US" sz="2400" b="1" dirty="0"/>
              <a:t>Figure 3.10</a:t>
            </a:r>
            <a:r>
              <a:rPr lang="en-US" sz="2400" dirty="0"/>
              <a:t> Fibroin Structure.</a:t>
            </a:r>
          </a:p>
        </p:txBody>
      </p:sp>
      <p:pic>
        <p:nvPicPr>
          <p:cNvPr id="8" name="Picture Placeholder 7" descr="Secondary structure of a fibrous protein called fibroin which is made of many antiparallel beta sheets connected by some random coils. ">
            <a:extLst>
              <a:ext uri="{FF2B5EF4-FFF2-40B4-BE49-F238E27FC236}">
                <a16:creationId xmlns:a16="http://schemas.microsoft.com/office/drawing/2014/main" id="{76730F44-35BE-4080-9FD1-752E8EB706E0}"/>
              </a:ext>
            </a:extLst>
          </p:cNvPr>
          <p:cNvPicPr>
            <a:picLocks noGrp="1" noChangeAspect="1"/>
          </p:cNvPicPr>
          <p:nvPr>
            <p:ph type="pic" sz="quarter" idx="16"/>
          </p:nvPr>
        </p:nvPicPr>
        <p:blipFill rotWithShape="1">
          <a:blip r:embed="rId3"/>
          <a:srcRect b="2257"/>
          <a:stretch/>
        </p:blipFill>
        <p:spPr>
          <a:xfrm>
            <a:off x="2325433" y="2279070"/>
            <a:ext cx="4493135" cy="4046444"/>
          </a:xfrm>
        </p:spPr>
      </p:pic>
    </p:spTree>
    <p:extLst>
      <p:ext uri="{BB962C8B-B14F-4D97-AF65-F5344CB8AC3E}">
        <p14:creationId xmlns:p14="http://schemas.microsoft.com/office/powerpoint/2010/main" val="324936891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19100" y="178055"/>
            <a:ext cx="8293100" cy="553998"/>
          </a:xfrm>
          <a:noFill/>
          <a:ln>
            <a:noFill/>
          </a:ln>
        </p:spPr>
        <p:txBody>
          <a:bodyPr wrap="square" lIns="0" tIns="0" rIns="0" bIns="0" anchor="ctr" anchorCtr="0">
            <a:spAutoFit/>
          </a:bodyPr>
          <a:lstStyle/>
          <a:p>
            <a:r>
              <a:rPr lang="en-US" dirty="0"/>
              <a:t>The Structure of Hair</a:t>
            </a:r>
          </a:p>
        </p:txBody>
      </p:sp>
      <p:sp>
        <p:nvSpPr>
          <p:cNvPr id="6" name="Content Placeholder 5"/>
          <p:cNvSpPr>
            <a:spLocks noGrp="1"/>
          </p:cNvSpPr>
          <p:nvPr>
            <p:ph sz="quarter" idx="15"/>
          </p:nvPr>
        </p:nvSpPr>
        <p:spPr>
          <a:xfrm>
            <a:off x="421687" y="1095684"/>
            <a:ext cx="4456071" cy="738664"/>
          </a:xfrm>
          <a:noFill/>
          <a:ln>
            <a:noFill/>
          </a:ln>
        </p:spPr>
        <p:txBody>
          <a:bodyPr wrap="square" lIns="0" tIns="0" rIns="0" bIns="0" anchor="t" anchorCtr="0">
            <a:spAutoFit/>
          </a:bodyPr>
          <a:lstStyle/>
          <a:p>
            <a:pPr marL="0" indent="0">
              <a:buNone/>
            </a:pPr>
            <a:r>
              <a:rPr lang="en-US" sz="2400" b="1" dirty="0">
                <a:latin typeface="+mj-lt"/>
              </a:rPr>
              <a:t>Figure 3.11</a:t>
            </a:r>
            <a:r>
              <a:rPr lang="en-US" sz="2400" dirty="0">
                <a:latin typeface="+mj-lt"/>
              </a:rPr>
              <a:t> The Structure of Hair.</a:t>
            </a:r>
          </a:p>
        </p:txBody>
      </p:sp>
      <p:pic>
        <p:nvPicPr>
          <p:cNvPr id="7" name="Picture Placeholder 6" descr="The structural composition of a hair. &#10;Long description is available in notes, press F6">
            <a:extLst>
              <a:ext uri="{FF2B5EF4-FFF2-40B4-BE49-F238E27FC236}">
                <a16:creationId xmlns:a16="http://schemas.microsoft.com/office/drawing/2014/main" id="{449A415D-CA2C-41ED-9211-F811115961F5}"/>
              </a:ext>
            </a:extLst>
          </p:cNvPr>
          <p:cNvPicPr>
            <a:picLocks noGrp="1" noChangeAspect="1"/>
          </p:cNvPicPr>
          <p:nvPr>
            <p:ph type="pic" sz="quarter" idx="16"/>
          </p:nvPr>
        </p:nvPicPr>
        <p:blipFill rotWithShape="1">
          <a:blip r:embed="rId3"/>
          <a:srcRect b="2433"/>
          <a:stretch/>
        </p:blipFill>
        <p:spPr>
          <a:xfrm>
            <a:off x="5055183" y="1083282"/>
            <a:ext cx="3509830" cy="5253536"/>
          </a:xfrm>
        </p:spPr>
      </p:pic>
    </p:spTree>
    <p:extLst>
      <p:ext uri="{BB962C8B-B14F-4D97-AF65-F5344CB8AC3E}">
        <p14:creationId xmlns:p14="http://schemas.microsoft.com/office/powerpoint/2010/main" val="91272290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84275"/>
            <a:ext cx="8263784" cy="553998"/>
          </a:xfrm>
        </p:spPr>
        <p:txBody>
          <a:bodyPr lIns="0" tIns="0" rIns="0" bIns="0" anchor="ctr">
            <a:spAutoFit/>
          </a:bodyPr>
          <a:lstStyle/>
          <a:p>
            <a:r>
              <a:rPr lang="en-US" altLang="en-US" sz="3600" dirty="0">
                <a:latin typeface="+mj-lt"/>
              </a:rPr>
              <a:t>Globular Proteins</a:t>
            </a:r>
            <a:endParaRPr lang="en-US" sz="3600" dirty="0">
              <a:latin typeface="+mj-lt"/>
              <a:cs typeface="Times New Roman" panose="02020603050405020304" pitchFamily="18" charset="0"/>
            </a:endParaRP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62023"/>
            <a:ext cx="8229600" cy="2231380"/>
          </a:xfrm>
          <a:noFill/>
          <a:ln>
            <a:noFill/>
          </a:ln>
        </p:spPr>
        <p:txBody>
          <a:bodyPr lIns="0" tIns="0" rIns="0" bIns="0" anchor="t" anchorCtr="0">
            <a:spAutoFit/>
          </a:bodyPr>
          <a:lstStyle/>
          <a:p>
            <a:pPr marL="342900" indent="-342900"/>
            <a:r>
              <a:rPr lang="en-US" altLang="en-US" sz="2400" dirty="0"/>
              <a:t>Most proteins are </a:t>
            </a:r>
            <a:r>
              <a:rPr lang="en-US" altLang="en-US" sz="2400" b="1" dirty="0"/>
              <a:t>globular proteins</a:t>
            </a:r>
            <a:r>
              <a:rPr lang="en-US" altLang="en-US" sz="2400" dirty="0"/>
              <a:t> that are folded into compact structures.</a:t>
            </a:r>
          </a:p>
          <a:p>
            <a:pPr marL="342900" indent="-342900"/>
            <a:r>
              <a:rPr lang="en-US" altLang="en-US" sz="2400" dirty="0"/>
              <a:t>Each type of globular protein has its own unique tertiary structure.</a:t>
            </a:r>
          </a:p>
          <a:p>
            <a:pPr marL="342900" indent="-342900"/>
            <a:r>
              <a:rPr lang="en-US" altLang="en-US" sz="2400" dirty="0"/>
              <a:t>Most enzymes are globular proteins.</a:t>
            </a:r>
          </a:p>
        </p:txBody>
      </p:sp>
    </p:spTree>
    <p:extLst>
      <p:ext uri="{BB962C8B-B14F-4D97-AF65-F5344CB8AC3E}">
        <p14:creationId xmlns:p14="http://schemas.microsoft.com/office/powerpoint/2010/main" val="183350388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19100" y="178148"/>
            <a:ext cx="8293100" cy="1107996"/>
          </a:xfrm>
          <a:noFill/>
          <a:ln>
            <a:noFill/>
          </a:ln>
        </p:spPr>
        <p:txBody>
          <a:bodyPr wrap="square" lIns="0" tIns="0" rIns="0" bIns="0" anchor="ctr" anchorCtr="0">
            <a:spAutoFit/>
          </a:bodyPr>
          <a:lstStyle/>
          <a:p>
            <a:r>
              <a:rPr lang="en-US" dirty="0"/>
              <a:t>The Three-Dimensional Structure of Ribonuclease </a:t>
            </a:r>
          </a:p>
        </p:txBody>
      </p:sp>
      <p:sp>
        <p:nvSpPr>
          <p:cNvPr id="6" name="Content Placeholder 5"/>
          <p:cNvSpPr>
            <a:spLocks noGrp="1"/>
          </p:cNvSpPr>
          <p:nvPr>
            <p:ph sz="quarter" idx="15"/>
          </p:nvPr>
        </p:nvSpPr>
        <p:spPr>
          <a:xfrm>
            <a:off x="421688" y="1536392"/>
            <a:ext cx="3699936" cy="1107996"/>
          </a:xfrm>
          <a:noFill/>
          <a:ln>
            <a:noFill/>
          </a:ln>
        </p:spPr>
        <p:txBody>
          <a:bodyPr wrap="square" lIns="0" tIns="0" rIns="0" bIns="0" anchor="t" anchorCtr="0">
            <a:spAutoFit/>
          </a:bodyPr>
          <a:lstStyle/>
          <a:p>
            <a:pPr marL="0" indent="0">
              <a:buNone/>
            </a:pPr>
            <a:r>
              <a:rPr lang="en-US" sz="2400" b="1" dirty="0">
                <a:latin typeface="+mj-lt"/>
              </a:rPr>
              <a:t>Figure 3.12</a:t>
            </a:r>
            <a:r>
              <a:rPr lang="en-US" sz="2400" dirty="0">
                <a:latin typeface="+mj-lt"/>
              </a:rPr>
              <a:t> The Three-Dimensional Structure of Ribonuclease.</a:t>
            </a:r>
          </a:p>
        </p:txBody>
      </p:sp>
      <p:pic>
        <p:nvPicPr>
          <p:cNvPr id="7" name="Picture Placeholder 6" descr="Ball-and-stick and spiral-and-ribbon models of the tertiary structure of ribonuclease.&#10;Long description is available in notes, press F6">
            <a:extLst>
              <a:ext uri="{FF2B5EF4-FFF2-40B4-BE49-F238E27FC236}">
                <a16:creationId xmlns:a16="http://schemas.microsoft.com/office/drawing/2014/main" id="{A89FEB8E-518B-4CE5-9992-ED7CA1C6B90A}"/>
              </a:ext>
            </a:extLst>
          </p:cNvPr>
          <p:cNvPicPr>
            <a:picLocks noGrp="1" noChangeAspect="1"/>
          </p:cNvPicPr>
          <p:nvPr>
            <p:ph type="pic" sz="quarter" idx="16"/>
          </p:nvPr>
        </p:nvPicPr>
        <p:blipFill rotWithShape="1">
          <a:blip r:embed="rId3"/>
          <a:srcRect b="2338"/>
          <a:stretch/>
        </p:blipFill>
        <p:spPr>
          <a:xfrm>
            <a:off x="4270466" y="1539226"/>
            <a:ext cx="4378639" cy="4627954"/>
          </a:xfrm>
          <a:prstGeom prst="rect">
            <a:avLst/>
          </a:prstGeom>
        </p:spPr>
      </p:pic>
    </p:spTree>
    <p:extLst>
      <p:ext uri="{BB962C8B-B14F-4D97-AF65-F5344CB8AC3E}">
        <p14:creationId xmlns:p14="http://schemas.microsoft.com/office/powerpoint/2010/main" val="83510851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84275"/>
            <a:ext cx="8263784" cy="553998"/>
          </a:xfrm>
        </p:spPr>
        <p:txBody>
          <a:bodyPr lIns="0" tIns="0" rIns="0" bIns="0" anchor="ctr">
            <a:spAutoFit/>
          </a:bodyPr>
          <a:lstStyle/>
          <a:p>
            <a:r>
              <a:rPr lang="en-US" altLang="en-US" sz="3600" dirty="0">
                <a:latin typeface="+mj-lt"/>
              </a:rPr>
              <a:t>Structures of Globular Proteins</a:t>
            </a:r>
            <a:endParaRPr lang="en-US" sz="3600" dirty="0">
              <a:latin typeface="+mj-lt"/>
              <a:cs typeface="Times New Roman" panose="02020603050405020304" pitchFamily="18" charset="0"/>
            </a:endParaRP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62023"/>
            <a:ext cx="8263784" cy="1669688"/>
          </a:xfrm>
          <a:noFill/>
          <a:ln>
            <a:noFill/>
          </a:ln>
        </p:spPr>
        <p:txBody>
          <a:bodyPr wrap="square" lIns="0" tIns="0" rIns="0" bIns="0" anchor="t" anchorCtr="0">
            <a:spAutoFit/>
          </a:bodyPr>
          <a:lstStyle/>
          <a:p>
            <a:pPr marL="342900" indent="-342900"/>
            <a:r>
              <a:rPr lang="en-US" altLang="en-US" sz="2400" dirty="0">
                <a:latin typeface="+mj-lt"/>
              </a:rPr>
              <a:t>Globular proteins can be mainly </a:t>
            </a:r>
            <a:r>
              <a:rPr lang="el-GR" altLang="en-US" sz="2400" i="1" dirty="0">
                <a:latin typeface="+mj-lt"/>
                <a:cs typeface="Times New Roman" panose="02020603050405020304" pitchFamily="18" charset="0"/>
              </a:rPr>
              <a:t>α</a:t>
            </a:r>
            <a:r>
              <a:rPr lang="en-US" altLang="en-US" sz="2400" dirty="0">
                <a:latin typeface="+mj-lt"/>
              </a:rPr>
              <a:t> helical, mainly </a:t>
            </a:r>
            <a:r>
              <a:rPr lang="el-GR" altLang="en-US" sz="2400" i="1" dirty="0">
                <a:latin typeface="+mj-lt"/>
                <a:cs typeface="Times New Roman" panose="02020603050405020304" pitchFamily="18" charset="0"/>
                <a:sym typeface="Symbol" panose="05050102010706020507" pitchFamily="18" charset="2"/>
              </a:rPr>
              <a:t>β</a:t>
            </a:r>
            <a:r>
              <a:rPr lang="en-US" altLang="en-US" sz="2400" dirty="0">
                <a:latin typeface="+mj-lt"/>
              </a:rPr>
              <a:t> sheet, or a mixture of both structures.</a:t>
            </a:r>
          </a:p>
          <a:p>
            <a:pPr marL="342900" indent="-342900"/>
            <a:r>
              <a:rPr lang="en-US" altLang="en-US" sz="2400" dirty="0">
                <a:latin typeface="+mj-lt"/>
              </a:rPr>
              <a:t>Many globular proteins consist of a number of segments called </a:t>
            </a:r>
            <a:r>
              <a:rPr lang="en-US" altLang="en-US" sz="2400" i="1" dirty="0">
                <a:latin typeface="+mj-lt"/>
              </a:rPr>
              <a:t>domains.</a:t>
            </a:r>
          </a:p>
        </p:txBody>
      </p:sp>
    </p:spTree>
    <p:extLst>
      <p:ext uri="{BB962C8B-B14F-4D97-AF65-F5344CB8AC3E}">
        <p14:creationId xmlns:p14="http://schemas.microsoft.com/office/powerpoint/2010/main" val="316012092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19100" y="178148"/>
            <a:ext cx="8293100" cy="1107996"/>
          </a:xfrm>
          <a:noFill/>
          <a:ln>
            <a:noFill/>
          </a:ln>
        </p:spPr>
        <p:txBody>
          <a:bodyPr wrap="square" lIns="0" tIns="0" rIns="0" bIns="0" anchor="ctr" anchorCtr="0">
            <a:spAutoFit/>
          </a:bodyPr>
          <a:lstStyle/>
          <a:p>
            <a:r>
              <a:rPr lang="en-US" dirty="0"/>
              <a:t>The Structures of Several Globular Proteins</a:t>
            </a:r>
          </a:p>
        </p:txBody>
      </p:sp>
      <p:sp>
        <p:nvSpPr>
          <p:cNvPr id="6" name="Content Placeholder 5"/>
          <p:cNvSpPr>
            <a:spLocks noGrp="1"/>
          </p:cNvSpPr>
          <p:nvPr>
            <p:ph sz="quarter" idx="15"/>
          </p:nvPr>
        </p:nvSpPr>
        <p:spPr>
          <a:xfrm>
            <a:off x="421687" y="1536392"/>
            <a:ext cx="8290513" cy="369332"/>
          </a:xfrm>
          <a:noFill/>
          <a:ln>
            <a:noFill/>
          </a:ln>
        </p:spPr>
        <p:txBody>
          <a:bodyPr wrap="square" lIns="0" tIns="0" rIns="0" bIns="0" anchor="t" anchorCtr="0">
            <a:spAutoFit/>
          </a:bodyPr>
          <a:lstStyle/>
          <a:p>
            <a:pPr marL="0" indent="0">
              <a:buNone/>
            </a:pPr>
            <a:r>
              <a:rPr lang="en-US" sz="2400" b="1" dirty="0"/>
              <a:t>Figure 3.13</a:t>
            </a:r>
            <a:r>
              <a:rPr lang="en-US" sz="2400" dirty="0"/>
              <a:t> Structures of Several Globular Proteins.</a:t>
            </a:r>
          </a:p>
        </p:txBody>
      </p:sp>
      <p:pic>
        <p:nvPicPr>
          <p:cNvPr id="8" name="Picture Placeholder 7" descr="Comparison of the tertiary structures of three globular proteins, namely, tobacco mosaic virus coat protein, V subscript 2 domain of immunoglobulin, and domain 2 of hexokinase. &#10;Long description is available in notes, press F6">
            <a:extLst>
              <a:ext uri="{FF2B5EF4-FFF2-40B4-BE49-F238E27FC236}">
                <a16:creationId xmlns:a16="http://schemas.microsoft.com/office/drawing/2014/main" id="{32972A5A-4034-4C89-9210-BAC2846A9597}"/>
              </a:ext>
            </a:extLst>
          </p:cNvPr>
          <p:cNvPicPr>
            <a:picLocks noGrp="1" noChangeAspect="1"/>
          </p:cNvPicPr>
          <p:nvPr>
            <p:ph type="pic" sz="quarter" idx="16"/>
          </p:nvPr>
        </p:nvPicPr>
        <p:blipFill rotWithShape="1">
          <a:blip r:embed="rId3"/>
          <a:srcRect b="3386"/>
          <a:stretch/>
        </p:blipFill>
        <p:spPr>
          <a:xfrm>
            <a:off x="860201" y="2325884"/>
            <a:ext cx="7423598" cy="3304748"/>
          </a:xfrm>
          <a:prstGeom prst="rect">
            <a:avLst/>
          </a:prstGeom>
        </p:spPr>
      </p:pic>
    </p:spTree>
    <p:extLst>
      <p:ext uri="{BB962C8B-B14F-4D97-AF65-F5344CB8AC3E}">
        <p14:creationId xmlns:p14="http://schemas.microsoft.com/office/powerpoint/2010/main" val="88520876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84275"/>
            <a:ext cx="8263784" cy="553998"/>
          </a:xfrm>
        </p:spPr>
        <p:txBody>
          <a:bodyPr lIns="0" tIns="0" rIns="0" bIns="0" anchor="ctr">
            <a:spAutoFit/>
          </a:bodyPr>
          <a:lstStyle/>
          <a:p>
            <a:r>
              <a:rPr lang="en-US" altLang="en-US" sz="3600" dirty="0">
                <a:latin typeface="+mj-lt"/>
              </a:rPr>
              <a:t>Protein Domains</a:t>
            </a:r>
            <a:endParaRPr lang="en-US" sz="3600" dirty="0">
              <a:latin typeface="+mj-lt"/>
              <a:cs typeface="Times New Roman" panose="02020603050405020304" pitchFamily="18" charset="0"/>
            </a:endParaRP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91051"/>
            <a:ext cx="8229600" cy="3901068"/>
          </a:xfrm>
          <a:noFill/>
          <a:ln>
            <a:noFill/>
          </a:ln>
        </p:spPr>
        <p:txBody>
          <a:bodyPr lIns="0" tIns="0" rIns="0" bIns="0" anchor="t" anchorCtr="0">
            <a:spAutoFit/>
          </a:bodyPr>
          <a:lstStyle/>
          <a:p>
            <a:pPr marL="342900" indent="-342900"/>
            <a:r>
              <a:rPr lang="en-US" altLang="en-US" sz="2400" dirty="0"/>
              <a:t>A </a:t>
            </a:r>
            <a:r>
              <a:rPr lang="en-US" altLang="en-US" sz="2400" b="1" dirty="0"/>
              <a:t>domain</a:t>
            </a:r>
            <a:r>
              <a:rPr lang="en-US" altLang="en-US" sz="2400" dirty="0"/>
              <a:t> is a discrete, locally folded unit of tertiary structure, usually with a specific function.</a:t>
            </a:r>
          </a:p>
          <a:p>
            <a:pPr marL="342900" indent="-342900"/>
            <a:r>
              <a:rPr lang="en-US" altLang="en-US" sz="2400" dirty="0"/>
              <a:t>A domain is typically 50–350 amino acids long, with regions of</a:t>
            </a:r>
            <a:r>
              <a:rPr lang="en-US" altLang="en-US" sz="2400" i="1" dirty="0"/>
              <a:t> </a:t>
            </a:r>
            <a:r>
              <a:rPr lang="el-GR" altLang="en-US" sz="2400" i="1" dirty="0">
                <a:sym typeface="Symbol" panose="05050102010706020507" pitchFamily="18" charset="2"/>
              </a:rPr>
              <a:t>α</a:t>
            </a:r>
            <a:r>
              <a:rPr lang="en-US" altLang="en-US" sz="2400" dirty="0"/>
              <a:t> helices and</a:t>
            </a:r>
            <a:r>
              <a:rPr lang="en-US" altLang="en-US" sz="2400" i="1" dirty="0"/>
              <a:t> </a:t>
            </a:r>
            <a:r>
              <a:rPr lang="el-GR" altLang="en-US" sz="2400" i="1" dirty="0">
                <a:sym typeface="Symbol" panose="05050102010706020507" pitchFamily="18" charset="2"/>
              </a:rPr>
              <a:t>β</a:t>
            </a:r>
            <a:r>
              <a:rPr lang="en-US" altLang="en-US" sz="2400" dirty="0"/>
              <a:t> sheets packed together.</a:t>
            </a:r>
          </a:p>
          <a:p>
            <a:pPr marL="342900" indent="-342900"/>
            <a:r>
              <a:rPr lang="en-US" altLang="en-US" sz="2400" dirty="0"/>
              <a:t>Proteins with similar functions often share a common domain.</a:t>
            </a:r>
          </a:p>
          <a:p>
            <a:pPr marL="342900" indent="-342900"/>
            <a:r>
              <a:rPr lang="en-US" altLang="en-US" sz="2400" dirty="0"/>
              <a:t>Proteins with multiple functions usually have a separate domain for each function, like modular units from which globular proteins are constructed.</a:t>
            </a:r>
          </a:p>
        </p:txBody>
      </p:sp>
    </p:spTree>
    <p:extLst>
      <p:ext uri="{BB962C8B-B14F-4D97-AF65-F5344CB8AC3E}">
        <p14:creationId xmlns:p14="http://schemas.microsoft.com/office/powerpoint/2010/main" val="165337332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19100" y="178148"/>
            <a:ext cx="8293100" cy="1107996"/>
          </a:xfrm>
          <a:noFill/>
          <a:ln>
            <a:noFill/>
          </a:ln>
        </p:spPr>
        <p:txBody>
          <a:bodyPr wrap="square" lIns="0" tIns="0" rIns="0" bIns="0" anchor="ctr" anchorCtr="0">
            <a:spAutoFit/>
          </a:bodyPr>
          <a:lstStyle/>
          <a:p>
            <a:r>
              <a:rPr lang="en-US" dirty="0"/>
              <a:t>An Example of Protein Containing Two Functional Domains </a:t>
            </a:r>
          </a:p>
        </p:txBody>
      </p:sp>
      <p:sp>
        <p:nvSpPr>
          <p:cNvPr id="6" name="Content Placeholder 5"/>
          <p:cNvSpPr>
            <a:spLocks noGrp="1"/>
          </p:cNvSpPr>
          <p:nvPr>
            <p:ph sz="quarter" idx="15"/>
          </p:nvPr>
        </p:nvSpPr>
        <p:spPr>
          <a:xfrm>
            <a:off x="421687" y="1536392"/>
            <a:ext cx="3631697" cy="1107996"/>
          </a:xfrm>
          <a:noFill/>
          <a:ln>
            <a:noFill/>
          </a:ln>
        </p:spPr>
        <p:txBody>
          <a:bodyPr wrap="square" lIns="0" tIns="0" rIns="0" bIns="0" anchor="t" anchorCtr="0">
            <a:spAutoFit/>
          </a:bodyPr>
          <a:lstStyle/>
          <a:p>
            <a:pPr marL="0" indent="0">
              <a:buNone/>
            </a:pPr>
            <a:r>
              <a:rPr lang="en-US" sz="2400" b="1" dirty="0"/>
              <a:t>Figure 3.14</a:t>
            </a:r>
            <a:r>
              <a:rPr lang="en-US" sz="2400" dirty="0"/>
              <a:t> An Example of a Protein Containing Two Functional Domains.</a:t>
            </a:r>
          </a:p>
        </p:txBody>
      </p:sp>
      <p:pic>
        <p:nvPicPr>
          <p:cNvPr id="7" name="Picture Placeholder 6" descr="Three hyphen dimensional structure of glyceraldehyde phosphate dehydrogenase that has two domains. Both domain 1 and domain 2 have alpha helices shown as cylinders, beta sheets shown as ribbons with arrows, and some random coils from N hyphen terminus to C hyphen terminus. &#10;">
            <a:extLst>
              <a:ext uri="{FF2B5EF4-FFF2-40B4-BE49-F238E27FC236}">
                <a16:creationId xmlns:a16="http://schemas.microsoft.com/office/drawing/2014/main" id="{C995FB26-FCFD-411B-8CFB-CA5C3201A41D}"/>
              </a:ext>
            </a:extLst>
          </p:cNvPr>
          <p:cNvPicPr>
            <a:picLocks noGrp="1" noChangeAspect="1"/>
          </p:cNvPicPr>
          <p:nvPr>
            <p:ph type="pic" sz="quarter" idx="16"/>
          </p:nvPr>
        </p:nvPicPr>
        <p:blipFill rotWithShape="1">
          <a:blip r:embed="rId3"/>
          <a:srcRect b="2644"/>
          <a:stretch/>
        </p:blipFill>
        <p:spPr>
          <a:xfrm>
            <a:off x="4600875" y="1543573"/>
            <a:ext cx="4035276" cy="4655760"/>
          </a:xfrm>
          <a:prstGeom prst="rect">
            <a:avLst/>
          </a:prstGeom>
        </p:spPr>
      </p:pic>
    </p:spTree>
    <p:extLst>
      <p:ext uri="{BB962C8B-B14F-4D97-AF65-F5344CB8AC3E}">
        <p14:creationId xmlns:p14="http://schemas.microsoft.com/office/powerpoint/2010/main" val="324507556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79552"/>
            <a:ext cx="8302240" cy="553998"/>
          </a:xfrm>
        </p:spPr>
        <p:txBody>
          <a:bodyPr lIns="0" tIns="0" rIns="0" bIns="0" anchor="ctr">
            <a:spAutoFit/>
          </a:bodyPr>
          <a:lstStyle/>
          <a:p>
            <a:r>
              <a:rPr lang="en-US" altLang="en-US" sz="3600" dirty="0">
                <a:latin typeface="+mj-lt"/>
              </a:rPr>
              <a:t>Prediction of Tertiary Structure</a:t>
            </a:r>
            <a:endParaRPr lang="en-US" sz="3600" dirty="0">
              <a:latin typeface="+mj-lt"/>
            </a:endParaRP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89834"/>
            <a:ext cx="8302240" cy="1669688"/>
          </a:xfrm>
          <a:noFill/>
          <a:ln>
            <a:noFill/>
          </a:ln>
        </p:spPr>
        <p:txBody>
          <a:bodyPr lIns="0" tIns="0" rIns="0" bIns="0" anchor="t" anchorCtr="0">
            <a:spAutoFit/>
          </a:bodyPr>
          <a:lstStyle/>
          <a:p>
            <a:pPr marL="342900" indent="-342900"/>
            <a:r>
              <a:rPr lang="en-US" altLang="en-US" sz="2400" dirty="0"/>
              <a:t>It is known that primary structure determines the final folded shape of a protein.</a:t>
            </a:r>
          </a:p>
          <a:p>
            <a:pPr marL="342900" indent="-342900"/>
            <a:r>
              <a:rPr lang="en-US" altLang="en-US" sz="2400" dirty="0"/>
              <a:t>However, we are still not able to predict exactly how a given protein will fold, especially for larger proteins.</a:t>
            </a:r>
          </a:p>
        </p:txBody>
      </p:sp>
    </p:spTree>
    <p:extLst>
      <p:ext uri="{BB962C8B-B14F-4D97-AF65-F5344CB8AC3E}">
        <p14:creationId xmlns:p14="http://schemas.microsoft.com/office/powerpoint/2010/main" val="363460105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79552"/>
            <a:ext cx="8302240" cy="553998"/>
          </a:xfrm>
        </p:spPr>
        <p:txBody>
          <a:bodyPr lIns="0" tIns="0" rIns="0" bIns="0" anchor="ctr">
            <a:spAutoFit/>
          </a:bodyPr>
          <a:lstStyle/>
          <a:p>
            <a:r>
              <a:rPr lang="en-US" altLang="en-US" sz="3600" dirty="0">
                <a:latin typeface="+mj-lt"/>
              </a:rPr>
              <a:t>Quaternary Structure</a:t>
            </a:r>
            <a:endParaRPr lang="en-US" sz="3600" dirty="0">
              <a:latin typeface="+mj-lt"/>
            </a:endParaRP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89834"/>
            <a:ext cx="8302240" cy="2970044"/>
          </a:xfrm>
          <a:noFill/>
          <a:ln>
            <a:noFill/>
          </a:ln>
        </p:spPr>
        <p:txBody>
          <a:bodyPr lIns="0" tIns="0" rIns="0" bIns="0" anchor="t" anchorCtr="0">
            <a:spAutoFit/>
          </a:bodyPr>
          <a:lstStyle/>
          <a:p>
            <a:pPr marL="342900" indent="-342900"/>
            <a:r>
              <a:rPr lang="en-US" altLang="en-US" sz="2400" dirty="0"/>
              <a:t>The </a:t>
            </a:r>
            <a:r>
              <a:rPr lang="en-US" altLang="en-US" sz="2400" b="1" dirty="0"/>
              <a:t>quaternary structure</a:t>
            </a:r>
            <a:r>
              <a:rPr lang="en-US" altLang="en-US" sz="2400" dirty="0"/>
              <a:t> of a protein is the level of organization concerned with subunit interactions and assembly.</a:t>
            </a:r>
          </a:p>
          <a:p>
            <a:pPr marL="342900" indent="-342900"/>
            <a:r>
              <a:rPr lang="en-US" altLang="en-US" sz="2400" dirty="0"/>
              <a:t>The term applies specifically to multimeric proteins.</a:t>
            </a:r>
          </a:p>
          <a:p>
            <a:pPr marL="342900" indent="-342900"/>
            <a:r>
              <a:rPr lang="en-US" altLang="en-US" sz="2400" dirty="0"/>
              <a:t>Some proteins consist of multiple identical subunits; others, such as hemoglobin, contain two or more types of polypeptides.</a:t>
            </a:r>
          </a:p>
        </p:txBody>
      </p:sp>
    </p:spTree>
    <p:extLst>
      <p:ext uri="{BB962C8B-B14F-4D97-AF65-F5344CB8AC3E}">
        <p14:creationId xmlns:p14="http://schemas.microsoft.com/office/powerpoint/2010/main" val="170822538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79552"/>
            <a:ext cx="8302240" cy="553998"/>
          </a:xfrm>
        </p:spPr>
        <p:txBody>
          <a:bodyPr lIns="0" tIns="0" rIns="0" bIns="0" anchor="ctr">
            <a:spAutoFit/>
          </a:bodyPr>
          <a:lstStyle/>
          <a:p>
            <a:r>
              <a:rPr lang="en-US" altLang="en-US" sz="3600" dirty="0">
                <a:latin typeface="+mj-lt"/>
              </a:rPr>
              <a:t>Maintenance of Quaternary Structure</a:t>
            </a:r>
            <a:endParaRPr lang="en-US" sz="3600" dirty="0">
              <a:latin typeface="+mj-lt"/>
            </a:endParaRP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89834"/>
            <a:ext cx="8302240" cy="2231380"/>
          </a:xfrm>
          <a:noFill/>
          <a:ln>
            <a:noFill/>
          </a:ln>
        </p:spPr>
        <p:txBody>
          <a:bodyPr lIns="0" tIns="0" rIns="0" bIns="0" anchor="t" anchorCtr="0">
            <a:spAutoFit/>
          </a:bodyPr>
          <a:lstStyle/>
          <a:p>
            <a:pPr marL="342900" indent="-342900"/>
            <a:r>
              <a:rPr lang="en-US" altLang="en-US" sz="2400" dirty="0"/>
              <a:t>The bonds and forces maintaining quaternary structure are the same as those responsible for tertiary structure.</a:t>
            </a:r>
          </a:p>
          <a:p>
            <a:pPr marL="342900" indent="-342900"/>
            <a:r>
              <a:rPr lang="en-US" altLang="en-US" sz="2400" dirty="0"/>
              <a:t>The process of subunit formation is usually spontaneous.</a:t>
            </a:r>
          </a:p>
          <a:p>
            <a:pPr marL="342900" indent="-342900"/>
            <a:r>
              <a:rPr lang="en-US" altLang="en-US" sz="2400" dirty="0"/>
              <a:t>Sometimes, molecular chaperones are required to assist the </a:t>
            </a:r>
            <a:r>
              <a:rPr lang="en-US" altLang="en-US" sz="2400"/>
              <a:t>process.</a:t>
            </a:r>
            <a:endParaRPr lang="en-US" altLang="en-US" sz="2400" dirty="0"/>
          </a:p>
        </p:txBody>
      </p:sp>
    </p:spTree>
    <p:extLst>
      <p:ext uri="{BB962C8B-B14F-4D97-AF65-F5344CB8AC3E}">
        <p14:creationId xmlns:p14="http://schemas.microsoft.com/office/powerpoint/2010/main" val="135930141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79552"/>
            <a:ext cx="8302240" cy="553998"/>
          </a:xfrm>
        </p:spPr>
        <p:txBody>
          <a:bodyPr lIns="0" tIns="0" rIns="0" bIns="0" anchor="ctr">
            <a:spAutoFit/>
          </a:bodyPr>
          <a:lstStyle/>
          <a:p>
            <a:r>
              <a:rPr lang="en-US" altLang="en-US" sz="3600" dirty="0">
                <a:latin typeface="+mj-lt"/>
              </a:rPr>
              <a:t>Higher Levels of Assembly</a:t>
            </a:r>
            <a:endParaRPr lang="en-US" sz="3600" dirty="0">
              <a:latin typeface="+mj-lt"/>
            </a:endParaRP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89834"/>
            <a:ext cx="8302240" cy="3339376"/>
          </a:xfrm>
          <a:noFill/>
          <a:ln>
            <a:noFill/>
          </a:ln>
        </p:spPr>
        <p:txBody>
          <a:bodyPr lIns="0" tIns="0" rIns="0" bIns="0" anchor="t" anchorCtr="0">
            <a:spAutoFit/>
          </a:bodyPr>
          <a:lstStyle/>
          <a:p>
            <a:pPr marL="342900" indent="-342900"/>
            <a:r>
              <a:rPr lang="en-US" altLang="en-US" sz="2400" dirty="0"/>
              <a:t>A higher level of assembly is possible in the case of proteins (often enzymes) that are organized into </a:t>
            </a:r>
            <a:r>
              <a:rPr lang="en-US" altLang="en-US" sz="2400" b="1" dirty="0"/>
              <a:t>multiprotein complexes.</a:t>
            </a:r>
          </a:p>
          <a:p>
            <a:pPr marL="342900" indent="-342900"/>
            <a:r>
              <a:rPr lang="en-US" altLang="en-US" sz="2400" dirty="0"/>
              <a:t>Each protein in the complex may be involved sequentially in a common multistep process.</a:t>
            </a:r>
          </a:p>
          <a:p>
            <a:pPr marL="342900" indent="-342900"/>
            <a:r>
              <a:rPr lang="en-US" altLang="en-US" sz="2400" dirty="0"/>
              <a:t>An example is the </a:t>
            </a:r>
            <a:r>
              <a:rPr lang="en-US" altLang="en-US" sz="2400" i="1" dirty="0"/>
              <a:t>pyruvate dehydrogenase</a:t>
            </a:r>
            <a:r>
              <a:rPr lang="en-US" altLang="en-US" sz="2400" dirty="0"/>
              <a:t> </a:t>
            </a:r>
            <a:r>
              <a:rPr lang="en-US" altLang="en-US" sz="2400" i="1" dirty="0"/>
              <a:t>complex</a:t>
            </a:r>
            <a:r>
              <a:rPr lang="en-US" altLang="en-US" sz="2400" dirty="0"/>
              <a:t>, in which three enzymes and five other proteins form a </a:t>
            </a:r>
            <a:r>
              <a:rPr lang="en-US" altLang="en-US" sz="2400" i="1" dirty="0"/>
              <a:t>multienzyme complex.</a:t>
            </a:r>
          </a:p>
        </p:txBody>
      </p:sp>
    </p:spTree>
    <p:extLst>
      <p:ext uri="{BB962C8B-B14F-4D97-AF65-F5344CB8AC3E}">
        <p14:creationId xmlns:p14="http://schemas.microsoft.com/office/powerpoint/2010/main" val="224397597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79552"/>
            <a:ext cx="8302240" cy="553998"/>
          </a:xfrm>
        </p:spPr>
        <p:txBody>
          <a:bodyPr lIns="0" tIns="0" rIns="0" bIns="0" anchor="ctr">
            <a:spAutoFit/>
          </a:bodyPr>
          <a:lstStyle/>
          <a:p>
            <a:r>
              <a:rPr lang="en-US" altLang="en-US" sz="3600" dirty="0">
                <a:latin typeface="+mj-lt"/>
              </a:rPr>
              <a:t>3.2 Nucleic Acids</a:t>
            </a:r>
            <a:endParaRPr lang="en-US" sz="3600" dirty="0">
              <a:latin typeface="+mj-lt"/>
            </a:endParaRP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89834"/>
            <a:ext cx="8302240" cy="2600712"/>
          </a:xfrm>
          <a:noFill/>
          <a:ln>
            <a:noFill/>
          </a:ln>
        </p:spPr>
        <p:txBody>
          <a:bodyPr lIns="0" tIns="0" rIns="0" bIns="0" anchor="t" anchorCtr="0">
            <a:spAutoFit/>
          </a:bodyPr>
          <a:lstStyle/>
          <a:p>
            <a:pPr marL="342900" indent="-342900"/>
            <a:r>
              <a:rPr lang="en-US" altLang="en-US" sz="2400" b="1" dirty="0"/>
              <a:t>Nucleic acids</a:t>
            </a:r>
            <a:r>
              <a:rPr lang="en-US" altLang="en-US" sz="2400" dirty="0"/>
              <a:t> are of paramount importance to the cells because they store, transmit, and express genetic information.</a:t>
            </a:r>
          </a:p>
          <a:p>
            <a:pPr marL="342900" indent="-342900"/>
            <a:r>
              <a:rPr lang="en-US" altLang="en-US" sz="2400" dirty="0"/>
              <a:t>They are linear polymers of nucleotides. </a:t>
            </a:r>
          </a:p>
          <a:p>
            <a:pPr marL="342900" indent="-342900"/>
            <a:r>
              <a:rPr lang="en-US" altLang="en-US" sz="2400" b="1" spc="-300" dirty="0"/>
              <a:t>D N </a:t>
            </a:r>
            <a:r>
              <a:rPr lang="en-US" altLang="en-US" sz="2400" b="1" dirty="0"/>
              <a:t>A </a:t>
            </a:r>
            <a:r>
              <a:rPr lang="en-US" altLang="en-US" sz="2400" dirty="0"/>
              <a:t>is</a:t>
            </a:r>
            <a:r>
              <a:rPr lang="en-US" altLang="en-US" sz="2400" b="1" dirty="0"/>
              <a:t> deoxyribonucleic acid</a:t>
            </a:r>
            <a:r>
              <a:rPr lang="en-US" altLang="en-US" sz="2400" dirty="0"/>
              <a:t>,</a:t>
            </a:r>
            <a:r>
              <a:rPr lang="en-US" altLang="en-US" sz="2400" b="1" dirty="0"/>
              <a:t> </a:t>
            </a:r>
            <a:r>
              <a:rPr lang="en-US" altLang="en-US" sz="2400" dirty="0"/>
              <a:t>and</a:t>
            </a:r>
            <a:r>
              <a:rPr lang="en-US" altLang="en-US" sz="2400" b="1" dirty="0"/>
              <a:t> </a:t>
            </a:r>
            <a:r>
              <a:rPr lang="en-US" altLang="en-US" sz="2400" b="1" spc="-300" dirty="0"/>
              <a:t>R N </a:t>
            </a:r>
            <a:r>
              <a:rPr lang="en-US" altLang="en-US" sz="2400" b="1" dirty="0"/>
              <a:t>A </a:t>
            </a:r>
            <a:r>
              <a:rPr lang="en-US" altLang="en-US" sz="2400" dirty="0"/>
              <a:t>is</a:t>
            </a:r>
            <a:r>
              <a:rPr lang="en-US" altLang="en-US" sz="2400" b="1" dirty="0"/>
              <a:t> ribonucleic acid.</a:t>
            </a:r>
          </a:p>
        </p:txBody>
      </p:sp>
    </p:spTree>
    <p:extLst>
      <p:ext uri="{BB962C8B-B14F-4D97-AF65-F5344CB8AC3E}">
        <p14:creationId xmlns:p14="http://schemas.microsoft.com/office/powerpoint/2010/main" val="261619455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79552"/>
            <a:ext cx="8302240" cy="553998"/>
          </a:xfrm>
        </p:spPr>
        <p:txBody>
          <a:bodyPr lIns="0" tIns="0" rIns="0" bIns="0" anchor="ctr">
            <a:spAutoFit/>
          </a:bodyPr>
          <a:lstStyle/>
          <a:p>
            <a:r>
              <a:rPr lang="en-US" altLang="en-US" sz="3600" spc="-300" dirty="0">
                <a:latin typeface="+mj-lt"/>
              </a:rPr>
              <a:t>D N </a:t>
            </a:r>
            <a:r>
              <a:rPr lang="en-US" altLang="en-US" sz="3600" dirty="0">
                <a:latin typeface="+mj-lt"/>
              </a:rPr>
              <a:t>A and </a:t>
            </a:r>
            <a:r>
              <a:rPr lang="en-US" altLang="en-US" sz="3600" spc="-300" dirty="0">
                <a:latin typeface="+mj-lt"/>
              </a:rPr>
              <a:t>R N </a:t>
            </a:r>
            <a:r>
              <a:rPr lang="en-US" altLang="en-US" sz="3600" dirty="0">
                <a:latin typeface="+mj-lt"/>
              </a:rPr>
              <a:t>A Differ </a:t>
            </a:r>
            <a:endParaRPr lang="en-US" sz="3600" dirty="0">
              <a:latin typeface="+mj-lt"/>
            </a:endParaRP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89834"/>
            <a:ext cx="8302240" cy="2369880"/>
          </a:xfrm>
          <a:noFill/>
          <a:ln>
            <a:noFill/>
          </a:ln>
        </p:spPr>
        <p:txBody>
          <a:bodyPr lIns="0" tIns="0" rIns="0" bIns="0" anchor="t" anchorCtr="0">
            <a:spAutoFit/>
          </a:bodyPr>
          <a:lstStyle/>
          <a:p>
            <a:pPr marL="342900" indent="-342900"/>
            <a:r>
              <a:rPr lang="en-US" altLang="en-US" sz="2400" spc="-300" dirty="0"/>
              <a:t>D N </a:t>
            </a:r>
            <a:r>
              <a:rPr lang="en-US" altLang="en-US" sz="2400" dirty="0"/>
              <a:t>A and </a:t>
            </a:r>
            <a:r>
              <a:rPr lang="en-US" altLang="en-US" sz="2400" spc="-300" dirty="0"/>
              <a:t>R N </a:t>
            </a:r>
            <a:r>
              <a:rPr lang="en-US" altLang="en-US" sz="2400" dirty="0"/>
              <a:t>A differ chemically and in their role in the cell</a:t>
            </a:r>
          </a:p>
          <a:p>
            <a:pPr lvl="1" indent="-342000"/>
            <a:r>
              <a:rPr lang="en-US" altLang="en-US" sz="2400" spc="-300" dirty="0"/>
              <a:t>R N </a:t>
            </a:r>
            <a:r>
              <a:rPr lang="en-US" altLang="en-US" sz="2400" dirty="0"/>
              <a:t>A contains the five-carbon sugar </a:t>
            </a:r>
            <a:r>
              <a:rPr lang="en-US" altLang="en-US" sz="2400" b="1" dirty="0"/>
              <a:t>ribose</a:t>
            </a:r>
            <a:r>
              <a:rPr lang="en-US" altLang="en-US" sz="2400" dirty="0"/>
              <a:t>, and </a:t>
            </a:r>
            <a:r>
              <a:rPr lang="en-US" altLang="en-US" sz="2400" spc="-300" dirty="0"/>
              <a:t>D N </a:t>
            </a:r>
            <a:r>
              <a:rPr lang="en-US" altLang="en-US" sz="2400" dirty="0"/>
              <a:t>A contains the related sugar </a:t>
            </a:r>
            <a:r>
              <a:rPr lang="en-US" altLang="en-US" sz="2400" b="1" dirty="0"/>
              <a:t>deoxyribose.</a:t>
            </a:r>
          </a:p>
          <a:p>
            <a:pPr lvl="1" indent="-342000"/>
            <a:r>
              <a:rPr lang="en-US" altLang="en-US" sz="2400" spc="-300" dirty="0"/>
              <a:t>D N </a:t>
            </a:r>
            <a:r>
              <a:rPr lang="en-US" altLang="en-US" sz="2400" dirty="0"/>
              <a:t>A serves as the repository of genetic information, whereas </a:t>
            </a:r>
            <a:r>
              <a:rPr lang="en-US" altLang="en-US" sz="2400" spc="-300" dirty="0"/>
              <a:t>R N </a:t>
            </a:r>
            <a:r>
              <a:rPr lang="en-US" altLang="en-US" sz="2400" dirty="0"/>
              <a:t>A plays several roles in expressing that information.</a:t>
            </a:r>
          </a:p>
        </p:txBody>
      </p:sp>
    </p:spTree>
    <p:extLst>
      <p:ext uri="{BB962C8B-B14F-4D97-AF65-F5344CB8AC3E}">
        <p14:creationId xmlns:p14="http://schemas.microsoft.com/office/powerpoint/2010/main" val="257534659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79552"/>
            <a:ext cx="8302240" cy="553998"/>
          </a:xfrm>
        </p:spPr>
        <p:txBody>
          <a:bodyPr lIns="0" tIns="0" rIns="0" bIns="0" anchor="ctr">
            <a:spAutoFit/>
          </a:bodyPr>
          <a:lstStyle/>
          <a:p>
            <a:r>
              <a:rPr lang="en-US" sz="3600" dirty="0">
                <a:latin typeface="+mj-lt"/>
              </a:rPr>
              <a:t>The Monomers Are Nucleotides</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89834"/>
            <a:ext cx="8302240" cy="2600712"/>
          </a:xfrm>
          <a:noFill/>
          <a:ln>
            <a:noFill/>
          </a:ln>
        </p:spPr>
        <p:txBody>
          <a:bodyPr lIns="0" tIns="0" rIns="0" bIns="0" anchor="t" anchorCtr="0">
            <a:spAutoFit/>
          </a:bodyPr>
          <a:lstStyle/>
          <a:p>
            <a:pPr marL="342900" indent="-342900"/>
            <a:r>
              <a:rPr lang="en-US" altLang="en-US" sz="2400" spc="-300" dirty="0"/>
              <a:t>R N </a:t>
            </a:r>
            <a:r>
              <a:rPr lang="en-US" altLang="en-US" sz="2400" dirty="0"/>
              <a:t>A and </a:t>
            </a:r>
            <a:r>
              <a:rPr lang="en-US" altLang="en-US" sz="2400" spc="-300" dirty="0"/>
              <a:t>D N </a:t>
            </a:r>
            <a:r>
              <a:rPr lang="en-US" altLang="en-US" sz="2400" dirty="0"/>
              <a:t>A each consist of only four different types of </a:t>
            </a:r>
            <a:r>
              <a:rPr lang="en-US" altLang="en-US" sz="2400" b="1" dirty="0"/>
              <a:t>nucleotides</a:t>
            </a:r>
            <a:r>
              <a:rPr lang="en-US" altLang="en-US" sz="2400" dirty="0"/>
              <a:t>, the monomeric units.</a:t>
            </a:r>
          </a:p>
          <a:p>
            <a:pPr marL="342900" indent="-342900"/>
            <a:r>
              <a:rPr lang="en-US" altLang="en-US" sz="2400" dirty="0"/>
              <a:t>Each nucleotide consists of a five-carbon sugar to which a phosphate group and N-containing aromatic base are attached.</a:t>
            </a:r>
          </a:p>
          <a:p>
            <a:pPr marL="342900" indent="-342900"/>
            <a:r>
              <a:rPr lang="en-US" altLang="en-US" sz="2400" dirty="0"/>
              <a:t>Each base is either a </a:t>
            </a:r>
            <a:r>
              <a:rPr lang="en-US" altLang="en-US" sz="2400" b="1" dirty="0"/>
              <a:t>purine</a:t>
            </a:r>
            <a:r>
              <a:rPr lang="en-US" altLang="en-US" sz="2400" dirty="0"/>
              <a:t> or a </a:t>
            </a:r>
            <a:r>
              <a:rPr lang="en-US" altLang="en-US" sz="2400" b="1" dirty="0"/>
              <a:t>pyrimidine.</a:t>
            </a:r>
          </a:p>
        </p:txBody>
      </p:sp>
    </p:spTree>
    <p:extLst>
      <p:ext uri="{BB962C8B-B14F-4D97-AF65-F5344CB8AC3E}">
        <p14:creationId xmlns:p14="http://schemas.microsoft.com/office/powerpoint/2010/main" val="369432284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19100" y="178053"/>
            <a:ext cx="8293100" cy="553998"/>
          </a:xfrm>
          <a:noFill/>
          <a:ln>
            <a:noFill/>
          </a:ln>
        </p:spPr>
        <p:txBody>
          <a:bodyPr wrap="square" lIns="0" tIns="0" rIns="0" bIns="0" anchor="ctr" anchorCtr="0">
            <a:spAutoFit/>
          </a:bodyPr>
          <a:lstStyle/>
          <a:p>
            <a:r>
              <a:rPr lang="en-US" dirty="0"/>
              <a:t>The Structure of a Nucleotide </a:t>
            </a:r>
          </a:p>
        </p:txBody>
      </p:sp>
      <p:sp>
        <p:nvSpPr>
          <p:cNvPr id="6" name="Content Placeholder 5"/>
          <p:cNvSpPr>
            <a:spLocks noGrp="1"/>
          </p:cNvSpPr>
          <p:nvPr>
            <p:ph sz="quarter" idx="15"/>
          </p:nvPr>
        </p:nvSpPr>
        <p:spPr>
          <a:xfrm>
            <a:off x="421688" y="1066652"/>
            <a:ext cx="6714049" cy="369332"/>
          </a:xfrm>
          <a:noFill/>
          <a:ln>
            <a:noFill/>
          </a:ln>
        </p:spPr>
        <p:txBody>
          <a:bodyPr wrap="square" lIns="0" tIns="0" rIns="0" bIns="0" anchor="t" anchorCtr="0">
            <a:spAutoFit/>
          </a:bodyPr>
          <a:lstStyle/>
          <a:p>
            <a:pPr marL="0" indent="0">
              <a:buNone/>
            </a:pPr>
            <a:r>
              <a:rPr lang="en-US" sz="2400" b="1" dirty="0"/>
              <a:t>Figure 3.15</a:t>
            </a:r>
            <a:r>
              <a:rPr lang="en-US" sz="2400" dirty="0"/>
              <a:t> The Structure of a Nucleotide.</a:t>
            </a:r>
          </a:p>
        </p:txBody>
      </p:sp>
      <p:pic>
        <p:nvPicPr>
          <p:cNvPr id="7" name="Picture Placeholder 6" descr="Chemical structure of a nucleotide which is made of a nitrogenous base, a sugar, and phosphate group. &#10;Long description is available in notes, press F6">
            <a:extLst>
              <a:ext uri="{FF2B5EF4-FFF2-40B4-BE49-F238E27FC236}">
                <a16:creationId xmlns:a16="http://schemas.microsoft.com/office/drawing/2014/main" id="{BB862E3B-8183-4E0E-8299-F9831F54AE7C}"/>
              </a:ext>
            </a:extLst>
          </p:cNvPr>
          <p:cNvPicPr>
            <a:picLocks noGrp="1" noChangeAspect="1"/>
          </p:cNvPicPr>
          <p:nvPr>
            <p:ph type="pic" sz="quarter" idx="16"/>
          </p:nvPr>
        </p:nvPicPr>
        <p:blipFill rotWithShape="1">
          <a:blip r:embed="rId3"/>
          <a:srcRect b="1961"/>
          <a:stretch/>
        </p:blipFill>
        <p:spPr>
          <a:xfrm>
            <a:off x="2120797" y="1952186"/>
            <a:ext cx="4889706" cy="4191178"/>
          </a:xfrm>
        </p:spPr>
      </p:pic>
    </p:spTree>
    <p:extLst>
      <p:ext uri="{BB962C8B-B14F-4D97-AF65-F5344CB8AC3E}">
        <p14:creationId xmlns:p14="http://schemas.microsoft.com/office/powerpoint/2010/main" val="22781314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65038"/>
            <a:ext cx="8302240" cy="553998"/>
          </a:xfrm>
        </p:spPr>
        <p:txBody>
          <a:bodyPr lIns="0" tIns="0" rIns="0" bIns="0" anchor="ctr">
            <a:spAutoFit/>
          </a:bodyPr>
          <a:lstStyle/>
          <a:p>
            <a:r>
              <a:rPr lang="en-US" altLang="en-US" sz="3600" dirty="0">
                <a:latin typeface="+mj-lt"/>
              </a:rPr>
              <a:t>Types of Nucleotides</a:t>
            </a:r>
            <a:endParaRPr lang="en-US" sz="3600" dirty="0">
              <a:latin typeface="+mj-lt"/>
            </a:endParaRP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60806"/>
            <a:ext cx="8302240" cy="2231380"/>
          </a:xfrm>
          <a:noFill/>
          <a:ln>
            <a:noFill/>
          </a:ln>
        </p:spPr>
        <p:txBody>
          <a:bodyPr lIns="0" tIns="0" rIns="0" bIns="0" anchor="t" anchorCtr="0">
            <a:spAutoFit/>
          </a:bodyPr>
          <a:lstStyle/>
          <a:p>
            <a:pPr marL="342900" indent="-342900"/>
            <a:r>
              <a:rPr lang="en-US" altLang="en-US" sz="2400" dirty="0"/>
              <a:t>Purines are </a:t>
            </a:r>
            <a:r>
              <a:rPr lang="en-US" altLang="en-US" sz="2400" b="1" dirty="0"/>
              <a:t>adenine (A) </a:t>
            </a:r>
            <a:r>
              <a:rPr lang="en-US" altLang="en-US" sz="2400" dirty="0"/>
              <a:t>and </a:t>
            </a:r>
            <a:r>
              <a:rPr lang="en-US" altLang="en-US" sz="2400" b="1" dirty="0"/>
              <a:t>guanine (G).</a:t>
            </a:r>
          </a:p>
          <a:p>
            <a:pPr marL="342900" indent="-342900"/>
            <a:r>
              <a:rPr lang="en-US" altLang="en-US" sz="2400" dirty="0"/>
              <a:t>Pyrimidines are </a:t>
            </a:r>
            <a:r>
              <a:rPr lang="en-US" altLang="en-US" sz="2400" b="1" dirty="0"/>
              <a:t>thymine (T) </a:t>
            </a:r>
            <a:r>
              <a:rPr lang="en-US" altLang="en-US" sz="2400" dirty="0"/>
              <a:t>and </a:t>
            </a:r>
            <a:r>
              <a:rPr lang="en-US" altLang="en-US" sz="2400" b="1" dirty="0"/>
              <a:t>cytosine (C), </a:t>
            </a:r>
            <a:r>
              <a:rPr lang="en-US" altLang="en-US" sz="2400" dirty="0"/>
              <a:t>and in </a:t>
            </a:r>
            <a:r>
              <a:rPr lang="en-US" altLang="en-US" sz="2400" spc="-300" dirty="0"/>
              <a:t>R N </a:t>
            </a:r>
            <a:r>
              <a:rPr lang="en-US" altLang="en-US" sz="2400" dirty="0"/>
              <a:t>A, </a:t>
            </a:r>
            <a:r>
              <a:rPr lang="en-US" altLang="en-US" sz="2400" b="1" dirty="0"/>
              <a:t>uracil (U).</a:t>
            </a:r>
          </a:p>
          <a:p>
            <a:pPr marL="342900" indent="-342900"/>
            <a:r>
              <a:rPr lang="en-US" altLang="en-US" sz="2400" dirty="0"/>
              <a:t>The sugar-base portion without the phosphate group is called a </a:t>
            </a:r>
            <a:r>
              <a:rPr lang="en-US" altLang="en-US" sz="2400" b="1" dirty="0"/>
              <a:t>nucleoside.</a:t>
            </a:r>
          </a:p>
        </p:txBody>
      </p:sp>
    </p:spTree>
    <p:extLst>
      <p:ext uri="{BB962C8B-B14F-4D97-AF65-F5344CB8AC3E}">
        <p14:creationId xmlns:p14="http://schemas.microsoft.com/office/powerpoint/2010/main" val="372583235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79552"/>
            <a:ext cx="8302240" cy="553998"/>
          </a:xfrm>
        </p:spPr>
        <p:txBody>
          <a:bodyPr lIns="0" tIns="0" rIns="0" bIns="0" anchor="ctr">
            <a:spAutoFit/>
          </a:bodyPr>
          <a:lstStyle/>
          <a:p>
            <a:r>
              <a:rPr lang="en-US" altLang="en-US" sz="3600" dirty="0">
                <a:latin typeface="+mj-lt"/>
                <a:cs typeface="Times New Roman" panose="02020603050405020304" pitchFamily="18" charset="0"/>
              </a:rPr>
              <a:t>Nomenclature</a:t>
            </a:r>
            <a:endParaRPr lang="en-US" sz="3600" dirty="0">
              <a:latin typeface="+mj-lt"/>
              <a:cs typeface="Times New Roman" panose="02020603050405020304" pitchFamily="18" charset="0"/>
            </a:endParaRP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60806"/>
            <a:ext cx="8302240" cy="2039020"/>
          </a:xfrm>
          <a:noFill/>
          <a:ln>
            <a:noFill/>
          </a:ln>
        </p:spPr>
        <p:txBody>
          <a:bodyPr lIns="0" tIns="0" rIns="0" bIns="0" anchor="t" anchorCtr="0">
            <a:spAutoFit/>
          </a:bodyPr>
          <a:lstStyle/>
          <a:p>
            <a:pPr marL="342900" indent="-342900"/>
            <a:r>
              <a:rPr lang="en-US" altLang="en-US" sz="2400" dirty="0"/>
              <a:t>Nucleosides with one phosphate group can be thought of as </a:t>
            </a:r>
            <a:r>
              <a:rPr lang="en-US" altLang="en-US" sz="2400" b="1" dirty="0"/>
              <a:t>nucleoside monophosphates</a:t>
            </a:r>
            <a:r>
              <a:rPr lang="en-US" altLang="en-US" sz="2400" dirty="0"/>
              <a:t> (example: </a:t>
            </a:r>
            <a:r>
              <a:rPr lang="en-US" altLang="en-US" sz="2400" b="1" dirty="0"/>
              <a:t>adenosine monophosphate, </a:t>
            </a:r>
            <a:r>
              <a:rPr lang="en-US" altLang="en-US" sz="2400" b="1" spc="-300" dirty="0"/>
              <a:t>A M </a:t>
            </a:r>
            <a:r>
              <a:rPr lang="en-US" altLang="en-US" sz="2400" b="1" dirty="0"/>
              <a:t>P</a:t>
            </a:r>
            <a:r>
              <a:rPr lang="en-US" altLang="en-US" sz="2400" dirty="0"/>
              <a:t>).</a:t>
            </a:r>
          </a:p>
          <a:p>
            <a:pPr marL="342900" indent="-342900"/>
            <a:r>
              <a:rPr lang="en-US" altLang="en-US" sz="2400" b="1" dirty="0"/>
              <a:t>Adenosine diphosphate </a:t>
            </a:r>
            <a:r>
              <a:rPr lang="en-US" altLang="en-US" sz="2400" dirty="0"/>
              <a:t>(</a:t>
            </a:r>
            <a:r>
              <a:rPr lang="en-US" altLang="en-US" sz="2400" b="1" spc="-300" dirty="0"/>
              <a:t>A D </a:t>
            </a:r>
            <a:r>
              <a:rPr lang="en-US" altLang="en-US" sz="2400" b="1" dirty="0"/>
              <a:t>P</a:t>
            </a:r>
            <a:r>
              <a:rPr lang="en-US" altLang="en-US" sz="2400" dirty="0"/>
              <a:t>) has two phosphate groups, and </a:t>
            </a:r>
            <a:r>
              <a:rPr lang="en-US" altLang="en-US" sz="2400" b="1" dirty="0"/>
              <a:t>adenosine triphosphate </a:t>
            </a:r>
            <a:r>
              <a:rPr lang="en-US" altLang="en-US" sz="2400" dirty="0"/>
              <a:t>(</a:t>
            </a:r>
            <a:r>
              <a:rPr lang="en-US" altLang="en-US" sz="2400" b="1" spc="-300" dirty="0"/>
              <a:t>A T </a:t>
            </a:r>
            <a:r>
              <a:rPr lang="en-US" altLang="en-US" sz="2400" b="1" dirty="0"/>
              <a:t>P</a:t>
            </a:r>
            <a:r>
              <a:rPr lang="en-US" altLang="en-US" sz="2400" dirty="0"/>
              <a:t>) has three.</a:t>
            </a:r>
          </a:p>
        </p:txBody>
      </p:sp>
    </p:spTree>
    <p:extLst>
      <p:ext uri="{BB962C8B-B14F-4D97-AF65-F5344CB8AC3E}">
        <p14:creationId xmlns:p14="http://schemas.microsoft.com/office/powerpoint/2010/main" val="210245971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19100" y="174569"/>
            <a:ext cx="8293100" cy="1107996"/>
          </a:xfrm>
          <a:noFill/>
          <a:ln>
            <a:noFill/>
          </a:ln>
        </p:spPr>
        <p:txBody>
          <a:bodyPr wrap="square" lIns="0" tIns="0" rIns="0" bIns="0" anchor="ctr" anchorCtr="0">
            <a:spAutoFit/>
          </a:bodyPr>
          <a:lstStyle/>
          <a:p>
            <a:r>
              <a:rPr lang="en-US" dirty="0"/>
              <a:t>The Bases, Nucleosides, and Nucleotides of </a:t>
            </a:r>
            <a:r>
              <a:rPr lang="en-US" spc="-500" dirty="0"/>
              <a:t>R N </a:t>
            </a:r>
            <a:r>
              <a:rPr lang="en-US" dirty="0"/>
              <a:t>A and </a:t>
            </a:r>
            <a:r>
              <a:rPr lang="en-US" spc="-500" dirty="0"/>
              <a:t>D N </a:t>
            </a:r>
            <a:r>
              <a:rPr lang="en-US" dirty="0"/>
              <a:t>A</a:t>
            </a:r>
          </a:p>
        </p:txBody>
      </p:sp>
      <p:sp>
        <p:nvSpPr>
          <p:cNvPr id="6" name="Content Placeholder 5"/>
          <p:cNvSpPr>
            <a:spLocks noGrp="1"/>
          </p:cNvSpPr>
          <p:nvPr>
            <p:ph sz="quarter" idx="15"/>
          </p:nvPr>
        </p:nvSpPr>
        <p:spPr>
          <a:xfrm>
            <a:off x="421688" y="1565414"/>
            <a:ext cx="8254000" cy="738664"/>
          </a:xfrm>
          <a:noFill/>
          <a:ln>
            <a:noFill/>
          </a:ln>
        </p:spPr>
        <p:txBody>
          <a:bodyPr wrap="square" lIns="0" tIns="0" rIns="0" bIns="0" anchor="t" anchorCtr="0">
            <a:spAutoFit/>
          </a:bodyPr>
          <a:lstStyle/>
          <a:p>
            <a:pPr marL="0" indent="0">
              <a:buNone/>
            </a:pPr>
            <a:r>
              <a:rPr lang="en-US" sz="2400" b="1" dirty="0"/>
              <a:t>Table 3.4 </a:t>
            </a:r>
            <a:r>
              <a:rPr lang="en-US" sz="2400" dirty="0"/>
              <a:t>The Bases, Nucleosides, and Nucleotides of </a:t>
            </a:r>
            <a:r>
              <a:rPr lang="en-US" sz="2400" spc="-300" dirty="0"/>
              <a:t>R N A</a:t>
            </a:r>
            <a:r>
              <a:rPr lang="en-US" sz="2400" dirty="0"/>
              <a:t> and </a:t>
            </a:r>
            <a:r>
              <a:rPr lang="en-US" sz="2400" spc="-300" dirty="0"/>
              <a:t>D N </a:t>
            </a:r>
            <a:r>
              <a:rPr lang="en-US" sz="2400" dirty="0"/>
              <a:t>A</a:t>
            </a:r>
          </a:p>
        </p:txBody>
      </p:sp>
      <p:pic>
        <p:nvPicPr>
          <p:cNvPr id="4" name="Picture Placeholder 3" descr="A table with data for the bases, nucleosides, and nucleotides of RNA and DNA.&#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t="13804" b="4263"/>
          <a:stretch/>
        </p:blipFill>
        <p:spPr>
          <a:xfrm>
            <a:off x="519757" y="2695880"/>
            <a:ext cx="8125990" cy="2960665"/>
          </a:xfrm>
        </p:spPr>
      </p:pic>
    </p:spTree>
    <p:extLst>
      <p:ext uri="{BB962C8B-B14F-4D97-AF65-F5344CB8AC3E}">
        <p14:creationId xmlns:p14="http://schemas.microsoft.com/office/powerpoint/2010/main" val="175041765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19100" y="174569"/>
            <a:ext cx="8293100" cy="1107996"/>
          </a:xfrm>
          <a:noFill/>
          <a:ln>
            <a:noFill/>
          </a:ln>
        </p:spPr>
        <p:txBody>
          <a:bodyPr wrap="square" lIns="0" tIns="0" rIns="0" bIns="0" anchor="ctr" anchorCtr="0">
            <a:spAutoFit/>
          </a:bodyPr>
          <a:lstStyle/>
          <a:p>
            <a:r>
              <a:rPr lang="en-US" dirty="0"/>
              <a:t>The Phosphorylated Forms of Adenosine</a:t>
            </a:r>
          </a:p>
        </p:txBody>
      </p:sp>
      <p:sp>
        <p:nvSpPr>
          <p:cNvPr id="6" name="Content Placeholder 5"/>
          <p:cNvSpPr>
            <a:spLocks noGrp="1"/>
          </p:cNvSpPr>
          <p:nvPr>
            <p:ph sz="quarter" idx="15"/>
          </p:nvPr>
        </p:nvSpPr>
        <p:spPr>
          <a:xfrm>
            <a:off x="421687" y="1565414"/>
            <a:ext cx="7337893" cy="369332"/>
          </a:xfrm>
          <a:noFill/>
          <a:ln>
            <a:noFill/>
          </a:ln>
        </p:spPr>
        <p:txBody>
          <a:bodyPr wrap="square" lIns="0" tIns="0" rIns="0" bIns="0" anchor="t" anchorCtr="0">
            <a:spAutoFit/>
          </a:bodyPr>
          <a:lstStyle/>
          <a:p>
            <a:pPr marL="0" indent="0">
              <a:buNone/>
            </a:pPr>
            <a:r>
              <a:rPr lang="en-US" sz="2400" b="1" dirty="0"/>
              <a:t>Figure 3.16</a:t>
            </a:r>
            <a:r>
              <a:rPr lang="en-US" sz="2400" dirty="0"/>
              <a:t> The Phosphorylated Forms of Adenosine.</a:t>
            </a:r>
          </a:p>
        </p:txBody>
      </p:sp>
      <p:pic>
        <p:nvPicPr>
          <p:cNvPr id="8" name="Picture Placeholder 7" descr="Combined structure of adenosine, A M P, A D P, and A T P. &#10;Long description is available in notes, press F6">
            <a:extLst>
              <a:ext uri="{FF2B5EF4-FFF2-40B4-BE49-F238E27FC236}">
                <a16:creationId xmlns:a16="http://schemas.microsoft.com/office/drawing/2014/main" id="{2EF2BA6C-CC8A-4E7A-B9B5-F0A478361C3A}"/>
              </a:ext>
            </a:extLst>
          </p:cNvPr>
          <p:cNvPicPr>
            <a:picLocks noGrp="1" noChangeAspect="1"/>
          </p:cNvPicPr>
          <p:nvPr>
            <p:ph type="pic" sz="quarter" idx="16"/>
          </p:nvPr>
        </p:nvPicPr>
        <p:blipFill rotWithShape="1">
          <a:blip r:embed="rId3"/>
          <a:srcRect b="3466"/>
          <a:stretch/>
        </p:blipFill>
        <p:spPr>
          <a:xfrm>
            <a:off x="2472337" y="2746298"/>
            <a:ext cx="4186625" cy="3330505"/>
          </a:xfrm>
        </p:spPr>
      </p:pic>
    </p:spTree>
    <p:extLst>
      <p:ext uri="{BB962C8B-B14F-4D97-AF65-F5344CB8AC3E}">
        <p14:creationId xmlns:p14="http://schemas.microsoft.com/office/powerpoint/2010/main" val="377265655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78685"/>
            <a:ext cx="8302240" cy="553998"/>
          </a:xfrm>
        </p:spPr>
        <p:txBody>
          <a:bodyPr lIns="0" tIns="0" rIns="0" bIns="0" anchor="ctr">
            <a:spAutoFit/>
          </a:bodyPr>
          <a:lstStyle/>
          <a:p>
            <a:r>
              <a:rPr lang="en-US" altLang="en-US" sz="3600" dirty="0">
                <a:latin typeface="+mj-lt"/>
              </a:rPr>
              <a:t>The Polymers Are </a:t>
            </a:r>
            <a:r>
              <a:rPr lang="en-US" altLang="en-US" sz="3600" spc="-500" dirty="0">
                <a:latin typeface="+mj-lt"/>
              </a:rPr>
              <a:t>D N </a:t>
            </a:r>
            <a:r>
              <a:rPr lang="en-US" altLang="en-US" sz="3600" dirty="0">
                <a:latin typeface="+mj-lt"/>
              </a:rPr>
              <a:t>A and </a:t>
            </a:r>
            <a:r>
              <a:rPr lang="en-US" altLang="en-US" sz="3600" spc="-500" dirty="0">
                <a:latin typeface="+mj-lt"/>
              </a:rPr>
              <a:t>R N </a:t>
            </a:r>
            <a:r>
              <a:rPr lang="en-US" altLang="en-US" sz="3600" dirty="0">
                <a:latin typeface="+mj-lt"/>
              </a:rPr>
              <a:t>A</a:t>
            </a:r>
            <a:endParaRPr lang="en-US" sz="3600" dirty="0">
              <a:latin typeface="+mj-lt"/>
            </a:endParaRP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89832"/>
            <a:ext cx="8302240" cy="3339376"/>
          </a:xfrm>
          <a:noFill/>
          <a:ln>
            <a:noFill/>
          </a:ln>
        </p:spPr>
        <p:txBody>
          <a:bodyPr lIns="0" tIns="0" rIns="0" bIns="0" anchor="t" anchorCtr="0">
            <a:spAutoFit/>
          </a:bodyPr>
          <a:lstStyle/>
          <a:p>
            <a:pPr marL="342900" indent="-342900"/>
            <a:r>
              <a:rPr lang="en-US" altLang="en-US" sz="2400" dirty="0"/>
              <a:t>Nucleic acids are linear polymers of nucleotides linked by a </a:t>
            </a:r>
            <a:r>
              <a:rPr lang="en-US" altLang="en-US" sz="2400" b="1" dirty="0"/>
              <a:t>3′, 5′ phosphodiester bridge</a:t>
            </a:r>
            <a:r>
              <a:rPr lang="en-US" altLang="en-US" sz="2400" dirty="0"/>
              <a:t>, a phosphate group linked to two adjacent nucleotides via two phosphodiester bonds.</a:t>
            </a:r>
          </a:p>
          <a:p>
            <a:pPr marL="342900" indent="-342900"/>
            <a:r>
              <a:rPr lang="en-US" altLang="en-US" sz="2400" dirty="0"/>
              <a:t>The </a:t>
            </a:r>
            <a:r>
              <a:rPr lang="en-US" altLang="en-US" sz="2400" b="1" dirty="0"/>
              <a:t>polynucleotide</a:t>
            </a:r>
            <a:r>
              <a:rPr lang="en-US" altLang="en-US" sz="2400" dirty="0"/>
              <a:t> formed by this process has a directionality with a 5′ phosphate group at one end and a 3′ hydroxyl group at the other.</a:t>
            </a:r>
          </a:p>
          <a:p>
            <a:pPr marL="342900" indent="-342900"/>
            <a:r>
              <a:rPr lang="en-US" altLang="en-US" sz="2400" dirty="0"/>
              <a:t>Nucleotide sequences are conventionally written in the 5′ to 3′ direction. </a:t>
            </a:r>
          </a:p>
        </p:txBody>
      </p:sp>
    </p:spTree>
    <p:extLst>
      <p:ext uri="{BB962C8B-B14F-4D97-AF65-F5344CB8AC3E}">
        <p14:creationId xmlns:p14="http://schemas.microsoft.com/office/powerpoint/2010/main" val="424994475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19100" y="174474"/>
            <a:ext cx="8293100" cy="553998"/>
          </a:xfrm>
          <a:noFill/>
          <a:ln>
            <a:noFill/>
          </a:ln>
        </p:spPr>
        <p:txBody>
          <a:bodyPr wrap="square" lIns="0" tIns="0" rIns="0" bIns="0" anchor="ctr" anchorCtr="0">
            <a:spAutoFit/>
          </a:bodyPr>
          <a:lstStyle/>
          <a:p>
            <a:r>
              <a:rPr lang="en-US" dirty="0"/>
              <a:t>The Structure of Nucleic Acids</a:t>
            </a:r>
          </a:p>
        </p:txBody>
      </p:sp>
      <p:sp>
        <p:nvSpPr>
          <p:cNvPr id="6" name="Content Placeholder 5"/>
          <p:cNvSpPr>
            <a:spLocks noGrp="1"/>
          </p:cNvSpPr>
          <p:nvPr>
            <p:ph sz="quarter" idx="15"/>
          </p:nvPr>
        </p:nvSpPr>
        <p:spPr>
          <a:xfrm>
            <a:off x="421688" y="1044404"/>
            <a:ext cx="8254000" cy="369332"/>
          </a:xfrm>
          <a:noFill/>
          <a:ln>
            <a:noFill/>
          </a:ln>
        </p:spPr>
        <p:txBody>
          <a:bodyPr wrap="square" lIns="0" tIns="0" rIns="0" bIns="0" anchor="t" anchorCtr="0">
            <a:spAutoFit/>
          </a:bodyPr>
          <a:lstStyle/>
          <a:p>
            <a:pPr marL="0" indent="0">
              <a:buNone/>
            </a:pPr>
            <a:r>
              <a:rPr lang="en-US" sz="2400" b="1" dirty="0"/>
              <a:t>Figure 3.17</a:t>
            </a:r>
            <a:r>
              <a:rPr lang="en-US" sz="2400" dirty="0"/>
              <a:t> The Structure of Nucleic Acids.</a:t>
            </a:r>
          </a:p>
        </p:txBody>
      </p:sp>
      <p:pic>
        <p:nvPicPr>
          <p:cNvPr id="8" name="Picture Placeholder 7" descr="Chemical structure of D N A and R N A.&#10;Long description is available in notes, press F6">
            <a:extLst>
              <a:ext uri="{FF2B5EF4-FFF2-40B4-BE49-F238E27FC236}">
                <a16:creationId xmlns:a16="http://schemas.microsoft.com/office/drawing/2014/main" id="{8F8B977B-0A20-402A-9A0D-97A82CC4D624}"/>
              </a:ext>
            </a:extLst>
          </p:cNvPr>
          <p:cNvPicPr>
            <a:picLocks noGrp="1" noChangeAspect="1"/>
          </p:cNvPicPr>
          <p:nvPr>
            <p:ph type="pic" sz="quarter" idx="16"/>
          </p:nvPr>
        </p:nvPicPr>
        <p:blipFill rotWithShape="1">
          <a:blip r:embed="rId3"/>
          <a:srcRect b="2391"/>
          <a:stretch/>
        </p:blipFill>
        <p:spPr>
          <a:xfrm>
            <a:off x="2464985" y="1464178"/>
            <a:ext cx="4511168" cy="4937623"/>
          </a:xfrm>
          <a:prstGeom prst="rect">
            <a:avLst/>
          </a:prstGeom>
        </p:spPr>
      </p:pic>
    </p:spTree>
    <p:extLst>
      <p:ext uri="{BB962C8B-B14F-4D97-AF65-F5344CB8AC3E}">
        <p14:creationId xmlns:p14="http://schemas.microsoft.com/office/powerpoint/2010/main" val="183867006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84275"/>
            <a:ext cx="8263784" cy="553998"/>
          </a:xfrm>
        </p:spPr>
        <p:txBody>
          <a:bodyPr lIns="0" tIns="0" rIns="0" bIns="0" anchor="ctr">
            <a:spAutoFit/>
          </a:bodyPr>
          <a:lstStyle/>
          <a:p>
            <a:r>
              <a:rPr lang="en-US" altLang="en-US" sz="3600" dirty="0">
                <a:latin typeface="+mj-lt"/>
              </a:rPr>
              <a:t>Nucleic Acid Synthesis</a:t>
            </a:r>
            <a:endParaRPr lang="en-US" sz="3600" dirty="0">
              <a:latin typeface="+mj-lt"/>
            </a:endParaRP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62023"/>
            <a:ext cx="8229600" cy="3339376"/>
          </a:xfrm>
          <a:noFill/>
          <a:ln>
            <a:noFill/>
          </a:ln>
        </p:spPr>
        <p:txBody>
          <a:bodyPr lIns="0" tIns="0" rIns="0" bIns="0" anchor="t" anchorCtr="0">
            <a:spAutoFit/>
          </a:bodyPr>
          <a:lstStyle/>
          <a:p>
            <a:pPr marL="342900" indent="-342900"/>
            <a:r>
              <a:rPr lang="en-US" altLang="en-US" sz="2400" dirty="0"/>
              <a:t>A preexisting molecule is used to ensure that new nucleotides (</a:t>
            </a:r>
            <a:r>
              <a:rPr lang="en-US" altLang="en-US" sz="2400" spc="-300" dirty="0"/>
              <a:t>N T P </a:t>
            </a:r>
            <a:r>
              <a:rPr lang="en-US" altLang="en-US" sz="2400" dirty="0"/>
              <a:t>s for </a:t>
            </a:r>
            <a:r>
              <a:rPr lang="en-US" altLang="en-US" sz="2400" spc="-300" dirty="0"/>
              <a:t>R N </a:t>
            </a:r>
            <a:r>
              <a:rPr lang="en-US" altLang="en-US" sz="2400" dirty="0"/>
              <a:t>A, </a:t>
            </a:r>
            <a:r>
              <a:rPr lang="en-US" altLang="en-US" sz="2400" spc="-300" dirty="0"/>
              <a:t>d N T P </a:t>
            </a:r>
            <a:r>
              <a:rPr lang="en-US" altLang="en-US" sz="2400" dirty="0"/>
              <a:t>s for </a:t>
            </a:r>
            <a:r>
              <a:rPr lang="en-US" altLang="en-US" sz="2400" spc="-300" dirty="0"/>
              <a:t>D N </a:t>
            </a:r>
            <a:r>
              <a:rPr lang="en-US" altLang="en-US" sz="2400" dirty="0"/>
              <a:t>A) are added in the correct order.</a:t>
            </a:r>
          </a:p>
          <a:p>
            <a:pPr marL="342900" indent="-342900"/>
            <a:r>
              <a:rPr lang="en-US" altLang="en-US" sz="2400" dirty="0"/>
              <a:t>This molecule is called a </a:t>
            </a:r>
            <a:r>
              <a:rPr lang="en-US" altLang="en-US" sz="2400" b="1" dirty="0"/>
              <a:t>template,</a:t>
            </a:r>
            <a:r>
              <a:rPr lang="en-US" altLang="en-US" sz="2400" dirty="0"/>
              <a:t> and correct </a:t>
            </a:r>
            <a:r>
              <a:rPr lang="en-US" altLang="en-US" sz="2400" i="1" dirty="0"/>
              <a:t>base pairing</a:t>
            </a:r>
            <a:r>
              <a:rPr lang="en-US" altLang="en-US" sz="2400" dirty="0"/>
              <a:t> between the template and the incoming nucleotide is required to specify correct order.</a:t>
            </a:r>
          </a:p>
          <a:p>
            <a:pPr marL="342900" indent="-342900"/>
            <a:r>
              <a:rPr lang="en-US" altLang="en-US" sz="2400" dirty="0"/>
              <a:t>A complementary relationship exists between certain purines and pyrimidines.</a:t>
            </a:r>
          </a:p>
        </p:txBody>
      </p:sp>
    </p:spTree>
    <p:extLst>
      <p:ext uri="{BB962C8B-B14F-4D97-AF65-F5344CB8AC3E}">
        <p14:creationId xmlns:p14="http://schemas.microsoft.com/office/powerpoint/2010/main" val="47598690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84275"/>
            <a:ext cx="8263784" cy="553998"/>
          </a:xfrm>
        </p:spPr>
        <p:txBody>
          <a:bodyPr lIns="0" tIns="0" rIns="0" bIns="0" anchor="ctr">
            <a:spAutoFit/>
          </a:bodyPr>
          <a:lstStyle/>
          <a:p>
            <a:r>
              <a:rPr lang="en-US" altLang="en-US" sz="3600" dirty="0">
                <a:latin typeface="+mj-lt"/>
              </a:rPr>
              <a:t>Complementary Base Pairing</a:t>
            </a:r>
            <a:endParaRPr lang="en-US" sz="3600" dirty="0">
              <a:latin typeface="+mj-lt"/>
            </a:endParaRP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62023"/>
            <a:ext cx="8229600" cy="2039020"/>
          </a:xfrm>
          <a:noFill/>
          <a:ln>
            <a:noFill/>
          </a:ln>
        </p:spPr>
        <p:txBody>
          <a:bodyPr lIns="0" tIns="0" rIns="0" bIns="0" anchor="t" anchorCtr="0">
            <a:spAutoFit/>
          </a:bodyPr>
          <a:lstStyle/>
          <a:p>
            <a:pPr marL="342900" indent="-342900"/>
            <a:r>
              <a:rPr lang="en-US" altLang="en-US" sz="2400" dirty="0"/>
              <a:t>Complementary base pairing allows A to form two hydrogen bonds with T and G to form three hydrogen bonds with C.</a:t>
            </a:r>
          </a:p>
          <a:p>
            <a:pPr marL="342900" indent="-342900"/>
            <a:r>
              <a:rPr lang="en-US" altLang="en-US" sz="2400" dirty="0"/>
              <a:t>This </a:t>
            </a:r>
            <a:r>
              <a:rPr lang="en-US" altLang="en-US" sz="2400" b="1" dirty="0"/>
              <a:t>base pairing</a:t>
            </a:r>
            <a:r>
              <a:rPr lang="en-US" altLang="en-US" sz="2400" dirty="0"/>
              <a:t> is a fundamental property of nucleic acids.</a:t>
            </a:r>
          </a:p>
        </p:txBody>
      </p:sp>
    </p:spTree>
    <p:extLst>
      <p:ext uri="{BB962C8B-B14F-4D97-AF65-F5344CB8AC3E}">
        <p14:creationId xmlns:p14="http://schemas.microsoft.com/office/powerpoint/2010/main" val="379021113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19100" y="177016"/>
            <a:ext cx="8293100" cy="1107996"/>
          </a:xfrm>
          <a:noFill/>
          <a:ln>
            <a:noFill/>
          </a:ln>
        </p:spPr>
        <p:txBody>
          <a:bodyPr wrap="square" lIns="0" tIns="0" rIns="0" bIns="0" anchor="ctr" anchorCtr="0">
            <a:spAutoFit/>
          </a:bodyPr>
          <a:lstStyle/>
          <a:p>
            <a:r>
              <a:rPr lang="en-US" dirty="0"/>
              <a:t>Hydrogen Bonding in </a:t>
            </a:r>
            <a:r>
              <a:rPr lang="en-US" spc="-500" dirty="0"/>
              <a:t>D N </a:t>
            </a:r>
            <a:r>
              <a:rPr lang="en-US" dirty="0"/>
              <a:t>A Nucleic Acid Structure</a:t>
            </a:r>
          </a:p>
        </p:txBody>
      </p:sp>
      <p:sp>
        <p:nvSpPr>
          <p:cNvPr id="6" name="Content Placeholder 5"/>
          <p:cNvSpPr>
            <a:spLocks noGrp="1"/>
          </p:cNvSpPr>
          <p:nvPr>
            <p:ph sz="quarter" idx="15"/>
          </p:nvPr>
        </p:nvSpPr>
        <p:spPr>
          <a:xfrm>
            <a:off x="421688" y="1536392"/>
            <a:ext cx="8254000" cy="338554"/>
          </a:xfrm>
          <a:noFill/>
          <a:ln>
            <a:noFill/>
          </a:ln>
        </p:spPr>
        <p:txBody>
          <a:bodyPr wrap="square" lIns="0" tIns="0" rIns="0" bIns="0" anchor="t" anchorCtr="0">
            <a:spAutoFit/>
          </a:bodyPr>
          <a:lstStyle/>
          <a:p>
            <a:pPr marL="0" indent="0">
              <a:buNone/>
            </a:pPr>
            <a:r>
              <a:rPr lang="en-US" sz="2200" b="1" dirty="0"/>
              <a:t>Figure 3.18</a:t>
            </a:r>
            <a:r>
              <a:rPr lang="en-US" sz="2200" dirty="0"/>
              <a:t> Hydrogen Bonding in DNA Nucleic Acid Structure.</a:t>
            </a:r>
          </a:p>
        </p:txBody>
      </p:sp>
      <p:pic>
        <p:nvPicPr>
          <p:cNvPr id="8" name="Picture Placeholder 7" descr="Chemical structure of a double-stranded D N A molecule.&#10;Long description is available in notes, press F6">
            <a:extLst>
              <a:ext uri="{FF2B5EF4-FFF2-40B4-BE49-F238E27FC236}">
                <a16:creationId xmlns:a16="http://schemas.microsoft.com/office/drawing/2014/main" id="{B3041717-D08D-458B-A9C5-CFA098413F38}"/>
              </a:ext>
            </a:extLst>
          </p:cNvPr>
          <p:cNvPicPr>
            <a:picLocks noGrp="1" noChangeAspect="1"/>
          </p:cNvPicPr>
          <p:nvPr>
            <p:ph type="pic" sz="quarter" idx="16"/>
          </p:nvPr>
        </p:nvPicPr>
        <p:blipFill rotWithShape="1">
          <a:blip r:embed="rId3"/>
          <a:srcRect b="1675"/>
          <a:stretch/>
        </p:blipFill>
        <p:spPr>
          <a:xfrm>
            <a:off x="2242663" y="2058142"/>
            <a:ext cx="4645974" cy="4333056"/>
          </a:xfrm>
          <a:prstGeom prst="rect">
            <a:avLst/>
          </a:prstGeom>
        </p:spPr>
      </p:pic>
    </p:spTree>
    <p:extLst>
      <p:ext uri="{BB962C8B-B14F-4D97-AF65-F5344CB8AC3E}">
        <p14:creationId xmlns:p14="http://schemas.microsoft.com/office/powerpoint/2010/main" val="147553160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70511"/>
            <a:ext cx="8263784" cy="1107996"/>
          </a:xfrm>
        </p:spPr>
        <p:txBody>
          <a:bodyPr lIns="0" tIns="0" rIns="0" bIns="0" anchor="ctr">
            <a:spAutoFit/>
          </a:bodyPr>
          <a:lstStyle/>
          <a:p>
            <a:r>
              <a:rPr lang="en-US" sz="3600" dirty="0">
                <a:latin typeface="+mj-lt"/>
              </a:rPr>
              <a:t>The </a:t>
            </a:r>
            <a:r>
              <a:rPr lang="en-US" sz="3600" spc="-500" dirty="0">
                <a:latin typeface="+mj-lt"/>
              </a:rPr>
              <a:t>D N </a:t>
            </a:r>
            <a:r>
              <a:rPr lang="en-US" sz="3600" dirty="0">
                <a:latin typeface="+mj-lt"/>
              </a:rPr>
              <a:t>A Molecule Is a Double-Stranded Helix</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531767"/>
            <a:ext cx="8263784" cy="3531736"/>
          </a:xfrm>
          <a:noFill/>
          <a:ln>
            <a:noFill/>
          </a:ln>
        </p:spPr>
        <p:txBody>
          <a:bodyPr wrap="square" lIns="0" tIns="0" rIns="0" bIns="0" anchor="t" anchorCtr="0">
            <a:spAutoFit/>
          </a:bodyPr>
          <a:lstStyle/>
          <a:p>
            <a:pPr marL="342900" indent="-342900"/>
            <a:r>
              <a:rPr lang="en-US" altLang="en-US" sz="2400" dirty="0"/>
              <a:t>Francis Crick and James Watson postulated the </a:t>
            </a:r>
            <a:r>
              <a:rPr lang="en-US" altLang="en-US" sz="2400" b="1" dirty="0"/>
              <a:t>double helix</a:t>
            </a:r>
            <a:r>
              <a:rPr lang="en-US" altLang="en-US" sz="2400" dirty="0"/>
              <a:t> structure of </a:t>
            </a:r>
            <a:r>
              <a:rPr lang="en-US" altLang="en-US" sz="2400" spc="-300" dirty="0"/>
              <a:t>D N </a:t>
            </a:r>
            <a:r>
              <a:rPr lang="en-US" altLang="en-US" sz="2400" dirty="0"/>
              <a:t>A in 1953.</a:t>
            </a:r>
          </a:p>
          <a:p>
            <a:pPr marL="342900" indent="-342900"/>
            <a:r>
              <a:rPr lang="en-US" altLang="en-US" sz="2400" dirty="0"/>
              <a:t>The structure accounted for the known physical and chemical properties of </a:t>
            </a:r>
            <a:r>
              <a:rPr lang="en-US" altLang="en-US" sz="2400" spc="-300" dirty="0"/>
              <a:t>D N </a:t>
            </a:r>
            <a:r>
              <a:rPr lang="en-US" altLang="en-US" sz="2400" dirty="0"/>
              <a:t>A.</a:t>
            </a:r>
          </a:p>
          <a:p>
            <a:pPr marL="342900" indent="-342900"/>
            <a:r>
              <a:rPr lang="en-US" altLang="en-US" sz="2400" dirty="0"/>
              <a:t>It also suggested a mechanism for </a:t>
            </a:r>
            <a:r>
              <a:rPr lang="en-US" altLang="en-US" sz="2400" spc="-300" dirty="0"/>
              <a:t>D N </a:t>
            </a:r>
            <a:r>
              <a:rPr lang="en-US" altLang="en-US" sz="2400" dirty="0"/>
              <a:t>A replication.</a:t>
            </a:r>
          </a:p>
          <a:p>
            <a:pPr marL="342900" indent="-342900"/>
            <a:r>
              <a:rPr lang="en-US" altLang="en-US" sz="2400" dirty="0"/>
              <a:t>Two </a:t>
            </a:r>
            <a:r>
              <a:rPr lang="en-US" altLang="en-US" sz="2400" i="1" dirty="0"/>
              <a:t>antiparallel</a:t>
            </a:r>
            <a:r>
              <a:rPr lang="en-US" altLang="en-US" sz="2400" dirty="0"/>
              <a:t> and </a:t>
            </a:r>
            <a:r>
              <a:rPr lang="en-US" altLang="en-US" sz="2400" i="1" dirty="0"/>
              <a:t>complementary</a:t>
            </a:r>
            <a:r>
              <a:rPr lang="en-US" altLang="en-US" sz="2400" dirty="0"/>
              <a:t> strands of </a:t>
            </a:r>
            <a:r>
              <a:rPr lang="en-US" altLang="en-US" sz="2400" spc="-300" dirty="0"/>
              <a:t>D N </a:t>
            </a:r>
            <a:r>
              <a:rPr lang="en-US" altLang="en-US" sz="2400" dirty="0"/>
              <a:t>A twist around a common axis to form a right-handed spiral structure.</a:t>
            </a:r>
          </a:p>
        </p:txBody>
      </p:sp>
    </p:spTree>
    <p:extLst>
      <p:ext uri="{BB962C8B-B14F-4D97-AF65-F5344CB8AC3E}">
        <p14:creationId xmlns:p14="http://schemas.microsoft.com/office/powerpoint/2010/main" val="355259809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19100" y="212732"/>
            <a:ext cx="8293100" cy="523220"/>
          </a:xfrm>
          <a:noFill/>
          <a:ln>
            <a:noFill/>
          </a:ln>
        </p:spPr>
        <p:txBody>
          <a:bodyPr wrap="square" lIns="0" tIns="0" rIns="0" bIns="0" anchor="ctr" anchorCtr="0">
            <a:spAutoFit/>
          </a:bodyPr>
          <a:lstStyle/>
          <a:p>
            <a:r>
              <a:rPr lang="en-US" sz="3400" dirty="0"/>
              <a:t>The Structure of Double-Stranded </a:t>
            </a:r>
            <a:r>
              <a:rPr lang="en-US" sz="3400" spc="-500" dirty="0"/>
              <a:t>D N </a:t>
            </a:r>
            <a:r>
              <a:rPr lang="en-US" sz="3400" dirty="0"/>
              <a:t>A</a:t>
            </a:r>
          </a:p>
        </p:txBody>
      </p:sp>
      <p:sp>
        <p:nvSpPr>
          <p:cNvPr id="6" name="Content Placeholder 5"/>
          <p:cNvSpPr>
            <a:spLocks noGrp="1"/>
          </p:cNvSpPr>
          <p:nvPr>
            <p:ph sz="quarter" idx="15"/>
          </p:nvPr>
        </p:nvSpPr>
        <p:spPr>
          <a:xfrm>
            <a:off x="421687" y="1084160"/>
            <a:ext cx="5351315" cy="738664"/>
          </a:xfrm>
          <a:noFill/>
          <a:ln>
            <a:noFill/>
          </a:ln>
        </p:spPr>
        <p:txBody>
          <a:bodyPr wrap="square" lIns="0" tIns="0" rIns="0" bIns="0" anchor="t" anchorCtr="0">
            <a:spAutoFit/>
          </a:bodyPr>
          <a:lstStyle/>
          <a:p>
            <a:pPr marL="0" indent="0">
              <a:buNone/>
            </a:pPr>
            <a:r>
              <a:rPr lang="en-US" sz="2400" b="1" dirty="0"/>
              <a:t>Figure 3.19</a:t>
            </a:r>
            <a:r>
              <a:rPr lang="en-US" sz="2400" dirty="0"/>
              <a:t> The Structure of Double-Stranded </a:t>
            </a:r>
            <a:r>
              <a:rPr lang="en-US" sz="2400" spc="-300" dirty="0"/>
              <a:t>D N </a:t>
            </a:r>
            <a:r>
              <a:rPr lang="en-US" sz="2400" dirty="0"/>
              <a:t>A.</a:t>
            </a:r>
          </a:p>
        </p:txBody>
      </p:sp>
      <p:pic>
        <p:nvPicPr>
          <p:cNvPr id="7" name="Picture Placeholder 6" descr="Double helical and space-filling models of D N A double helix. &#10;Long description is available in notes, press F6">
            <a:extLst>
              <a:ext uri="{FF2B5EF4-FFF2-40B4-BE49-F238E27FC236}">
                <a16:creationId xmlns:a16="http://schemas.microsoft.com/office/drawing/2014/main" id="{61604FF9-88FF-44D6-BC04-DBB7CF5778DF}"/>
              </a:ext>
            </a:extLst>
          </p:cNvPr>
          <p:cNvPicPr>
            <a:picLocks noGrp="1" noChangeAspect="1"/>
          </p:cNvPicPr>
          <p:nvPr>
            <p:ph type="pic" sz="quarter" idx="16"/>
          </p:nvPr>
        </p:nvPicPr>
        <p:blipFill rotWithShape="1">
          <a:blip r:embed="rId3"/>
          <a:srcRect b="2053"/>
          <a:stretch/>
        </p:blipFill>
        <p:spPr>
          <a:xfrm>
            <a:off x="6104415" y="1080959"/>
            <a:ext cx="2539414" cy="4779125"/>
          </a:xfrm>
          <a:prstGeom prst="rect">
            <a:avLst/>
          </a:prstGeom>
        </p:spPr>
      </p:pic>
    </p:spTree>
    <p:extLst>
      <p:ext uri="{BB962C8B-B14F-4D97-AF65-F5344CB8AC3E}">
        <p14:creationId xmlns:p14="http://schemas.microsoft.com/office/powerpoint/2010/main" val="252281520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77456"/>
            <a:ext cx="8302240" cy="553998"/>
          </a:xfrm>
        </p:spPr>
        <p:txBody>
          <a:bodyPr lIns="0" tIns="0" rIns="0" bIns="0" anchor="ctr">
            <a:spAutoFit/>
          </a:bodyPr>
          <a:lstStyle/>
          <a:p>
            <a:r>
              <a:rPr lang="en-US" altLang="en-US" sz="3600" dirty="0">
                <a:latin typeface="+mj-lt"/>
              </a:rPr>
              <a:t>Base Pairing and </a:t>
            </a:r>
            <a:r>
              <a:rPr lang="en-US" altLang="en-US" sz="3600" spc="-500" dirty="0">
                <a:latin typeface="+mj-lt"/>
              </a:rPr>
              <a:t>R N </a:t>
            </a:r>
            <a:r>
              <a:rPr lang="en-US" altLang="en-US" sz="3600" dirty="0">
                <a:latin typeface="+mj-lt"/>
              </a:rPr>
              <a:t>A</a:t>
            </a:r>
            <a:endParaRPr lang="en-US" sz="3600" dirty="0">
              <a:latin typeface="+mj-lt"/>
            </a:endParaRP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60797"/>
            <a:ext cx="8302240" cy="2231380"/>
          </a:xfrm>
          <a:noFill/>
          <a:ln>
            <a:noFill/>
          </a:ln>
        </p:spPr>
        <p:txBody>
          <a:bodyPr lIns="0" tIns="0" rIns="0" bIns="0" anchor="t" anchorCtr="0">
            <a:spAutoFit/>
          </a:bodyPr>
          <a:lstStyle/>
          <a:p>
            <a:pPr marL="342900" indent="-342900"/>
            <a:r>
              <a:rPr lang="en-US" altLang="en-US" sz="2400" spc="-300" dirty="0"/>
              <a:t>R N </a:t>
            </a:r>
            <a:r>
              <a:rPr lang="en-US" altLang="en-US" sz="2400" dirty="0"/>
              <a:t>A is normally single stranded.</a:t>
            </a:r>
          </a:p>
          <a:p>
            <a:pPr marL="342900" indent="-342900"/>
            <a:r>
              <a:rPr lang="en-US" altLang="en-US" sz="2400" spc="-300" dirty="0"/>
              <a:t>R N </a:t>
            </a:r>
            <a:r>
              <a:rPr lang="en-US" altLang="en-US" sz="2400" dirty="0"/>
              <a:t>A structure also depends on base pairing.</a:t>
            </a:r>
          </a:p>
          <a:p>
            <a:pPr marL="342900" indent="-342900"/>
            <a:r>
              <a:rPr lang="en-US" altLang="en-US" sz="2400" dirty="0"/>
              <a:t>However, the pairing is usually between bases in different areas of the same molecule and is less extensive than that of </a:t>
            </a:r>
            <a:r>
              <a:rPr lang="en-US" altLang="en-US" sz="2400" spc="-300" dirty="0"/>
              <a:t>D N </a:t>
            </a:r>
            <a:r>
              <a:rPr lang="en-US" altLang="en-US" sz="2400" dirty="0"/>
              <a:t>A.</a:t>
            </a:r>
          </a:p>
        </p:txBody>
      </p:sp>
    </p:spTree>
    <p:extLst>
      <p:ext uri="{BB962C8B-B14F-4D97-AF65-F5344CB8AC3E}">
        <p14:creationId xmlns:p14="http://schemas.microsoft.com/office/powerpoint/2010/main" val="121847525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77456"/>
            <a:ext cx="8302240" cy="553998"/>
          </a:xfrm>
        </p:spPr>
        <p:txBody>
          <a:bodyPr lIns="0" tIns="0" rIns="0" bIns="0" anchor="ctr">
            <a:spAutoFit/>
          </a:bodyPr>
          <a:lstStyle/>
          <a:p>
            <a:r>
              <a:rPr lang="en-US" altLang="en-US" sz="3600" dirty="0">
                <a:latin typeface="+mj-lt"/>
              </a:rPr>
              <a:t>3.3 Polysaccharides</a:t>
            </a:r>
            <a:endParaRPr lang="en-US" sz="3600" dirty="0">
              <a:latin typeface="+mj-lt"/>
            </a:endParaRP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60797"/>
            <a:ext cx="8302240" cy="3162404"/>
          </a:xfrm>
          <a:noFill/>
          <a:ln>
            <a:noFill/>
          </a:ln>
        </p:spPr>
        <p:txBody>
          <a:bodyPr lIns="0" tIns="0" rIns="0" bIns="0" anchor="t" anchorCtr="0">
            <a:spAutoFit/>
          </a:bodyPr>
          <a:lstStyle/>
          <a:p>
            <a:pPr marL="342900" indent="-342900"/>
            <a:r>
              <a:rPr lang="en-US" altLang="en-US" sz="2400" b="1" dirty="0"/>
              <a:t>Polysaccharides</a:t>
            </a:r>
            <a:r>
              <a:rPr lang="en-US" altLang="en-US" sz="2400" dirty="0"/>
              <a:t> are long chain polymers of sugars and sugar derivatives. </a:t>
            </a:r>
          </a:p>
          <a:p>
            <a:pPr marL="342900" indent="-342900"/>
            <a:r>
              <a:rPr lang="en-US" altLang="en-US" sz="2400" dirty="0"/>
              <a:t>They serve primarily in structure and storage. </a:t>
            </a:r>
          </a:p>
          <a:p>
            <a:pPr marL="342900" indent="-342900"/>
            <a:r>
              <a:rPr lang="en-US" altLang="en-US" sz="2400" dirty="0"/>
              <a:t>They usually consist of a single kind of repeating unit or sometimes an alternating pattern of two kinds.</a:t>
            </a:r>
          </a:p>
          <a:p>
            <a:pPr marL="342900" indent="-342900"/>
            <a:r>
              <a:rPr lang="en-US" altLang="en-US" sz="2400" dirty="0"/>
              <a:t>Short polymers, </a:t>
            </a:r>
            <a:r>
              <a:rPr lang="en-US" altLang="en-US" sz="2400" i="1" dirty="0"/>
              <a:t>oligosaccharides</a:t>
            </a:r>
            <a:r>
              <a:rPr lang="en-US" altLang="en-US" sz="2400" dirty="0"/>
              <a:t>, are sometimes attached to cell surface proteins.</a:t>
            </a:r>
          </a:p>
        </p:txBody>
      </p:sp>
    </p:spTree>
    <p:extLst>
      <p:ext uri="{BB962C8B-B14F-4D97-AF65-F5344CB8AC3E}">
        <p14:creationId xmlns:p14="http://schemas.microsoft.com/office/powerpoint/2010/main" val="323085244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77456"/>
            <a:ext cx="8302240" cy="553998"/>
          </a:xfrm>
        </p:spPr>
        <p:txBody>
          <a:bodyPr lIns="0" tIns="0" rIns="0" bIns="0" anchor="ctr">
            <a:spAutoFit/>
          </a:bodyPr>
          <a:lstStyle/>
          <a:p>
            <a:r>
              <a:rPr lang="en-US" sz="3600" dirty="0">
                <a:latin typeface="+mj-lt"/>
              </a:rPr>
              <a:t>The Monomers Are Monosaccharides</a:t>
            </a: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60797"/>
            <a:ext cx="8302240" cy="2970044"/>
          </a:xfrm>
          <a:noFill/>
          <a:ln>
            <a:noFill/>
          </a:ln>
        </p:spPr>
        <p:txBody>
          <a:bodyPr lIns="0" tIns="0" rIns="0" bIns="0" anchor="t" anchorCtr="0">
            <a:spAutoFit/>
          </a:bodyPr>
          <a:lstStyle/>
          <a:p>
            <a:pPr marL="342900" indent="-342900"/>
            <a:r>
              <a:rPr lang="en-US" sz="2400" dirty="0"/>
              <a:t>Repeating units of polysaccharides are </a:t>
            </a:r>
            <a:r>
              <a:rPr lang="en-US" sz="2400" b="1" dirty="0"/>
              <a:t>monosaccharides.</a:t>
            </a:r>
          </a:p>
          <a:p>
            <a:pPr marL="342900" indent="-342900"/>
            <a:r>
              <a:rPr lang="en-US" sz="2400" dirty="0"/>
              <a:t>A sugar may be an aldehyde, </a:t>
            </a:r>
            <a:r>
              <a:rPr lang="en-US" sz="2400" i="1" dirty="0" err="1"/>
              <a:t>aldosugars</a:t>
            </a:r>
            <a:r>
              <a:rPr lang="en-US" sz="2400" dirty="0"/>
              <a:t> with a terminal carbonyl group; or ketone, </a:t>
            </a:r>
            <a:r>
              <a:rPr lang="en-US" sz="2400" i="1" dirty="0" err="1"/>
              <a:t>ketosugars</a:t>
            </a:r>
            <a:r>
              <a:rPr lang="en-US" sz="2400" dirty="0"/>
              <a:t> with an internal carbonyl group.</a:t>
            </a:r>
          </a:p>
          <a:p>
            <a:pPr marL="342900" indent="-342900"/>
            <a:r>
              <a:rPr lang="en-US" sz="2400" dirty="0"/>
              <a:t>Sugars within these groups are named generically based on how many carbon atoms they contain.</a:t>
            </a:r>
          </a:p>
        </p:txBody>
      </p:sp>
    </p:spTree>
    <p:extLst>
      <p:ext uri="{BB962C8B-B14F-4D97-AF65-F5344CB8AC3E}">
        <p14:creationId xmlns:p14="http://schemas.microsoft.com/office/powerpoint/2010/main" val="345360153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19100" y="176915"/>
            <a:ext cx="8293100" cy="553998"/>
          </a:xfrm>
          <a:noFill/>
          <a:ln>
            <a:noFill/>
          </a:ln>
        </p:spPr>
        <p:txBody>
          <a:bodyPr wrap="square" lIns="0" tIns="0" rIns="0" bIns="0" anchor="ctr" anchorCtr="0">
            <a:spAutoFit/>
          </a:bodyPr>
          <a:lstStyle/>
          <a:p>
            <a:r>
              <a:rPr lang="en-US" dirty="0"/>
              <a:t>Structures of Monosaccharides </a:t>
            </a:r>
          </a:p>
        </p:txBody>
      </p:sp>
      <p:sp>
        <p:nvSpPr>
          <p:cNvPr id="6" name="Content Placeholder 5"/>
          <p:cNvSpPr>
            <a:spLocks noGrp="1"/>
          </p:cNvSpPr>
          <p:nvPr>
            <p:ph sz="quarter" idx="15"/>
          </p:nvPr>
        </p:nvSpPr>
        <p:spPr>
          <a:xfrm>
            <a:off x="421687" y="1095680"/>
            <a:ext cx="8276658" cy="369332"/>
          </a:xfrm>
          <a:noFill/>
          <a:ln>
            <a:noFill/>
          </a:ln>
        </p:spPr>
        <p:txBody>
          <a:bodyPr wrap="square" lIns="0" tIns="0" rIns="0" bIns="0" anchor="t" anchorCtr="0">
            <a:spAutoFit/>
          </a:bodyPr>
          <a:lstStyle/>
          <a:p>
            <a:pPr marL="0" indent="0">
              <a:buNone/>
            </a:pPr>
            <a:r>
              <a:rPr lang="en-US" sz="2400" b="1" dirty="0"/>
              <a:t>Figure 3.20</a:t>
            </a:r>
            <a:r>
              <a:rPr lang="en-US" sz="2400" dirty="0"/>
              <a:t> Structures of Monosaccharides.</a:t>
            </a:r>
          </a:p>
        </p:txBody>
      </p:sp>
      <p:pic>
        <p:nvPicPr>
          <p:cNvPr id="14" name="Picture Placeholder 13" descr="Comparison of the chemical structures of an aldosugar and a ketosugar. &#10;Long description is available in notes, press F6">
            <a:extLst>
              <a:ext uri="{FF2B5EF4-FFF2-40B4-BE49-F238E27FC236}">
                <a16:creationId xmlns:a16="http://schemas.microsoft.com/office/drawing/2014/main" id="{F3E3674C-83A6-4E40-BB3C-C37FA0A776FB}"/>
              </a:ext>
            </a:extLst>
          </p:cNvPr>
          <p:cNvPicPr>
            <a:picLocks noGrp="1" noChangeAspect="1"/>
          </p:cNvPicPr>
          <p:nvPr>
            <p:ph type="pic" sz="quarter" idx="16"/>
          </p:nvPr>
        </p:nvPicPr>
        <p:blipFill>
          <a:blip r:embed="rId3"/>
          <a:stretch>
            <a:fillRect/>
          </a:stretch>
        </p:blipFill>
        <p:spPr>
          <a:xfrm>
            <a:off x="1548719" y="1829779"/>
            <a:ext cx="6046563" cy="3887076"/>
          </a:xfrm>
        </p:spPr>
      </p:pic>
    </p:spTree>
    <p:extLst>
      <p:ext uri="{BB962C8B-B14F-4D97-AF65-F5344CB8AC3E}">
        <p14:creationId xmlns:p14="http://schemas.microsoft.com/office/powerpoint/2010/main" val="90999369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79552"/>
            <a:ext cx="8302240" cy="553998"/>
          </a:xfrm>
        </p:spPr>
        <p:txBody>
          <a:bodyPr lIns="0" tIns="0" rIns="0" bIns="0" anchor="ctr">
            <a:spAutoFit/>
          </a:bodyPr>
          <a:lstStyle/>
          <a:p>
            <a:r>
              <a:rPr lang="en-US" altLang="en-US" sz="3600" dirty="0">
                <a:latin typeface="+mj-lt"/>
              </a:rPr>
              <a:t>Classification of Sugars</a:t>
            </a:r>
            <a:endParaRPr lang="en-US" sz="2800" dirty="0">
              <a:latin typeface="+mj-lt"/>
            </a:endParaRP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89829"/>
            <a:ext cx="8302240" cy="2970044"/>
          </a:xfrm>
          <a:noFill/>
          <a:ln>
            <a:noFill/>
          </a:ln>
        </p:spPr>
        <p:txBody>
          <a:bodyPr lIns="0" tIns="0" rIns="0" bIns="0" anchor="t" anchorCtr="0">
            <a:spAutoFit/>
          </a:bodyPr>
          <a:lstStyle/>
          <a:p>
            <a:pPr marL="342900" indent="-342900"/>
            <a:r>
              <a:rPr lang="en-US" sz="2400" dirty="0"/>
              <a:t>Most sugars have between three and seven carbons and are classified as</a:t>
            </a:r>
          </a:p>
          <a:p>
            <a:pPr lvl="1" indent="-342000"/>
            <a:r>
              <a:rPr lang="en-US" sz="2400" i="1" dirty="0"/>
              <a:t>Trioses</a:t>
            </a:r>
            <a:r>
              <a:rPr lang="en-US" sz="2400" dirty="0"/>
              <a:t> (three carbons)</a:t>
            </a:r>
          </a:p>
          <a:p>
            <a:pPr lvl="1" indent="-342000"/>
            <a:r>
              <a:rPr lang="en-US" sz="2400" i="1" dirty="0" err="1"/>
              <a:t>Tetroses</a:t>
            </a:r>
            <a:r>
              <a:rPr lang="en-US" sz="2400" dirty="0"/>
              <a:t> (four carbons)</a:t>
            </a:r>
          </a:p>
          <a:p>
            <a:pPr lvl="1" indent="-342000"/>
            <a:r>
              <a:rPr lang="en-US" sz="2400" i="1" dirty="0"/>
              <a:t>Pentoses</a:t>
            </a:r>
            <a:r>
              <a:rPr lang="en-US" sz="2400" dirty="0"/>
              <a:t> (five carbons)</a:t>
            </a:r>
          </a:p>
          <a:p>
            <a:pPr lvl="1" indent="-342000"/>
            <a:r>
              <a:rPr lang="en-US" sz="2400" i="1" dirty="0"/>
              <a:t>Hexoses</a:t>
            </a:r>
            <a:r>
              <a:rPr lang="en-US" sz="2400" dirty="0"/>
              <a:t> (six carbons)</a:t>
            </a:r>
          </a:p>
          <a:p>
            <a:pPr lvl="1" indent="-342000"/>
            <a:r>
              <a:rPr lang="en-US" sz="2400" i="1" dirty="0" err="1"/>
              <a:t>Heptoses</a:t>
            </a:r>
            <a:r>
              <a:rPr lang="en-US" sz="2400" dirty="0"/>
              <a:t> (seven carbons)</a:t>
            </a:r>
          </a:p>
        </p:txBody>
      </p:sp>
    </p:spTree>
    <p:extLst>
      <p:ext uri="{BB962C8B-B14F-4D97-AF65-F5344CB8AC3E}">
        <p14:creationId xmlns:p14="http://schemas.microsoft.com/office/powerpoint/2010/main" val="339049798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79552"/>
            <a:ext cx="8302240" cy="553998"/>
          </a:xfrm>
        </p:spPr>
        <p:txBody>
          <a:bodyPr lIns="0" tIns="0" rIns="0" bIns="0" anchor="ctr">
            <a:spAutoFit/>
          </a:bodyPr>
          <a:lstStyle/>
          <a:p>
            <a:r>
              <a:rPr lang="en-US" altLang="en-US" sz="3600" dirty="0">
                <a:latin typeface="+mj-lt"/>
              </a:rPr>
              <a:t>Glucose</a:t>
            </a:r>
            <a:endParaRPr lang="en-US" sz="2800" dirty="0">
              <a:latin typeface="+mj-lt"/>
            </a:endParaRP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89829"/>
            <a:ext cx="8302240" cy="3531736"/>
          </a:xfrm>
          <a:noFill/>
          <a:ln>
            <a:noFill/>
          </a:ln>
        </p:spPr>
        <p:txBody>
          <a:bodyPr lIns="0" tIns="0" rIns="0" bIns="0" anchor="t" anchorCtr="0">
            <a:spAutoFit/>
          </a:bodyPr>
          <a:lstStyle/>
          <a:p>
            <a:pPr marL="342900" indent="-342900"/>
            <a:r>
              <a:rPr lang="en-US" altLang="en-US" sz="2400" dirty="0">
                <a:solidFill>
                  <a:schemeClr val="tx1"/>
                </a:solidFill>
              </a:rPr>
              <a:t>The single most common monosaccharide is the </a:t>
            </a:r>
            <a:r>
              <a:rPr lang="en-US" altLang="en-US" sz="2400" dirty="0" err="1">
                <a:solidFill>
                  <a:schemeClr val="tx1"/>
                </a:solidFill>
              </a:rPr>
              <a:t>aldohexose</a:t>
            </a:r>
            <a:r>
              <a:rPr lang="en-US" altLang="en-US" sz="2400" dirty="0">
                <a:solidFill>
                  <a:schemeClr val="tx1"/>
                </a:solidFill>
              </a:rPr>
              <a:t> </a:t>
            </a:r>
            <a:r>
              <a:rPr lang="en-US" altLang="en-US" sz="2400" cap="small" dirty="0">
                <a:solidFill>
                  <a:schemeClr val="tx1"/>
                </a:solidFill>
              </a:rPr>
              <a:t>d</a:t>
            </a:r>
            <a:r>
              <a:rPr lang="en-US" altLang="en-US" sz="2400" dirty="0">
                <a:solidFill>
                  <a:schemeClr val="tx1"/>
                </a:solidFill>
              </a:rPr>
              <a:t>-glucose (C</a:t>
            </a:r>
            <a:r>
              <a:rPr lang="en-US" altLang="en-US" sz="2400" baseline="-25000" dirty="0">
                <a:solidFill>
                  <a:schemeClr val="tx1"/>
                </a:solidFill>
              </a:rPr>
              <a:t>6</a:t>
            </a:r>
            <a:r>
              <a:rPr lang="en-US" altLang="en-US" sz="2400" dirty="0">
                <a:solidFill>
                  <a:schemeClr val="tx1"/>
                </a:solidFill>
              </a:rPr>
              <a:t>H</a:t>
            </a:r>
            <a:r>
              <a:rPr lang="en-US" altLang="en-US" sz="2400" baseline="-25000" dirty="0">
                <a:solidFill>
                  <a:schemeClr val="tx1"/>
                </a:solidFill>
              </a:rPr>
              <a:t>12</a:t>
            </a:r>
            <a:r>
              <a:rPr lang="en-US" altLang="en-US" sz="2400" dirty="0">
                <a:solidFill>
                  <a:schemeClr val="tx1"/>
                </a:solidFill>
              </a:rPr>
              <a:t>O</a:t>
            </a:r>
            <a:r>
              <a:rPr lang="en-US" altLang="en-US" sz="2400" baseline="-25000" dirty="0">
                <a:solidFill>
                  <a:schemeClr val="tx1"/>
                </a:solidFill>
              </a:rPr>
              <a:t>6</a:t>
            </a:r>
            <a:r>
              <a:rPr lang="en-US" altLang="en-US" sz="2400" dirty="0">
                <a:solidFill>
                  <a:schemeClr val="tx1"/>
                </a:solidFill>
              </a:rPr>
              <a:t>).</a:t>
            </a:r>
          </a:p>
          <a:p>
            <a:pPr marL="342900" indent="-342900"/>
            <a:r>
              <a:rPr lang="en-US" altLang="en-US" sz="2400" dirty="0">
                <a:solidFill>
                  <a:schemeClr val="tx1"/>
                </a:solidFill>
              </a:rPr>
              <a:t>The formula C</a:t>
            </a:r>
            <a:r>
              <a:rPr lang="en-US" altLang="en-US" sz="2400" i="1" baseline="-25000" dirty="0">
                <a:solidFill>
                  <a:schemeClr val="tx1"/>
                </a:solidFill>
              </a:rPr>
              <a:t>n</a:t>
            </a:r>
            <a:r>
              <a:rPr lang="en-US" altLang="en-US" sz="2400" dirty="0">
                <a:solidFill>
                  <a:schemeClr val="tx1"/>
                </a:solidFill>
              </a:rPr>
              <a:t>H</a:t>
            </a:r>
            <a:r>
              <a:rPr lang="en-US" altLang="en-US" sz="2400" i="1" baseline="-25000" dirty="0">
                <a:solidFill>
                  <a:schemeClr val="tx1"/>
                </a:solidFill>
              </a:rPr>
              <a:t>2n</a:t>
            </a:r>
            <a:r>
              <a:rPr lang="en-US" altLang="en-US" sz="2400" dirty="0">
                <a:solidFill>
                  <a:schemeClr val="tx1"/>
                </a:solidFill>
              </a:rPr>
              <a:t>O</a:t>
            </a:r>
            <a:r>
              <a:rPr lang="en-US" altLang="en-US" sz="2400" i="1" baseline="-25000" dirty="0">
                <a:solidFill>
                  <a:schemeClr val="tx1"/>
                </a:solidFill>
              </a:rPr>
              <a:t>n</a:t>
            </a:r>
            <a:r>
              <a:rPr lang="en-US" altLang="en-US" sz="2400" dirty="0">
                <a:solidFill>
                  <a:schemeClr val="tx1"/>
                </a:solidFill>
              </a:rPr>
              <a:t> is common for sugars and led to the general term </a:t>
            </a:r>
            <a:r>
              <a:rPr lang="en-US" altLang="en-US" sz="2400" b="1" dirty="0">
                <a:solidFill>
                  <a:schemeClr val="tx1"/>
                </a:solidFill>
              </a:rPr>
              <a:t>carbohydrate</a:t>
            </a:r>
            <a:r>
              <a:rPr lang="en-US" altLang="en-US" sz="2400" dirty="0">
                <a:solidFill>
                  <a:schemeClr val="tx1"/>
                </a:solidFill>
              </a:rPr>
              <a:t>.</a:t>
            </a:r>
          </a:p>
          <a:p>
            <a:pPr marL="342900" indent="-342900"/>
            <a:r>
              <a:rPr lang="en-US" altLang="en-US" sz="2400" dirty="0">
                <a:solidFill>
                  <a:schemeClr val="tx1"/>
                </a:solidFill>
              </a:rPr>
              <a:t>For every molecule of CO</a:t>
            </a:r>
            <a:r>
              <a:rPr lang="en-US" altLang="en-US" sz="2400" baseline="-25000" dirty="0">
                <a:solidFill>
                  <a:schemeClr val="tx1"/>
                </a:solidFill>
              </a:rPr>
              <a:t>2</a:t>
            </a:r>
            <a:r>
              <a:rPr lang="en-US" altLang="en-US" sz="2400" dirty="0">
                <a:solidFill>
                  <a:schemeClr val="tx1"/>
                </a:solidFill>
              </a:rPr>
              <a:t> incorporated into a sugar, one water molecule is consumed.</a:t>
            </a:r>
          </a:p>
          <a:p>
            <a:pPr marL="342900" indent="-342900"/>
            <a:r>
              <a:rPr lang="en-US" altLang="en-US" sz="2400" dirty="0">
                <a:solidFill>
                  <a:schemeClr val="tx1"/>
                </a:solidFill>
              </a:rPr>
              <a:t>The carbons of glucose (and other organic molecules) are numbered from the more oxidized, carbonyl end.</a:t>
            </a:r>
          </a:p>
        </p:txBody>
      </p:sp>
    </p:spTree>
    <p:extLst>
      <p:ext uri="{BB962C8B-B14F-4D97-AF65-F5344CB8AC3E}">
        <p14:creationId xmlns:p14="http://schemas.microsoft.com/office/powerpoint/2010/main" val="159483698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79552"/>
            <a:ext cx="8302240" cy="553998"/>
          </a:xfrm>
        </p:spPr>
        <p:txBody>
          <a:bodyPr lIns="0" tIns="0" rIns="0" bIns="0" anchor="ctr">
            <a:spAutoFit/>
          </a:bodyPr>
          <a:lstStyle/>
          <a:p>
            <a:r>
              <a:rPr lang="en-US" altLang="en-US" sz="3600" dirty="0">
                <a:latin typeface="+mj-lt"/>
              </a:rPr>
              <a:t>The Structure of Glucose</a:t>
            </a:r>
            <a:endParaRPr lang="en-US" sz="2800" dirty="0">
              <a:latin typeface="+mj-lt"/>
            </a:endParaRP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89829"/>
            <a:ext cx="8302240" cy="3901068"/>
          </a:xfrm>
          <a:noFill/>
          <a:ln>
            <a:noFill/>
          </a:ln>
        </p:spPr>
        <p:txBody>
          <a:bodyPr lIns="0" tIns="0" rIns="0" bIns="0" anchor="t" anchorCtr="0">
            <a:spAutoFit/>
          </a:bodyPr>
          <a:lstStyle/>
          <a:p>
            <a:pPr marL="342900" indent="-342900"/>
            <a:r>
              <a:rPr lang="en-US" altLang="en-US" sz="2400" cap="small" dirty="0">
                <a:solidFill>
                  <a:schemeClr val="tx1"/>
                </a:solidFill>
              </a:rPr>
              <a:t>d</a:t>
            </a:r>
            <a:r>
              <a:rPr lang="en-US" altLang="en-US" sz="2400" dirty="0">
                <a:solidFill>
                  <a:schemeClr val="tx1"/>
                </a:solidFill>
              </a:rPr>
              <a:t>-glucose is the most stable form of glucose though many other stereoisomers are possible.</a:t>
            </a:r>
          </a:p>
          <a:p>
            <a:pPr marL="342900" indent="-342900"/>
            <a:r>
              <a:rPr lang="en-US" altLang="en-US" sz="2400" cap="small" dirty="0">
                <a:solidFill>
                  <a:schemeClr val="tx1"/>
                </a:solidFill>
              </a:rPr>
              <a:t>d</a:t>
            </a:r>
            <a:r>
              <a:rPr lang="en-US" altLang="en-US" sz="2400" dirty="0">
                <a:solidFill>
                  <a:schemeClr val="tx1"/>
                </a:solidFill>
              </a:rPr>
              <a:t>-glucose is often depicted as a linear molecule, as in the </a:t>
            </a:r>
            <a:r>
              <a:rPr lang="en-US" altLang="en-US" sz="2400" b="1" dirty="0">
                <a:solidFill>
                  <a:schemeClr val="tx1"/>
                </a:solidFill>
              </a:rPr>
              <a:t>Fischer projection</a:t>
            </a:r>
            <a:r>
              <a:rPr lang="en-US" altLang="en-US" sz="2400" dirty="0">
                <a:solidFill>
                  <a:schemeClr val="tx1"/>
                </a:solidFill>
              </a:rPr>
              <a:t>, in which the H and OH groups are intended to project out of the plane of the diagram.</a:t>
            </a:r>
          </a:p>
          <a:p>
            <a:pPr marL="342900" indent="-342900"/>
            <a:r>
              <a:rPr lang="en-US" altLang="en-US" sz="2400" dirty="0">
                <a:solidFill>
                  <a:schemeClr val="tx1"/>
                </a:solidFill>
              </a:rPr>
              <a:t>In the cell, </a:t>
            </a:r>
            <a:r>
              <a:rPr lang="en-US" altLang="en-US" sz="2400" cap="small" dirty="0">
                <a:solidFill>
                  <a:schemeClr val="tx1"/>
                </a:solidFill>
              </a:rPr>
              <a:t>d</a:t>
            </a:r>
            <a:r>
              <a:rPr lang="en-US" altLang="en-US" sz="2400" dirty="0">
                <a:solidFill>
                  <a:schemeClr val="tx1"/>
                </a:solidFill>
              </a:rPr>
              <a:t>-glucose exists in a dynamic equilibrium between the linear and ring form.</a:t>
            </a:r>
          </a:p>
          <a:p>
            <a:pPr marL="342900" indent="-342900"/>
            <a:r>
              <a:rPr lang="en-US" altLang="en-US" sz="2400" dirty="0">
                <a:solidFill>
                  <a:schemeClr val="tx1"/>
                </a:solidFill>
              </a:rPr>
              <a:t>The </a:t>
            </a:r>
            <a:r>
              <a:rPr lang="en-US" altLang="en-US" sz="2400" b="1" dirty="0">
                <a:solidFill>
                  <a:schemeClr val="tx1"/>
                </a:solidFill>
              </a:rPr>
              <a:t>Haworth projection </a:t>
            </a:r>
            <a:r>
              <a:rPr lang="en-US" altLang="en-US" sz="2400" dirty="0">
                <a:solidFill>
                  <a:schemeClr val="tx1"/>
                </a:solidFill>
              </a:rPr>
              <a:t>shows the ring form of the molecule.</a:t>
            </a:r>
          </a:p>
        </p:txBody>
      </p:sp>
    </p:spTree>
    <p:extLst>
      <p:ext uri="{BB962C8B-B14F-4D97-AF65-F5344CB8AC3E}">
        <p14:creationId xmlns:p14="http://schemas.microsoft.com/office/powerpoint/2010/main" val="80652248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19100" y="177781"/>
            <a:ext cx="8293100" cy="553998"/>
          </a:xfrm>
          <a:noFill/>
          <a:ln>
            <a:noFill/>
          </a:ln>
        </p:spPr>
        <p:txBody>
          <a:bodyPr wrap="square" lIns="0" tIns="0" rIns="0" bIns="0" anchor="ctr" anchorCtr="0">
            <a:spAutoFit/>
          </a:bodyPr>
          <a:lstStyle/>
          <a:p>
            <a:r>
              <a:rPr lang="en-US" dirty="0"/>
              <a:t>The Structure of </a:t>
            </a:r>
            <a:r>
              <a:rPr lang="en-US" altLang="en-US" cap="small" dirty="0"/>
              <a:t>d</a:t>
            </a:r>
            <a:r>
              <a:rPr lang="en-US" altLang="en-US" dirty="0"/>
              <a:t>-G</a:t>
            </a:r>
            <a:r>
              <a:rPr lang="en-US" dirty="0"/>
              <a:t>lucose</a:t>
            </a:r>
          </a:p>
        </p:txBody>
      </p:sp>
      <p:sp>
        <p:nvSpPr>
          <p:cNvPr id="6" name="Content Placeholder 5"/>
          <p:cNvSpPr>
            <a:spLocks noGrp="1"/>
          </p:cNvSpPr>
          <p:nvPr>
            <p:ph sz="quarter" idx="15"/>
          </p:nvPr>
        </p:nvSpPr>
        <p:spPr>
          <a:xfrm>
            <a:off x="421687" y="1095680"/>
            <a:ext cx="8276658" cy="369332"/>
          </a:xfrm>
          <a:noFill/>
          <a:ln>
            <a:noFill/>
          </a:ln>
        </p:spPr>
        <p:txBody>
          <a:bodyPr wrap="square" lIns="0" tIns="0" rIns="0" bIns="0" anchor="t" anchorCtr="0">
            <a:spAutoFit/>
          </a:bodyPr>
          <a:lstStyle/>
          <a:p>
            <a:pPr marL="0" indent="0">
              <a:buNone/>
            </a:pPr>
            <a:r>
              <a:rPr lang="en-US" sz="2400" b="1" dirty="0">
                <a:solidFill>
                  <a:schemeClr val="tx1"/>
                </a:solidFill>
              </a:rPr>
              <a:t>Figure 3.21</a:t>
            </a:r>
            <a:r>
              <a:rPr lang="en-US" sz="2400" dirty="0">
                <a:solidFill>
                  <a:schemeClr val="tx1"/>
                </a:solidFill>
              </a:rPr>
              <a:t> The Structure of </a:t>
            </a:r>
            <a:r>
              <a:rPr lang="en-US" altLang="en-US" sz="2400" cap="small" dirty="0">
                <a:solidFill>
                  <a:schemeClr val="tx1"/>
                </a:solidFill>
              </a:rPr>
              <a:t>d</a:t>
            </a:r>
            <a:r>
              <a:rPr lang="en-US" sz="2400" dirty="0">
                <a:solidFill>
                  <a:schemeClr val="tx1"/>
                </a:solidFill>
              </a:rPr>
              <a:t>-Glucose.</a:t>
            </a:r>
          </a:p>
        </p:txBody>
      </p:sp>
      <p:pic>
        <p:nvPicPr>
          <p:cNvPr id="7" name="Picture Placeholder 6" descr="Fischer projection and Haworth projection of glucose structure. &#10;Long description is available in notes, press F6">
            <a:extLst>
              <a:ext uri="{FF2B5EF4-FFF2-40B4-BE49-F238E27FC236}">
                <a16:creationId xmlns:a16="http://schemas.microsoft.com/office/drawing/2014/main" id="{7BA02886-CBC5-4BFF-B086-8720385B6C4D}"/>
              </a:ext>
            </a:extLst>
          </p:cNvPr>
          <p:cNvPicPr>
            <a:picLocks noGrp="1" noChangeAspect="1"/>
          </p:cNvPicPr>
          <p:nvPr>
            <p:ph type="pic" sz="quarter" idx="16"/>
          </p:nvPr>
        </p:nvPicPr>
        <p:blipFill>
          <a:blip r:embed="rId3"/>
          <a:stretch>
            <a:fillRect/>
          </a:stretch>
        </p:blipFill>
        <p:spPr>
          <a:xfrm>
            <a:off x="1995170" y="2233540"/>
            <a:ext cx="5153660" cy="4085217"/>
          </a:xfrm>
        </p:spPr>
      </p:pic>
    </p:spTree>
    <p:extLst>
      <p:ext uri="{BB962C8B-B14F-4D97-AF65-F5344CB8AC3E}">
        <p14:creationId xmlns:p14="http://schemas.microsoft.com/office/powerpoint/2010/main" val="137322529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79552"/>
            <a:ext cx="8302240" cy="553998"/>
          </a:xfrm>
        </p:spPr>
        <p:txBody>
          <a:bodyPr lIns="0" tIns="0" rIns="0" bIns="0" anchor="ctr">
            <a:spAutoFit/>
          </a:bodyPr>
          <a:lstStyle/>
          <a:p>
            <a:r>
              <a:rPr lang="en-US" altLang="en-US" sz="3600" dirty="0">
                <a:latin typeface="+mj-lt"/>
              </a:rPr>
              <a:t>Two Ring Forms of </a:t>
            </a:r>
            <a:r>
              <a:rPr lang="en-US" altLang="en-US" sz="3600" cap="small" dirty="0">
                <a:latin typeface="+mj-lt"/>
              </a:rPr>
              <a:t>d</a:t>
            </a:r>
            <a:r>
              <a:rPr lang="en-US" altLang="en-US" sz="3600" dirty="0">
                <a:latin typeface="+mj-lt"/>
              </a:rPr>
              <a:t>-Glucose</a:t>
            </a:r>
            <a:endParaRPr lang="en-US" sz="2800" dirty="0">
              <a:latin typeface="+mj-lt"/>
            </a:endParaRP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60801"/>
            <a:ext cx="8302240" cy="2600712"/>
          </a:xfrm>
          <a:noFill/>
          <a:ln>
            <a:noFill/>
          </a:ln>
        </p:spPr>
        <p:txBody>
          <a:bodyPr lIns="0" tIns="0" rIns="0" bIns="0" anchor="t" anchorCtr="0">
            <a:spAutoFit/>
          </a:bodyPr>
          <a:lstStyle/>
          <a:p>
            <a:pPr marL="342900" indent="-342900"/>
            <a:r>
              <a:rPr lang="en-US" altLang="en-US" sz="2400" dirty="0">
                <a:solidFill>
                  <a:schemeClr val="tx1"/>
                </a:solidFill>
              </a:rPr>
              <a:t>The formation of a ring by </a:t>
            </a:r>
            <a:r>
              <a:rPr lang="en-US" altLang="en-US" sz="2400" cap="small" dirty="0">
                <a:solidFill>
                  <a:schemeClr val="tx1"/>
                </a:solidFill>
              </a:rPr>
              <a:t>d</a:t>
            </a:r>
            <a:r>
              <a:rPr lang="en-US" altLang="en-US" sz="2400" dirty="0">
                <a:solidFill>
                  <a:schemeClr val="tx1"/>
                </a:solidFill>
              </a:rPr>
              <a:t>-glucose can result in two alternative forms.</a:t>
            </a:r>
          </a:p>
          <a:p>
            <a:pPr marL="342900" indent="-342900"/>
            <a:r>
              <a:rPr lang="en-US" altLang="en-US" sz="2400" dirty="0">
                <a:solidFill>
                  <a:schemeClr val="tx1"/>
                </a:solidFill>
              </a:rPr>
              <a:t>These depend on the spatial orientation of the hydroxyl group on carbon number 1.</a:t>
            </a:r>
          </a:p>
          <a:p>
            <a:pPr marL="342900" indent="-342900"/>
            <a:r>
              <a:rPr lang="en-US" altLang="en-US" sz="2400" dirty="0">
                <a:solidFill>
                  <a:schemeClr val="tx1"/>
                </a:solidFill>
              </a:rPr>
              <a:t>These forms are designated </a:t>
            </a:r>
            <a:r>
              <a:rPr lang="el-GR" altLang="en-US" sz="2400" i="1" dirty="0">
                <a:solidFill>
                  <a:schemeClr val="tx1"/>
                </a:solidFill>
                <a:sym typeface="Symbol" panose="05050102010706020507" pitchFamily="18" charset="2"/>
              </a:rPr>
              <a:t>α</a:t>
            </a:r>
            <a:r>
              <a:rPr lang="en-US" altLang="en-US" sz="2400" dirty="0">
                <a:solidFill>
                  <a:schemeClr val="tx1"/>
                </a:solidFill>
                <a:sym typeface="Symbol" panose="05050102010706020507" pitchFamily="18" charset="2"/>
              </a:rPr>
              <a:t>(</a:t>
            </a:r>
            <a:r>
              <a:rPr lang="en-US" altLang="en-US" sz="2400" dirty="0">
                <a:solidFill>
                  <a:schemeClr val="tx1"/>
                </a:solidFill>
              </a:rPr>
              <a:t>hydroxyl group downward</a:t>
            </a:r>
            <a:r>
              <a:rPr lang="en-US" altLang="en-US" sz="2400" dirty="0">
                <a:solidFill>
                  <a:schemeClr val="tx1"/>
                </a:solidFill>
                <a:sym typeface="Symbol" panose="05050102010706020507" pitchFamily="18" charset="2"/>
              </a:rPr>
              <a:t>)</a:t>
            </a:r>
            <a:r>
              <a:rPr lang="en-US" altLang="en-US" sz="2400" dirty="0">
                <a:solidFill>
                  <a:schemeClr val="tx1"/>
                </a:solidFill>
              </a:rPr>
              <a:t> and </a:t>
            </a:r>
            <a:r>
              <a:rPr lang="el-GR" altLang="en-US" sz="2400" i="1" dirty="0">
                <a:solidFill>
                  <a:schemeClr val="tx1"/>
                </a:solidFill>
                <a:sym typeface="Symbol" panose="05050102010706020507" pitchFamily="18" charset="2"/>
              </a:rPr>
              <a:t>β</a:t>
            </a:r>
            <a:r>
              <a:rPr lang="en-US" altLang="en-US" sz="2400" dirty="0">
                <a:solidFill>
                  <a:schemeClr val="tx1"/>
                </a:solidFill>
                <a:sym typeface="Symbol" panose="05050102010706020507" pitchFamily="18" charset="2"/>
              </a:rPr>
              <a:t> (</a:t>
            </a:r>
            <a:r>
              <a:rPr lang="en-US" altLang="en-US" sz="2400" dirty="0">
                <a:solidFill>
                  <a:schemeClr val="tx1"/>
                </a:solidFill>
              </a:rPr>
              <a:t>hydroxyl group upward</a:t>
            </a:r>
            <a:r>
              <a:rPr lang="en-US" altLang="en-US" sz="2400" dirty="0">
                <a:solidFill>
                  <a:schemeClr val="tx1"/>
                </a:solidFill>
                <a:sym typeface="Symbol" panose="05050102010706020507" pitchFamily="18" charset="2"/>
              </a:rPr>
              <a:t>).</a:t>
            </a:r>
            <a:endParaRPr lang="en-US" altLang="en-US" sz="2400" dirty="0">
              <a:solidFill>
                <a:schemeClr val="tx1"/>
              </a:solidFill>
            </a:endParaRPr>
          </a:p>
        </p:txBody>
      </p:sp>
    </p:spTree>
    <p:extLst>
      <p:ext uri="{BB962C8B-B14F-4D97-AF65-F5344CB8AC3E}">
        <p14:creationId xmlns:p14="http://schemas.microsoft.com/office/powerpoint/2010/main" val="37744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19100" y="176915"/>
            <a:ext cx="8293100" cy="553998"/>
          </a:xfrm>
          <a:noFill/>
          <a:ln>
            <a:noFill/>
          </a:ln>
        </p:spPr>
        <p:txBody>
          <a:bodyPr wrap="square" lIns="0" tIns="0" rIns="0" bIns="0" anchor="ctr" anchorCtr="0">
            <a:spAutoFit/>
          </a:bodyPr>
          <a:lstStyle/>
          <a:p>
            <a:r>
              <a:rPr lang="en-US" dirty="0"/>
              <a:t>The Ring Forms of </a:t>
            </a:r>
            <a:r>
              <a:rPr lang="en-US" altLang="en-US" cap="small" dirty="0"/>
              <a:t>d</a:t>
            </a:r>
            <a:r>
              <a:rPr lang="en-US" altLang="en-US" dirty="0"/>
              <a:t>-Glucose</a:t>
            </a:r>
            <a:endParaRPr lang="en-US" dirty="0"/>
          </a:p>
        </p:txBody>
      </p:sp>
      <p:sp>
        <p:nvSpPr>
          <p:cNvPr id="6" name="Content Placeholder 5"/>
          <p:cNvSpPr>
            <a:spLocks noGrp="1"/>
          </p:cNvSpPr>
          <p:nvPr>
            <p:ph sz="quarter" idx="15"/>
          </p:nvPr>
        </p:nvSpPr>
        <p:spPr>
          <a:xfrm>
            <a:off x="421687" y="1095680"/>
            <a:ext cx="8276658" cy="369332"/>
          </a:xfrm>
          <a:noFill/>
          <a:ln>
            <a:noFill/>
          </a:ln>
        </p:spPr>
        <p:txBody>
          <a:bodyPr wrap="square" lIns="0" tIns="0" rIns="0" bIns="0" anchor="t" anchorCtr="0">
            <a:spAutoFit/>
          </a:bodyPr>
          <a:lstStyle/>
          <a:p>
            <a:pPr marL="0" indent="0">
              <a:buNone/>
            </a:pPr>
            <a:r>
              <a:rPr lang="en-US" sz="2400" b="1" dirty="0">
                <a:solidFill>
                  <a:schemeClr val="tx1"/>
                </a:solidFill>
              </a:rPr>
              <a:t>Figure 3.22</a:t>
            </a:r>
            <a:r>
              <a:rPr lang="en-US" sz="2400" dirty="0">
                <a:solidFill>
                  <a:schemeClr val="tx1"/>
                </a:solidFill>
              </a:rPr>
              <a:t> The Ring Forms of </a:t>
            </a:r>
            <a:r>
              <a:rPr lang="en-US" altLang="en-US" sz="2400" cap="small" dirty="0">
                <a:solidFill>
                  <a:schemeClr val="tx1"/>
                </a:solidFill>
              </a:rPr>
              <a:t>d</a:t>
            </a:r>
            <a:r>
              <a:rPr lang="en-US" sz="2400" dirty="0">
                <a:solidFill>
                  <a:schemeClr val="tx1"/>
                </a:solidFill>
              </a:rPr>
              <a:t>-Glucose.</a:t>
            </a:r>
          </a:p>
        </p:txBody>
      </p:sp>
      <p:pic>
        <p:nvPicPr>
          <p:cNvPr id="8" name="Picture Placeholder 7" descr="Comparison of the structure of the ring forms of glucose. &#10;Long description is available in notes, press F6">
            <a:extLst>
              <a:ext uri="{FF2B5EF4-FFF2-40B4-BE49-F238E27FC236}">
                <a16:creationId xmlns:a16="http://schemas.microsoft.com/office/drawing/2014/main" id="{1DB0CDD5-85A4-463A-AA77-158A561E606F}"/>
              </a:ext>
            </a:extLst>
          </p:cNvPr>
          <p:cNvPicPr>
            <a:picLocks noGrp="1" noChangeAspect="1"/>
          </p:cNvPicPr>
          <p:nvPr>
            <p:ph type="pic" sz="quarter" idx="16"/>
          </p:nvPr>
        </p:nvPicPr>
        <p:blipFill rotWithShape="1">
          <a:blip r:embed="rId3"/>
          <a:srcRect b="3186"/>
          <a:stretch/>
        </p:blipFill>
        <p:spPr>
          <a:xfrm>
            <a:off x="1039607" y="1993588"/>
            <a:ext cx="7051964" cy="4100285"/>
          </a:xfrm>
        </p:spPr>
      </p:pic>
    </p:spTree>
    <p:extLst>
      <p:ext uri="{BB962C8B-B14F-4D97-AF65-F5344CB8AC3E}">
        <p14:creationId xmlns:p14="http://schemas.microsoft.com/office/powerpoint/2010/main" val="121143690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79552"/>
            <a:ext cx="8302240" cy="553998"/>
          </a:xfrm>
        </p:spPr>
        <p:txBody>
          <a:bodyPr lIns="0" tIns="0" rIns="0" bIns="0" anchor="ctr">
            <a:spAutoFit/>
          </a:bodyPr>
          <a:lstStyle/>
          <a:p>
            <a:r>
              <a:rPr lang="en-US" altLang="en-US" sz="3600" dirty="0">
                <a:latin typeface="+mj-lt"/>
                <a:cs typeface="Times New Roman" panose="02020603050405020304" pitchFamily="18" charset="0"/>
              </a:rPr>
              <a:t>Glucose Also Exists in Disaccharides</a:t>
            </a:r>
            <a:endParaRPr lang="en-US" sz="2800" dirty="0">
              <a:latin typeface="+mj-lt"/>
              <a:cs typeface="Times New Roman" panose="02020603050405020304" pitchFamily="18" charset="0"/>
            </a:endParaRP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89830"/>
            <a:ext cx="8302240" cy="2639184"/>
          </a:xfrm>
          <a:noFill/>
          <a:ln>
            <a:noFill/>
          </a:ln>
        </p:spPr>
        <p:txBody>
          <a:bodyPr lIns="0" tIns="0" rIns="0" bIns="0" anchor="t" anchorCtr="0">
            <a:spAutoFit/>
          </a:bodyPr>
          <a:lstStyle/>
          <a:p>
            <a:pPr marL="342900" indent="-342900"/>
            <a:r>
              <a:rPr lang="en-US" altLang="en-US" sz="2400" dirty="0"/>
              <a:t>Glucose exists in </a:t>
            </a:r>
            <a:r>
              <a:rPr lang="en-US" altLang="en-US" sz="2400" b="1" dirty="0"/>
              <a:t>disaccharides</a:t>
            </a:r>
            <a:r>
              <a:rPr lang="en-US" altLang="en-US" sz="2400" dirty="0"/>
              <a:t>, in which two monosaccharide units are covalently linked.</a:t>
            </a:r>
          </a:p>
          <a:p>
            <a:pPr marL="342900" indent="-342900"/>
            <a:r>
              <a:rPr lang="en-US" altLang="en-US" sz="2400" dirty="0"/>
              <a:t>Common disaccharides include</a:t>
            </a:r>
          </a:p>
          <a:p>
            <a:pPr lvl="1" indent="-342000"/>
            <a:r>
              <a:rPr lang="en-US" altLang="en-US" sz="2400" i="1" dirty="0"/>
              <a:t>Maltose</a:t>
            </a:r>
            <a:r>
              <a:rPr lang="en-US" altLang="en-US" sz="2400" dirty="0"/>
              <a:t>, two glucose units</a:t>
            </a:r>
          </a:p>
          <a:p>
            <a:pPr lvl="1" indent="-342000"/>
            <a:r>
              <a:rPr lang="en-US" altLang="en-US" sz="2400" i="1" dirty="0"/>
              <a:t>Lactose</a:t>
            </a:r>
            <a:r>
              <a:rPr lang="en-US" altLang="en-US" sz="2400" dirty="0"/>
              <a:t>, one glucose linked to one galactose</a:t>
            </a:r>
          </a:p>
          <a:p>
            <a:pPr lvl="1" indent="-342000"/>
            <a:r>
              <a:rPr lang="en-US" altLang="en-US" sz="2400" i="1" dirty="0"/>
              <a:t>Sucrose</a:t>
            </a:r>
            <a:r>
              <a:rPr lang="en-US" altLang="en-US" sz="2400" dirty="0"/>
              <a:t>, one glucose linked to one fructose</a:t>
            </a:r>
          </a:p>
        </p:txBody>
      </p:sp>
    </p:spTree>
    <p:extLst>
      <p:ext uri="{BB962C8B-B14F-4D97-AF65-F5344CB8AC3E}">
        <p14:creationId xmlns:p14="http://schemas.microsoft.com/office/powerpoint/2010/main" val="352069812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79552"/>
            <a:ext cx="8302240" cy="553998"/>
          </a:xfrm>
        </p:spPr>
        <p:txBody>
          <a:bodyPr lIns="0" tIns="0" rIns="0" bIns="0" anchor="ctr">
            <a:spAutoFit/>
          </a:bodyPr>
          <a:lstStyle/>
          <a:p>
            <a:r>
              <a:rPr lang="en-US" altLang="en-US" sz="3600" dirty="0">
                <a:latin typeface="+mj-lt"/>
              </a:rPr>
              <a:t>Disaccharides</a:t>
            </a:r>
            <a:endParaRPr lang="en-US" sz="2800" dirty="0">
              <a:latin typeface="+mj-lt"/>
              <a:cs typeface="Times New Roman" panose="02020603050405020304" pitchFamily="18" charset="0"/>
            </a:endParaRP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89830"/>
            <a:ext cx="8302240" cy="2039020"/>
          </a:xfrm>
          <a:noFill/>
          <a:ln>
            <a:noFill/>
          </a:ln>
        </p:spPr>
        <p:txBody>
          <a:bodyPr lIns="0" tIns="0" rIns="0" bIns="0" anchor="t" anchorCtr="0">
            <a:spAutoFit/>
          </a:bodyPr>
          <a:lstStyle/>
          <a:p>
            <a:pPr marL="342900" indent="-342900"/>
            <a:r>
              <a:rPr lang="en-US" altLang="en-US" sz="2400" dirty="0"/>
              <a:t>The linkage of disaccharides is a </a:t>
            </a:r>
            <a:r>
              <a:rPr lang="en-US" altLang="en-US" sz="2400" b="1" dirty="0" err="1"/>
              <a:t>glycosidic</a:t>
            </a:r>
            <a:r>
              <a:rPr lang="en-US" altLang="en-US" sz="2400" b="1" dirty="0"/>
              <a:t> bond</a:t>
            </a:r>
            <a:r>
              <a:rPr lang="en-US" altLang="en-US" sz="2400" dirty="0"/>
              <a:t>, formed between two monosaccharides by the elimination of water.</a:t>
            </a:r>
          </a:p>
          <a:p>
            <a:pPr marL="342900" indent="-342900"/>
            <a:r>
              <a:rPr lang="en-US" altLang="en-US" sz="2400" dirty="0" err="1"/>
              <a:t>Glycosidic</a:t>
            </a:r>
            <a:r>
              <a:rPr lang="en-US" altLang="en-US" sz="2400" dirty="0"/>
              <a:t> bonds involving the </a:t>
            </a:r>
            <a:r>
              <a:rPr lang="el-GR" altLang="en-US" sz="2400" dirty="0">
                <a:sym typeface="Symbol" panose="05050102010706020507" pitchFamily="18" charset="2"/>
              </a:rPr>
              <a:t>α</a:t>
            </a:r>
            <a:r>
              <a:rPr lang="en-US" altLang="en-US" sz="2400" dirty="0"/>
              <a:t> form of glucose are called </a:t>
            </a:r>
            <a:r>
              <a:rPr lang="el-GR" altLang="en-US" sz="2400" i="1" dirty="0">
                <a:latin typeface="Times New Roman" panose="02020603050405020304" pitchFamily="18" charset="0"/>
                <a:cs typeface="Times New Roman" panose="02020603050405020304" pitchFamily="18" charset="0"/>
                <a:sym typeface="Symbol" panose="05050102010706020507" pitchFamily="18" charset="2"/>
              </a:rPr>
              <a:t>α</a:t>
            </a:r>
            <a:r>
              <a:rPr lang="en-US" altLang="en-US" sz="2400" dirty="0"/>
              <a:t> </a:t>
            </a:r>
            <a:r>
              <a:rPr lang="en-US" altLang="en-US" sz="2400" i="1" dirty="0" err="1"/>
              <a:t>glycosidic</a:t>
            </a:r>
            <a:r>
              <a:rPr lang="en-US" altLang="en-US" sz="2400" i="1" dirty="0"/>
              <a:t> bonds </a:t>
            </a:r>
            <a:r>
              <a:rPr lang="en-US" altLang="en-US" sz="2400" dirty="0"/>
              <a:t>(e.g., maltose); those involving the </a:t>
            </a:r>
            <a:r>
              <a:rPr lang="el-GR" altLang="en-US" sz="2400" i="1" dirty="0">
                <a:latin typeface="Times New Roman" panose="02020603050405020304" pitchFamily="18" charset="0"/>
                <a:cs typeface="Times New Roman" panose="02020603050405020304" pitchFamily="18" charset="0"/>
                <a:sym typeface="Symbol" panose="05050102010706020507" pitchFamily="18" charset="2"/>
              </a:rPr>
              <a:t>β</a:t>
            </a:r>
            <a:r>
              <a:rPr lang="en-US" altLang="en-US" sz="2400" dirty="0"/>
              <a:t> form are called</a:t>
            </a:r>
            <a:r>
              <a:rPr lang="en-US" altLang="en-US" sz="2400" dirty="0">
                <a:latin typeface="Times New Roman" panose="02020603050405020304" pitchFamily="18" charset="0"/>
                <a:cs typeface="Times New Roman" panose="02020603050405020304" pitchFamily="18" charset="0"/>
              </a:rPr>
              <a:t> </a:t>
            </a:r>
            <a:r>
              <a:rPr lang="el-GR" altLang="en-US" sz="2400" i="1" dirty="0">
                <a:latin typeface="Times New Roman" panose="02020603050405020304" pitchFamily="18" charset="0"/>
                <a:cs typeface="Times New Roman" panose="02020603050405020304" pitchFamily="18" charset="0"/>
                <a:sym typeface="Symbol" panose="05050102010706020507" pitchFamily="18" charset="2"/>
              </a:rPr>
              <a:t>β</a:t>
            </a:r>
            <a:r>
              <a:rPr lang="en-US" altLang="en-US" sz="2400" dirty="0">
                <a:latin typeface="Times New Roman" panose="02020603050405020304" pitchFamily="18" charset="0"/>
                <a:cs typeface="Times New Roman" panose="02020603050405020304" pitchFamily="18" charset="0"/>
              </a:rPr>
              <a:t> </a:t>
            </a:r>
            <a:r>
              <a:rPr lang="en-US" altLang="en-US" sz="2400" i="1" dirty="0" err="1"/>
              <a:t>glycosidic</a:t>
            </a:r>
            <a:r>
              <a:rPr lang="en-US" altLang="en-US" sz="2400" i="1" dirty="0"/>
              <a:t> bonds </a:t>
            </a:r>
            <a:r>
              <a:rPr lang="en-US" altLang="en-US" sz="2400" dirty="0"/>
              <a:t>(e.g., lactose).</a:t>
            </a:r>
          </a:p>
        </p:txBody>
      </p:sp>
    </p:spTree>
    <p:extLst>
      <p:ext uri="{BB962C8B-B14F-4D97-AF65-F5344CB8AC3E}">
        <p14:creationId xmlns:p14="http://schemas.microsoft.com/office/powerpoint/2010/main" val="100181469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19100" y="176915"/>
            <a:ext cx="8293100" cy="553998"/>
          </a:xfrm>
          <a:noFill/>
          <a:ln>
            <a:noFill/>
          </a:ln>
        </p:spPr>
        <p:txBody>
          <a:bodyPr wrap="square" lIns="0" tIns="0" rIns="0" bIns="0" anchor="ctr" anchorCtr="0">
            <a:spAutoFit/>
          </a:bodyPr>
          <a:lstStyle/>
          <a:p>
            <a:r>
              <a:rPr lang="en-US" dirty="0"/>
              <a:t>Some Common Disaccharides</a:t>
            </a:r>
          </a:p>
        </p:txBody>
      </p:sp>
      <p:sp>
        <p:nvSpPr>
          <p:cNvPr id="6" name="Content Placeholder 5"/>
          <p:cNvSpPr>
            <a:spLocks noGrp="1"/>
          </p:cNvSpPr>
          <p:nvPr>
            <p:ph sz="quarter" idx="15"/>
          </p:nvPr>
        </p:nvSpPr>
        <p:spPr>
          <a:xfrm>
            <a:off x="421686" y="1095680"/>
            <a:ext cx="5242135" cy="738664"/>
          </a:xfrm>
          <a:noFill/>
          <a:ln>
            <a:noFill/>
          </a:ln>
        </p:spPr>
        <p:txBody>
          <a:bodyPr wrap="square" lIns="0" tIns="0" rIns="0" bIns="0" anchor="t" anchorCtr="0">
            <a:spAutoFit/>
          </a:bodyPr>
          <a:lstStyle/>
          <a:p>
            <a:pPr marL="0" indent="0">
              <a:buNone/>
            </a:pPr>
            <a:r>
              <a:rPr lang="en-US" sz="2400" b="1" dirty="0">
                <a:latin typeface="+mn-lt"/>
              </a:rPr>
              <a:t>Figure 3.23</a:t>
            </a:r>
            <a:r>
              <a:rPr lang="en-US" sz="2400" dirty="0">
                <a:latin typeface="+mn-lt"/>
              </a:rPr>
              <a:t> Some Common Disaccharides.</a:t>
            </a:r>
          </a:p>
        </p:txBody>
      </p:sp>
      <p:pic>
        <p:nvPicPr>
          <p:cNvPr id="7" name="Picture Placeholder 6" descr="Chemical structures and linkages of disaccharides, such as maltose, lactose, and sucrose.&#10;Long description is available in notes, press F6">
            <a:extLst>
              <a:ext uri="{FF2B5EF4-FFF2-40B4-BE49-F238E27FC236}">
                <a16:creationId xmlns:a16="http://schemas.microsoft.com/office/drawing/2014/main" id="{BF7ABFF9-42D9-4D99-A817-3312A91272AC}"/>
              </a:ext>
            </a:extLst>
          </p:cNvPr>
          <p:cNvPicPr>
            <a:picLocks noGrp="1" noChangeAspect="1"/>
          </p:cNvPicPr>
          <p:nvPr>
            <p:ph type="pic" sz="quarter" idx="16"/>
          </p:nvPr>
        </p:nvPicPr>
        <p:blipFill rotWithShape="1">
          <a:blip r:embed="rId3"/>
          <a:srcRect b="2072"/>
          <a:stretch/>
        </p:blipFill>
        <p:spPr>
          <a:xfrm>
            <a:off x="6048172" y="1082407"/>
            <a:ext cx="2599447" cy="5237451"/>
          </a:xfrm>
        </p:spPr>
      </p:pic>
    </p:spTree>
    <p:extLst>
      <p:ext uri="{BB962C8B-B14F-4D97-AF65-F5344CB8AC3E}">
        <p14:creationId xmlns:p14="http://schemas.microsoft.com/office/powerpoint/2010/main" val="385505580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79647"/>
            <a:ext cx="8302240" cy="1107996"/>
          </a:xfrm>
        </p:spPr>
        <p:txBody>
          <a:bodyPr lIns="0" tIns="0" rIns="0" bIns="0" anchor="ctr">
            <a:spAutoFit/>
          </a:bodyPr>
          <a:lstStyle/>
          <a:p>
            <a:r>
              <a:rPr lang="en-US" altLang="en-US" sz="3600" dirty="0">
                <a:latin typeface="+mj-lt"/>
              </a:rPr>
              <a:t>The Polymers Are Storage and Structural Polysaccharides</a:t>
            </a:r>
            <a:endParaRPr lang="en-US" sz="2800" dirty="0">
              <a:latin typeface="+mj-lt"/>
            </a:endParaRP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545715"/>
            <a:ext cx="8302240" cy="2600712"/>
          </a:xfrm>
          <a:noFill/>
          <a:ln>
            <a:noFill/>
          </a:ln>
        </p:spPr>
        <p:txBody>
          <a:bodyPr lIns="0" tIns="0" rIns="0" bIns="0" anchor="t" anchorCtr="0">
            <a:spAutoFit/>
          </a:bodyPr>
          <a:lstStyle/>
          <a:p>
            <a:pPr marL="342900" indent="-342900"/>
            <a:r>
              <a:rPr lang="en-US" altLang="en-US" sz="2400" dirty="0">
                <a:solidFill>
                  <a:schemeClr val="tx1"/>
                </a:solidFill>
                <a:latin typeface="+mn-lt"/>
              </a:rPr>
              <a:t>The most familiar </a:t>
            </a:r>
            <a:r>
              <a:rPr lang="en-US" altLang="en-US" sz="2400" b="1" dirty="0">
                <a:solidFill>
                  <a:schemeClr val="tx1"/>
                </a:solidFill>
                <a:latin typeface="+mn-lt"/>
              </a:rPr>
              <a:t>storage polysaccharides </a:t>
            </a:r>
            <a:r>
              <a:rPr lang="en-US" altLang="en-US" sz="2400" dirty="0">
                <a:solidFill>
                  <a:schemeClr val="tx1"/>
                </a:solidFill>
                <a:latin typeface="+mn-lt"/>
              </a:rPr>
              <a:t>are </a:t>
            </a:r>
            <a:r>
              <a:rPr lang="en-US" altLang="en-US" sz="2400" b="1" dirty="0">
                <a:solidFill>
                  <a:schemeClr val="tx1"/>
                </a:solidFill>
                <a:latin typeface="+mn-lt"/>
              </a:rPr>
              <a:t>starch</a:t>
            </a:r>
            <a:r>
              <a:rPr lang="en-US" altLang="en-US" sz="2400" dirty="0">
                <a:solidFill>
                  <a:schemeClr val="tx1"/>
                </a:solidFill>
                <a:latin typeface="+mn-lt"/>
              </a:rPr>
              <a:t> in plant cells and glycogen in animal cells and bacteria.</a:t>
            </a:r>
          </a:p>
          <a:p>
            <a:pPr marL="342900" indent="-342900"/>
            <a:r>
              <a:rPr lang="en-US" altLang="en-US" sz="2400" dirty="0">
                <a:solidFill>
                  <a:schemeClr val="tx1"/>
                </a:solidFill>
                <a:latin typeface="+mn-lt"/>
              </a:rPr>
              <a:t>Both consist of </a:t>
            </a:r>
            <a:r>
              <a:rPr lang="el-GR" altLang="en-US" sz="2400" i="1" dirty="0">
                <a:solidFill>
                  <a:schemeClr val="tx1"/>
                </a:solidFill>
                <a:latin typeface="+mn-lt"/>
                <a:cs typeface="Times New Roman" panose="02020603050405020304" pitchFamily="18" charset="0"/>
                <a:sym typeface="Symbol" panose="05050102010706020507" pitchFamily="18" charset="2"/>
              </a:rPr>
              <a:t>α</a:t>
            </a:r>
            <a:r>
              <a:rPr lang="en-US" altLang="en-US" sz="2400" dirty="0">
                <a:solidFill>
                  <a:schemeClr val="tx1"/>
                </a:solidFill>
                <a:latin typeface="+mn-lt"/>
              </a:rPr>
              <a:t>-</a:t>
            </a:r>
            <a:r>
              <a:rPr lang="en-US" altLang="en-US" sz="2400" cap="small" dirty="0">
                <a:solidFill>
                  <a:schemeClr val="tx1"/>
                </a:solidFill>
              </a:rPr>
              <a:t>d</a:t>
            </a:r>
            <a:r>
              <a:rPr lang="en-US" altLang="en-US" sz="2400" dirty="0">
                <a:solidFill>
                  <a:schemeClr val="tx1"/>
                </a:solidFill>
                <a:latin typeface="+mn-lt"/>
              </a:rPr>
              <a:t>-glucose units linked by </a:t>
            </a:r>
            <a:r>
              <a:rPr lang="el-GR" altLang="en-US" sz="2400" i="1" dirty="0">
                <a:solidFill>
                  <a:schemeClr val="tx1"/>
                </a:solidFill>
                <a:latin typeface="+mn-lt"/>
                <a:cs typeface="Times New Roman" panose="02020603050405020304" pitchFamily="18" charset="0"/>
                <a:sym typeface="Symbol" panose="05050102010706020507" pitchFamily="18" charset="2"/>
              </a:rPr>
              <a:t>α</a:t>
            </a:r>
            <a:r>
              <a:rPr lang="en-US" altLang="en-US" sz="2400" dirty="0">
                <a:solidFill>
                  <a:schemeClr val="tx1"/>
                </a:solidFill>
                <a:latin typeface="+mn-lt"/>
                <a:sym typeface="Symbol" panose="05050102010706020507" pitchFamily="18" charset="2"/>
              </a:rPr>
              <a:t> </a:t>
            </a:r>
            <a:r>
              <a:rPr lang="en-US" altLang="en-US" sz="2400" dirty="0" err="1">
                <a:solidFill>
                  <a:schemeClr val="tx1"/>
                </a:solidFill>
                <a:latin typeface="+mn-lt"/>
              </a:rPr>
              <a:t>glycosidic</a:t>
            </a:r>
            <a:r>
              <a:rPr lang="en-US" altLang="en-US" sz="2400" dirty="0">
                <a:solidFill>
                  <a:schemeClr val="tx1"/>
                </a:solidFill>
                <a:latin typeface="+mn-lt"/>
              </a:rPr>
              <a:t> bonds, involving carbons 1 and 4 (1→4).</a:t>
            </a:r>
          </a:p>
          <a:p>
            <a:pPr marL="342900" indent="-342900"/>
            <a:r>
              <a:rPr lang="en-US" altLang="en-US" sz="2400" dirty="0">
                <a:solidFill>
                  <a:schemeClr val="tx1"/>
                </a:solidFill>
                <a:latin typeface="+mn-lt"/>
              </a:rPr>
              <a:t>Occasionally </a:t>
            </a:r>
            <a:r>
              <a:rPr lang="el-GR" altLang="en-US" sz="2400" i="1" dirty="0">
                <a:solidFill>
                  <a:schemeClr val="tx1"/>
                </a:solidFill>
                <a:latin typeface="+mn-lt"/>
                <a:cs typeface="Times New Roman" panose="02020603050405020304" pitchFamily="18" charset="0"/>
                <a:sym typeface="Symbol" panose="05050102010706020507" pitchFamily="18" charset="2"/>
              </a:rPr>
              <a:t>α</a:t>
            </a:r>
            <a:r>
              <a:rPr lang="en-US" altLang="en-US" sz="2400" dirty="0">
                <a:solidFill>
                  <a:schemeClr val="tx1"/>
                </a:solidFill>
                <a:latin typeface="+mn-lt"/>
              </a:rPr>
              <a:t>(1→6) bonds may form, allowing for the formation of side chains (branching).</a:t>
            </a:r>
          </a:p>
        </p:txBody>
      </p:sp>
    </p:spTree>
    <p:extLst>
      <p:ext uri="{BB962C8B-B14F-4D97-AF65-F5344CB8AC3E}">
        <p14:creationId xmlns:p14="http://schemas.microsoft.com/office/powerpoint/2010/main" val="253861671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19100" y="176915"/>
            <a:ext cx="8293100" cy="553998"/>
          </a:xfrm>
          <a:noFill/>
          <a:ln>
            <a:noFill/>
          </a:ln>
        </p:spPr>
        <p:txBody>
          <a:bodyPr wrap="square" lIns="0" tIns="0" rIns="0" bIns="0" anchor="ctr" anchorCtr="0">
            <a:spAutoFit/>
          </a:bodyPr>
          <a:lstStyle/>
          <a:p>
            <a:r>
              <a:rPr lang="en-US" dirty="0"/>
              <a:t>The Structure of Starch and Glycogen </a:t>
            </a:r>
          </a:p>
        </p:txBody>
      </p:sp>
      <p:sp>
        <p:nvSpPr>
          <p:cNvPr id="6" name="Content Placeholder 5"/>
          <p:cNvSpPr>
            <a:spLocks noGrp="1"/>
          </p:cNvSpPr>
          <p:nvPr>
            <p:ph sz="quarter" idx="15"/>
          </p:nvPr>
        </p:nvSpPr>
        <p:spPr>
          <a:xfrm>
            <a:off x="421688" y="1095680"/>
            <a:ext cx="3795470" cy="738664"/>
          </a:xfrm>
          <a:noFill/>
          <a:ln>
            <a:noFill/>
          </a:ln>
        </p:spPr>
        <p:txBody>
          <a:bodyPr wrap="square" lIns="0" tIns="0" rIns="0" bIns="0" anchor="t" anchorCtr="0">
            <a:spAutoFit/>
          </a:bodyPr>
          <a:lstStyle/>
          <a:p>
            <a:pPr marL="0" indent="0">
              <a:buNone/>
            </a:pPr>
            <a:r>
              <a:rPr lang="en-US" sz="2400" b="1" dirty="0">
                <a:latin typeface="+mn-lt"/>
              </a:rPr>
              <a:t>Figure 3.24</a:t>
            </a:r>
            <a:r>
              <a:rPr lang="en-US" sz="2400" dirty="0">
                <a:latin typeface="+mn-lt"/>
              </a:rPr>
              <a:t> The Structure of Starch and Glycogen.</a:t>
            </a:r>
          </a:p>
        </p:txBody>
      </p:sp>
      <p:pic>
        <p:nvPicPr>
          <p:cNvPr id="8" name="Picture Placeholder 7" descr="Location and structure of starch and glycogen. &#10;Long description is available in notes, press F6">
            <a:extLst>
              <a:ext uri="{FF2B5EF4-FFF2-40B4-BE49-F238E27FC236}">
                <a16:creationId xmlns:a16="http://schemas.microsoft.com/office/drawing/2014/main" id="{6192CB1F-D0FE-4718-9927-99ECC1E9BFCD}"/>
              </a:ext>
            </a:extLst>
          </p:cNvPr>
          <p:cNvPicPr>
            <a:picLocks noGrp="1" noChangeAspect="1"/>
          </p:cNvPicPr>
          <p:nvPr>
            <p:ph type="pic" sz="quarter" idx="16"/>
          </p:nvPr>
        </p:nvPicPr>
        <p:blipFill rotWithShape="1">
          <a:blip r:embed="rId3"/>
          <a:srcRect b="2788"/>
          <a:stretch/>
        </p:blipFill>
        <p:spPr>
          <a:xfrm>
            <a:off x="4549253" y="1105936"/>
            <a:ext cx="4111590" cy="5179097"/>
          </a:xfrm>
        </p:spPr>
      </p:pic>
    </p:spTree>
    <p:extLst>
      <p:ext uri="{BB962C8B-B14F-4D97-AF65-F5344CB8AC3E}">
        <p14:creationId xmlns:p14="http://schemas.microsoft.com/office/powerpoint/2010/main" val="369773846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84275"/>
            <a:ext cx="8263784" cy="553998"/>
          </a:xfrm>
        </p:spPr>
        <p:txBody>
          <a:bodyPr lIns="0" tIns="0" rIns="0" bIns="0" anchor="ctr">
            <a:spAutoFit/>
          </a:bodyPr>
          <a:lstStyle/>
          <a:p>
            <a:r>
              <a:rPr lang="en-US" altLang="en-US" sz="3600" dirty="0">
                <a:latin typeface="+mj-lt"/>
              </a:rPr>
              <a:t>Glycogen</a:t>
            </a:r>
            <a:endParaRPr lang="en-US" sz="3600" dirty="0">
              <a:latin typeface="+mj-lt"/>
            </a:endParaRP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91051"/>
            <a:ext cx="8229600" cy="2600712"/>
          </a:xfrm>
          <a:noFill/>
          <a:ln>
            <a:noFill/>
          </a:ln>
        </p:spPr>
        <p:txBody>
          <a:bodyPr lIns="0" tIns="0" rIns="0" bIns="0" anchor="t" anchorCtr="0">
            <a:spAutoFit/>
          </a:bodyPr>
          <a:lstStyle/>
          <a:p>
            <a:pPr marL="342900" indent="-342900"/>
            <a:r>
              <a:rPr lang="en-US" altLang="en-US" sz="2400" dirty="0"/>
              <a:t>Glycogen is highly branched, the branches occurring every 8–10 glucose units along the backbone.</a:t>
            </a:r>
          </a:p>
          <a:p>
            <a:pPr marL="342900" indent="-342900"/>
            <a:r>
              <a:rPr lang="en-US" altLang="en-US" sz="2400" dirty="0"/>
              <a:t>Glycogen is stored mainly in the liver (as a source of glucose) and muscle tissues (as a fuel source for muscle contraction) of animals.</a:t>
            </a:r>
          </a:p>
          <a:p>
            <a:pPr marL="342900" indent="-342900"/>
            <a:r>
              <a:rPr lang="en-US" altLang="en-US" sz="2400" dirty="0"/>
              <a:t>Bacteria also store glycogen as a glucose reserve.</a:t>
            </a:r>
          </a:p>
        </p:txBody>
      </p:sp>
    </p:spTree>
    <p:extLst>
      <p:ext uri="{BB962C8B-B14F-4D97-AF65-F5344CB8AC3E}">
        <p14:creationId xmlns:p14="http://schemas.microsoft.com/office/powerpoint/2010/main" val="174192836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84275"/>
            <a:ext cx="8263784" cy="553998"/>
          </a:xfrm>
        </p:spPr>
        <p:txBody>
          <a:bodyPr lIns="0" tIns="0" rIns="0" bIns="0" anchor="ctr">
            <a:spAutoFit/>
          </a:bodyPr>
          <a:lstStyle/>
          <a:p>
            <a:r>
              <a:rPr lang="en-US" altLang="en-US" sz="3600" dirty="0">
                <a:solidFill>
                  <a:schemeClr val="tx2"/>
                </a:solidFill>
                <a:latin typeface="+mj-lt"/>
              </a:rPr>
              <a:t>Starch </a:t>
            </a:r>
            <a:r>
              <a:rPr lang="en-US" altLang="en-US" sz="2800" dirty="0">
                <a:solidFill>
                  <a:schemeClr val="tx2"/>
                </a:solidFill>
                <a:latin typeface="+mj-lt"/>
              </a:rPr>
              <a:t>(1 of 2)</a:t>
            </a:r>
            <a:endParaRPr lang="en-US" sz="2800" dirty="0">
              <a:solidFill>
                <a:schemeClr val="tx2"/>
              </a:solidFill>
              <a:latin typeface="+mj-lt"/>
            </a:endParaRP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91051"/>
            <a:ext cx="8229600" cy="2970044"/>
          </a:xfrm>
          <a:noFill/>
          <a:ln>
            <a:noFill/>
          </a:ln>
        </p:spPr>
        <p:txBody>
          <a:bodyPr lIns="0" tIns="0" rIns="0" bIns="0" anchor="t" anchorCtr="0">
            <a:spAutoFit/>
          </a:bodyPr>
          <a:lstStyle/>
          <a:p>
            <a:pPr marL="342900" indent="-342900"/>
            <a:r>
              <a:rPr lang="en-US" altLang="en-US" sz="2400" dirty="0">
                <a:latin typeface="+mn-lt"/>
              </a:rPr>
              <a:t>Starch is the glucose reserve commonly found in plant tissue.</a:t>
            </a:r>
          </a:p>
          <a:p>
            <a:pPr marL="342900" indent="-342900"/>
            <a:r>
              <a:rPr lang="en-US" altLang="en-US" sz="2400" dirty="0">
                <a:latin typeface="+mn-lt"/>
              </a:rPr>
              <a:t>It occurs both as unbranched </a:t>
            </a:r>
            <a:r>
              <a:rPr lang="en-US" altLang="en-US" sz="2400" b="1" dirty="0">
                <a:latin typeface="+mn-lt"/>
              </a:rPr>
              <a:t>amylose</a:t>
            </a:r>
            <a:r>
              <a:rPr lang="en-US" altLang="en-US" sz="2400" dirty="0">
                <a:latin typeface="+mn-lt"/>
              </a:rPr>
              <a:t> (10–30%) and branched </a:t>
            </a:r>
            <a:r>
              <a:rPr lang="en-US" altLang="en-US" sz="2400" b="1" dirty="0">
                <a:latin typeface="+mn-lt"/>
              </a:rPr>
              <a:t>amylopectin</a:t>
            </a:r>
            <a:r>
              <a:rPr lang="en-US" altLang="en-US" sz="2400" dirty="0">
                <a:latin typeface="+mn-lt"/>
              </a:rPr>
              <a:t> (70–90%).</a:t>
            </a:r>
          </a:p>
          <a:p>
            <a:pPr marL="342900" indent="-342900"/>
            <a:r>
              <a:rPr lang="en-US" altLang="en-US" sz="2400" dirty="0">
                <a:latin typeface="+mn-lt"/>
              </a:rPr>
              <a:t>Amylopectin has</a:t>
            </a:r>
            <a:r>
              <a:rPr lang="en-US" altLang="en-US" sz="2400" dirty="0">
                <a:latin typeface="+mn-lt"/>
                <a:cs typeface="Times New Roman" panose="02020603050405020304" pitchFamily="18" charset="0"/>
              </a:rPr>
              <a:t> </a:t>
            </a:r>
            <a:r>
              <a:rPr lang="el-GR" altLang="en-US" sz="2400" i="1" dirty="0">
                <a:latin typeface="+mn-lt"/>
                <a:cs typeface="Times New Roman" panose="02020603050405020304" pitchFamily="18" charset="0"/>
                <a:sym typeface="Symbol" panose="05050102010706020507" pitchFamily="18" charset="2"/>
              </a:rPr>
              <a:t>α</a:t>
            </a:r>
            <a:r>
              <a:rPr lang="en-US" altLang="en-US" sz="2400" dirty="0">
                <a:latin typeface="+mn-lt"/>
              </a:rPr>
              <a:t>(1→6) branches once every </a:t>
            </a:r>
            <a:br>
              <a:rPr lang="en-US" altLang="en-US" sz="2400" dirty="0">
                <a:latin typeface="+mn-lt"/>
              </a:rPr>
            </a:br>
            <a:r>
              <a:rPr lang="en-US" altLang="en-US" sz="2400" dirty="0">
                <a:latin typeface="+mn-lt"/>
              </a:rPr>
              <a:t>12–25 glucose units and has longer side chains than glycogen.</a:t>
            </a:r>
          </a:p>
        </p:txBody>
      </p:sp>
    </p:spTree>
    <p:extLst>
      <p:ext uri="{BB962C8B-B14F-4D97-AF65-F5344CB8AC3E}">
        <p14:creationId xmlns:p14="http://schemas.microsoft.com/office/powerpoint/2010/main" val="253299094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84275"/>
            <a:ext cx="8263784" cy="553998"/>
          </a:xfrm>
        </p:spPr>
        <p:txBody>
          <a:bodyPr lIns="0" tIns="0" rIns="0" bIns="0" anchor="ctr">
            <a:spAutoFit/>
          </a:bodyPr>
          <a:lstStyle/>
          <a:p>
            <a:r>
              <a:rPr lang="en-US" altLang="en-US" sz="3600" dirty="0">
                <a:solidFill>
                  <a:schemeClr val="tx2"/>
                </a:solidFill>
                <a:latin typeface="+mj-lt"/>
              </a:rPr>
              <a:t>Starch </a:t>
            </a:r>
            <a:r>
              <a:rPr lang="en-US" altLang="en-US" sz="2800" dirty="0">
                <a:solidFill>
                  <a:schemeClr val="tx2"/>
                </a:solidFill>
                <a:latin typeface="+mj-lt"/>
              </a:rPr>
              <a:t>(2 of 2)</a:t>
            </a:r>
            <a:endParaRPr lang="en-US" sz="2800" dirty="0">
              <a:solidFill>
                <a:schemeClr val="tx2"/>
              </a:solidFill>
              <a:latin typeface="+mj-lt"/>
            </a:endParaRP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91051"/>
            <a:ext cx="8229600" cy="1631216"/>
          </a:xfrm>
          <a:noFill/>
          <a:ln>
            <a:noFill/>
          </a:ln>
        </p:spPr>
        <p:txBody>
          <a:bodyPr lIns="0" tIns="0" rIns="0" bIns="0" anchor="t" anchorCtr="0">
            <a:spAutoFit/>
          </a:bodyPr>
          <a:lstStyle/>
          <a:p>
            <a:pPr marL="342900" indent="-342900"/>
            <a:r>
              <a:rPr lang="en-US" altLang="en-US" sz="2400" dirty="0"/>
              <a:t>Starch is stored as </a:t>
            </a:r>
            <a:r>
              <a:rPr lang="en-US" altLang="en-US" sz="2400" i="1" dirty="0"/>
              <a:t>starch grains </a:t>
            </a:r>
            <a:r>
              <a:rPr lang="en-US" altLang="en-US" sz="2400" dirty="0"/>
              <a:t>within the </a:t>
            </a:r>
            <a:r>
              <a:rPr lang="en-US" altLang="en-US" sz="2400" i="1" dirty="0"/>
              <a:t>plastids</a:t>
            </a:r>
            <a:r>
              <a:rPr lang="en-US" altLang="en-US" sz="2400" dirty="0"/>
              <a:t>:</a:t>
            </a:r>
          </a:p>
          <a:p>
            <a:pPr lvl="1" indent="-342000"/>
            <a:r>
              <a:rPr lang="en-US" altLang="en-US" sz="2400" i="1" dirty="0"/>
              <a:t>Chloroplasts, </a:t>
            </a:r>
            <a:r>
              <a:rPr lang="en-US" altLang="en-US" sz="2400" dirty="0"/>
              <a:t>the sites of carbon fixation and sugar synthesis in photosynthesis </a:t>
            </a:r>
          </a:p>
          <a:p>
            <a:pPr lvl="1" indent="-342000"/>
            <a:r>
              <a:rPr lang="en-US" altLang="en-US" sz="2400" i="1" dirty="0" err="1"/>
              <a:t>Amyloplasts</a:t>
            </a:r>
            <a:r>
              <a:rPr lang="en-US" altLang="en-US" sz="2400" i="1" dirty="0"/>
              <a:t>, </a:t>
            </a:r>
            <a:r>
              <a:rPr lang="en-US" altLang="en-US" sz="2400" dirty="0"/>
              <a:t>which are specialized for starch storage</a:t>
            </a:r>
          </a:p>
        </p:txBody>
      </p:sp>
    </p:spTree>
    <p:extLst>
      <p:ext uri="{BB962C8B-B14F-4D97-AF65-F5344CB8AC3E}">
        <p14:creationId xmlns:p14="http://schemas.microsoft.com/office/powerpoint/2010/main" val="140204539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84275"/>
            <a:ext cx="8263784" cy="553998"/>
          </a:xfrm>
        </p:spPr>
        <p:txBody>
          <a:bodyPr lIns="0" tIns="0" rIns="0" bIns="0" anchor="ctr">
            <a:spAutoFit/>
          </a:bodyPr>
          <a:lstStyle/>
          <a:p>
            <a:r>
              <a:rPr lang="en-US" altLang="en-US" sz="3600" dirty="0">
                <a:latin typeface="+mj-lt"/>
              </a:rPr>
              <a:t>Structural Polysaccharides</a:t>
            </a:r>
            <a:endParaRPr lang="en-US" sz="2800" dirty="0">
              <a:solidFill>
                <a:schemeClr val="tx2"/>
              </a:solidFill>
              <a:latin typeface="+mj-lt"/>
            </a:endParaRP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91051"/>
            <a:ext cx="8229600" cy="2600712"/>
          </a:xfrm>
          <a:noFill/>
          <a:ln>
            <a:noFill/>
          </a:ln>
        </p:spPr>
        <p:txBody>
          <a:bodyPr lIns="0" tIns="0" rIns="0" bIns="0" anchor="t" anchorCtr="0">
            <a:spAutoFit/>
          </a:bodyPr>
          <a:lstStyle/>
          <a:p>
            <a:pPr marL="342900" indent="-342900"/>
            <a:r>
              <a:rPr lang="en-US" altLang="en-US" sz="2400" dirty="0">
                <a:solidFill>
                  <a:schemeClr val="tx1"/>
                </a:solidFill>
                <a:latin typeface="+mn-lt"/>
              </a:rPr>
              <a:t>The best-known structural polysaccharide is the </a:t>
            </a:r>
            <a:r>
              <a:rPr lang="en-US" altLang="en-US" sz="2400" b="1" dirty="0">
                <a:solidFill>
                  <a:schemeClr val="tx1"/>
                </a:solidFill>
                <a:latin typeface="+mn-lt"/>
              </a:rPr>
              <a:t>cellulose</a:t>
            </a:r>
            <a:r>
              <a:rPr lang="en-US" altLang="en-US" sz="2400" dirty="0">
                <a:solidFill>
                  <a:schemeClr val="tx1"/>
                </a:solidFill>
                <a:latin typeface="+mn-lt"/>
              </a:rPr>
              <a:t> found in plant cell walls.</a:t>
            </a:r>
          </a:p>
          <a:p>
            <a:pPr marL="342900" indent="-342900"/>
            <a:r>
              <a:rPr lang="en-US" altLang="en-US" sz="2400" dirty="0">
                <a:solidFill>
                  <a:schemeClr val="tx1"/>
                </a:solidFill>
                <a:latin typeface="+mn-lt"/>
              </a:rPr>
              <a:t>Cellulose, composed of repeating monomers of </a:t>
            </a:r>
            <a:br>
              <a:rPr lang="en-US" altLang="en-US" sz="2400" dirty="0">
                <a:solidFill>
                  <a:schemeClr val="tx1"/>
                </a:solidFill>
                <a:latin typeface="+mn-lt"/>
              </a:rPr>
            </a:br>
            <a:r>
              <a:rPr lang="el-GR" altLang="en-US" sz="2400" i="1" dirty="0">
                <a:solidFill>
                  <a:schemeClr val="tx1"/>
                </a:solidFill>
                <a:latin typeface="+mn-lt"/>
                <a:cs typeface="Times New Roman" panose="02020603050405020304" pitchFamily="18" charset="0"/>
                <a:sym typeface="Symbol" panose="05050102010706020507" pitchFamily="18" charset="2"/>
              </a:rPr>
              <a:t>β</a:t>
            </a:r>
            <a:r>
              <a:rPr lang="en-US" altLang="en-US" sz="2400" dirty="0">
                <a:solidFill>
                  <a:schemeClr val="tx1"/>
                </a:solidFill>
                <a:latin typeface="+mn-lt"/>
              </a:rPr>
              <a:t>-</a:t>
            </a:r>
            <a:r>
              <a:rPr lang="en-US" altLang="en-US" sz="2400" cap="small" dirty="0">
                <a:solidFill>
                  <a:schemeClr val="tx1"/>
                </a:solidFill>
              </a:rPr>
              <a:t>d</a:t>
            </a:r>
            <a:r>
              <a:rPr lang="en-US" altLang="en-US" sz="2400" dirty="0">
                <a:solidFill>
                  <a:schemeClr val="tx1"/>
                </a:solidFill>
                <a:latin typeface="+mn-lt"/>
              </a:rPr>
              <a:t>-glucose, is very abundant in plants.</a:t>
            </a:r>
          </a:p>
          <a:p>
            <a:pPr marL="342900" indent="-342900"/>
            <a:r>
              <a:rPr lang="en-US" altLang="en-US" sz="2400" dirty="0">
                <a:solidFill>
                  <a:schemeClr val="tx1"/>
                </a:solidFill>
                <a:latin typeface="+mn-lt"/>
              </a:rPr>
              <a:t>Mammals cannot digest cellulose (though some have microorganisms in their digestive systems that can).</a:t>
            </a:r>
          </a:p>
        </p:txBody>
      </p:sp>
    </p:spTree>
    <p:extLst>
      <p:ext uri="{BB962C8B-B14F-4D97-AF65-F5344CB8AC3E}">
        <p14:creationId xmlns:p14="http://schemas.microsoft.com/office/powerpoint/2010/main" val="5064135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19100" y="176915"/>
            <a:ext cx="8293100" cy="553998"/>
          </a:xfrm>
          <a:noFill/>
          <a:ln>
            <a:noFill/>
          </a:ln>
        </p:spPr>
        <p:txBody>
          <a:bodyPr wrap="square" lIns="0" tIns="0" rIns="0" bIns="0" anchor="ctr" anchorCtr="0">
            <a:spAutoFit/>
          </a:bodyPr>
          <a:lstStyle/>
          <a:p>
            <a:r>
              <a:rPr lang="en-US" dirty="0"/>
              <a:t>The Structure of Cellulose</a:t>
            </a:r>
          </a:p>
        </p:txBody>
      </p:sp>
      <p:sp>
        <p:nvSpPr>
          <p:cNvPr id="6" name="Content Placeholder 5"/>
          <p:cNvSpPr>
            <a:spLocks noGrp="1"/>
          </p:cNvSpPr>
          <p:nvPr>
            <p:ph sz="quarter" idx="15"/>
          </p:nvPr>
        </p:nvSpPr>
        <p:spPr>
          <a:xfrm>
            <a:off x="421688" y="1095680"/>
            <a:ext cx="3563458" cy="738664"/>
          </a:xfrm>
          <a:noFill/>
          <a:ln>
            <a:noFill/>
          </a:ln>
        </p:spPr>
        <p:txBody>
          <a:bodyPr wrap="square" lIns="0" tIns="0" rIns="0" bIns="0" anchor="t" anchorCtr="0">
            <a:spAutoFit/>
          </a:bodyPr>
          <a:lstStyle/>
          <a:p>
            <a:pPr marL="0" indent="0">
              <a:buNone/>
            </a:pPr>
            <a:r>
              <a:rPr lang="en-US" sz="2400" b="1" dirty="0">
                <a:latin typeface="+mn-lt"/>
              </a:rPr>
              <a:t>Figure 3.25</a:t>
            </a:r>
            <a:r>
              <a:rPr lang="en-US" sz="2400" dirty="0">
                <a:latin typeface="+mn-lt"/>
              </a:rPr>
              <a:t> The Structure of Cellulose.</a:t>
            </a:r>
          </a:p>
        </p:txBody>
      </p:sp>
      <p:pic>
        <p:nvPicPr>
          <p:cNvPr id="7" name="Picture Placeholder 6" descr="Location and structure of cellulose. &#10;Long description is available in notes, press F6">
            <a:extLst>
              <a:ext uri="{FF2B5EF4-FFF2-40B4-BE49-F238E27FC236}">
                <a16:creationId xmlns:a16="http://schemas.microsoft.com/office/drawing/2014/main" id="{B76362F7-28CC-463D-8DFE-38BE1A161BB3}"/>
              </a:ext>
            </a:extLst>
          </p:cNvPr>
          <p:cNvPicPr>
            <a:picLocks noGrp="1" noChangeAspect="1"/>
          </p:cNvPicPr>
          <p:nvPr>
            <p:ph type="pic" sz="quarter" idx="16"/>
          </p:nvPr>
        </p:nvPicPr>
        <p:blipFill rotWithShape="1">
          <a:blip r:embed="rId3"/>
          <a:srcRect b="2767"/>
          <a:stretch/>
        </p:blipFill>
        <p:spPr>
          <a:xfrm>
            <a:off x="4226391" y="1072973"/>
            <a:ext cx="4435577" cy="4806560"/>
          </a:xfrm>
        </p:spPr>
      </p:pic>
    </p:spTree>
    <p:extLst>
      <p:ext uri="{BB962C8B-B14F-4D97-AF65-F5344CB8AC3E}">
        <p14:creationId xmlns:p14="http://schemas.microsoft.com/office/powerpoint/2010/main" val="42476043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84275"/>
            <a:ext cx="8263784" cy="553998"/>
          </a:xfrm>
        </p:spPr>
        <p:txBody>
          <a:bodyPr lIns="0" tIns="0" rIns="0" bIns="0" anchor="ctr">
            <a:spAutoFit/>
          </a:bodyPr>
          <a:lstStyle/>
          <a:p>
            <a:r>
              <a:rPr lang="en-US" altLang="en-US" sz="3600" dirty="0">
                <a:latin typeface="+mj-lt"/>
              </a:rPr>
              <a:t>Other Structural Polysaccharides</a:t>
            </a:r>
            <a:endParaRPr lang="en-US" sz="2800" dirty="0">
              <a:solidFill>
                <a:schemeClr val="tx2"/>
              </a:solidFill>
              <a:latin typeface="+mj-lt"/>
            </a:endParaRP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91051"/>
            <a:ext cx="8229600" cy="2970044"/>
          </a:xfrm>
          <a:noFill/>
          <a:ln>
            <a:noFill/>
          </a:ln>
        </p:spPr>
        <p:txBody>
          <a:bodyPr lIns="0" tIns="0" rIns="0" bIns="0" anchor="t" anchorCtr="0">
            <a:spAutoFit/>
          </a:bodyPr>
          <a:lstStyle/>
          <a:p>
            <a:pPr marL="347472" indent="-347472"/>
            <a:r>
              <a:rPr lang="en-US" altLang="en-US" sz="2400" dirty="0">
                <a:latin typeface="+mn-lt"/>
              </a:rPr>
              <a:t>The cellulose of fungal cell walls differs from that of plants and may contain either </a:t>
            </a:r>
            <a:r>
              <a:rPr lang="el-GR" altLang="en-US" sz="2400" i="1" dirty="0">
                <a:latin typeface="+mn-lt"/>
              </a:rPr>
              <a:t>β</a:t>
            </a:r>
            <a:r>
              <a:rPr lang="el-GR" altLang="en-US" sz="2400" dirty="0">
                <a:latin typeface="+mn-lt"/>
              </a:rPr>
              <a:t>(1→4) </a:t>
            </a:r>
            <a:r>
              <a:rPr lang="en-US" altLang="en-US" sz="2400" dirty="0">
                <a:latin typeface="+mn-lt"/>
              </a:rPr>
              <a:t>or </a:t>
            </a:r>
            <a:r>
              <a:rPr lang="el-GR" altLang="en-US" sz="2400" i="1" dirty="0">
                <a:latin typeface="+mn-lt"/>
              </a:rPr>
              <a:t>β</a:t>
            </a:r>
            <a:r>
              <a:rPr lang="el-GR" altLang="en-US" sz="2400" dirty="0">
                <a:latin typeface="+mn-lt"/>
              </a:rPr>
              <a:t>(1→3) </a:t>
            </a:r>
            <a:r>
              <a:rPr lang="en-US" altLang="en-US" sz="2400" dirty="0">
                <a:latin typeface="+mn-lt"/>
              </a:rPr>
              <a:t>linkages. </a:t>
            </a:r>
          </a:p>
          <a:p>
            <a:pPr marL="347472" indent="-347472"/>
            <a:r>
              <a:rPr lang="en-US" altLang="en-US" sz="2400" dirty="0">
                <a:latin typeface="+mn-lt"/>
              </a:rPr>
              <a:t>Bacterial cell walls contain two kinds of sugars: </a:t>
            </a:r>
            <a:r>
              <a:rPr lang="en-US" altLang="en-US" sz="2400" i="1" dirty="0" err="1">
                <a:latin typeface="+mn-lt"/>
              </a:rPr>
              <a:t>GlcNAc</a:t>
            </a:r>
            <a:r>
              <a:rPr lang="en-US" altLang="en-US" sz="2400" dirty="0">
                <a:latin typeface="+mn-lt"/>
              </a:rPr>
              <a:t> (</a:t>
            </a:r>
            <a:r>
              <a:rPr lang="en-US" altLang="en-US" sz="2400" i="1" dirty="0">
                <a:latin typeface="+mn-lt"/>
              </a:rPr>
              <a:t>N-</a:t>
            </a:r>
            <a:r>
              <a:rPr lang="en-US" altLang="en-US" sz="2400" i="1" dirty="0" err="1">
                <a:latin typeface="+mn-lt"/>
              </a:rPr>
              <a:t>acetylglucosamine</a:t>
            </a:r>
            <a:r>
              <a:rPr lang="en-US" altLang="en-US" sz="2400" dirty="0">
                <a:latin typeface="+mn-lt"/>
              </a:rPr>
              <a:t>) and </a:t>
            </a:r>
            <a:r>
              <a:rPr lang="en-US" altLang="en-US" sz="2400" dirty="0" err="1">
                <a:latin typeface="+mn-lt"/>
              </a:rPr>
              <a:t>MurNAc</a:t>
            </a:r>
            <a:r>
              <a:rPr lang="en-US" altLang="en-US" sz="2400" dirty="0">
                <a:latin typeface="+mn-lt"/>
              </a:rPr>
              <a:t> (</a:t>
            </a:r>
            <a:r>
              <a:rPr lang="en-US" altLang="en-US" sz="2400" i="1" dirty="0">
                <a:latin typeface="+mn-lt"/>
              </a:rPr>
              <a:t>N-</a:t>
            </a:r>
            <a:r>
              <a:rPr lang="en-US" altLang="en-US" sz="2400" i="1" dirty="0" err="1">
                <a:latin typeface="+mn-lt"/>
              </a:rPr>
              <a:t>acetylmuramic</a:t>
            </a:r>
            <a:r>
              <a:rPr lang="en-US" altLang="en-US" sz="2400" i="1" dirty="0">
                <a:latin typeface="+mn-lt"/>
              </a:rPr>
              <a:t> acid</a:t>
            </a:r>
            <a:r>
              <a:rPr lang="en-US" altLang="en-US" sz="2400" dirty="0">
                <a:latin typeface="+mn-lt"/>
              </a:rPr>
              <a:t>).</a:t>
            </a:r>
          </a:p>
          <a:p>
            <a:pPr marL="347472" indent="-347472"/>
            <a:r>
              <a:rPr lang="en-US" altLang="en-US" sz="2400" dirty="0">
                <a:latin typeface="+mn-lt"/>
              </a:rPr>
              <a:t>Both are derivatives of </a:t>
            </a:r>
            <a:r>
              <a:rPr lang="el-GR" altLang="en-US" sz="2400" i="1" dirty="0">
                <a:latin typeface="+mn-lt"/>
              </a:rPr>
              <a:t>β</a:t>
            </a:r>
            <a:r>
              <a:rPr lang="el-GR" altLang="en-US" sz="2400" dirty="0">
                <a:latin typeface="+mn-lt"/>
              </a:rPr>
              <a:t>-</a:t>
            </a:r>
            <a:r>
              <a:rPr lang="en-US" altLang="en-US" sz="2400" i="1" dirty="0">
                <a:latin typeface="+mn-lt"/>
              </a:rPr>
              <a:t>glucosamine</a:t>
            </a:r>
            <a:r>
              <a:rPr lang="en-US" altLang="en-US" sz="2400" dirty="0">
                <a:latin typeface="+mn-lt"/>
              </a:rPr>
              <a:t> and are linked alternately in cell walls.</a:t>
            </a:r>
          </a:p>
        </p:txBody>
      </p:sp>
    </p:spTree>
    <p:extLst>
      <p:ext uri="{BB962C8B-B14F-4D97-AF65-F5344CB8AC3E}">
        <p14:creationId xmlns:p14="http://schemas.microsoft.com/office/powerpoint/2010/main" val="202144485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84275"/>
            <a:ext cx="8263784" cy="553998"/>
          </a:xfrm>
        </p:spPr>
        <p:txBody>
          <a:bodyPr lIns="0" tIns="0" rIns="0" bIns="0" anchor="ctr">
            <a:spAutoFit/>
          </a:bodyPr>
          <a:lstStyle/>
          <a:p>
            <a:r>
              <a:rPr lang="en-US" altLang="en-US" sz="3600" dirty="0">
                <a:latin typeface="+mj-lt"/>
              </a:rPr>
              <a:t>Chitin</a:t>
            </a:r>
            <a:endParaRPr lang="en-US" sz="2800" dirty="0">
              <a:solidFill>
                <a:schemeClr val="tx2"/>
              </a:solidFill>
              <a:latin typeface="+mj-lt"/>
            </a:endParaRP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91051"/>
            <a:ext cx="8229600" cy="1669688"/>
          </a:xfrm>
          <a:noFill/>
          <a:ln>
            <a:noFill/>
          </a:ln>
        </p:spPr>
        <p:txBody>
          <a:bodyPr lIns="0" tIns="0" rIns="0" bIns="0" anchor="t" anchorCtr="0">
            <a:spAutoFit/>
          </a:bodyPr>
          <a:lstStyle/>
          <a:p>
            <a:pPr marL="347472" indent="-347472"/>
            <a:r>
              <a:rPr lang="en-US" altLang="en-US" sz="2400" dirty="0">
                <a:latin typeface="+mn-lt"/>
              </a:rPr>
              <a:t>The polysaccharide chitin consists of </a:t>
            </a:r>
            <a:r>
              <a:rPr lang="en-US" altLang="en-US" sz="2400" dirty="0" err="1">
                <a:latin typeface="+mn-lt"/>
              </a:rPr>
              <a:t>GlcNAc</a:t>
            </a:r>
            <a:r>
              <a:rPr lang="en-US" altLang="en-US" sz="2400" dirty="0">
                <a:latin typeface="+mn-lt"/>
              </a:rPr>
              <a:t> units only, joined by </a:t>
            </a:r>
            <a:r>
              <a:rPr lang="el-GR" altLang="en-US" sz="2400" i="1" dirty="0">
                <a:latin typeface="+mn-lt"/>
                <a:cs typeface="Times New Roman" panose="02020603050405020304" pitchFamily="18" charset="0"/>
                <a:sym typeface="Symbol" panose="05050102010706020507" pitchFamily="18" charset="2"/>
              </a:rPr>
              <a:t>β</a:t>
            </a:r>
            <a:r>
              <a:rPr lang="en-US" altLang="en-US" sz="2400" dirty="0">
                <a:latin typeface="+mn-lt"/>
              </a:rPr>
              <a:t>(1→4) bonds.</a:t>
            </a:r>
          </a:p>
          <a:p>
            <a:pPr marL="347472" indent="-347472"/>
            <a:r>
              <a:rPr lang="en-US" altLang="en-US" sz="2400" dirty="0">
                <a:latin typeface="+mn-lt"/>
              </a:rPr>
              <a:t>Chitin is found in insect exoskeletons, crustacean shells, and fungal cell walls.</a:t>
            </a:r>
          </a:p>
        </p:txBody>
      </p:sp>
    </p:spTree>
    <p:extLst>
      <p:ext uri="{BB962C8B-B14F-4D97-AF65-F5344CB8AC3E}">
        <p14:creationId xmlns:p14="http://schemas.microsoft.com/office/powerpoint/2010/main" val="174907015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19100" y="188372"/>
            <a:ext cx="8267700" cy="1107996"/>
          </a:xfrm>
        </p:spPr>
        <p:txBody>
          <a:bodyPr wrap="square" lIns="0" tIns="0" rIns="0" bIns="0" anchor="ctr">
            <a:spAutoFit/>
          </a:bodyPr>
          <a:lstStyle/>
          <a:p>
            <a:r>
              <a:rPr lang="en-US" dirty="0"/>
              <a:t>Polysaccharides of Bacterial Cell Walls and Insect Exoskeletons </a:t>
            </a:r>
          </a:p>
        </p:txBody>
      </p:sp>
      <p:sp>
        <p:nvSpPr>
          <p:cNvPr id="6" name="Content Placeholder 5"/>
          <p:cNvSpPr>
            <a:spLocks noGrp="1"/>
          </p:cNvSpPr>
          <p:nvPr>
            <p:ph sz="quarter" idx="13"/>
          </p:nvPr>
        </p:nvSpPr>
        <p:spPr>
          <a:xfrm>
            <a:off x="442452" y="1544604"/>
            <a:ext cx="3092318" cy="1846659"/>
          </a:xfrm>
        </p:spPr>
        <p:txBody>
          <a:bodyPr wrap="square" lIns="0" tIns="0" rIns="0" bIns="0">
            <a:spAutoFit/>
          </a:bodyPr>
          <a:lstStyle/>
          <a:p>
            <a:pPr marL="0" indent="0">
              <a:buNone/>
            </a:pPr>
            <a:r>
              <a:rPr lang="en-US" sz="2400" b="1" dirty="0"/>
              <a:t>Figure 3.26</a:t>
            </a:r>
            <a:r>
              <a:rPr lang="en-US" sz="2400" dirty="0"/>
              <a:t> Polysaccharides of Bacterial Cell Walls and Insect Exoskeletons.</a:t>
            </a:r>
          </a:p>
        </p:txBody>
      </p:sp>
      <p:pic>
        <p:nvPicPr>
          <p:cNvPr id="7" name="Picture Placeholder 6" descr="An illustration of organic compounds for polysaccharide subunits, a bacterial cell wall polysaccharide, and the polysaccharide chitin. Polysaccharide subunits are beta glucosamine, N- acetylglucosamine, and N-acetylmuramic acid.&#10;Long description is available in notes, press F6">
            <a:extLst>
              <a:ext uri="{FF2B5EF4-FFF2-40B4-BE49-F238E27FC236}">
                <a16:creationId xmlns:a16="http://schemas.microsoft.com/office/drawing/2014/main" id="{A81D0420-B295-4E20-BB78-6A8570AF3499}"/>
              </a:ext>
            </a:extLst>
          </p:cNvPr>
          <p:cNvPicPr>
            <a:picLocks noGrp="1" noChangeAspect="1"/>
          </p:cNvPicPr>
          <p:nvPr>
            <p:ph type="pic" sz="quarter" idx="14"/>
          </p:nvPr>
        </p:nvPicPr>
        <p:blipFill rotWithShape="1">
          <a:blip r:embed="rId3"/>
          <a:srcRect b="2216"/>
          <a:stretch/>
        </p:blipFill>
        <p:spPr>
          <a:xfrm>
            <a:off x="3822412" y="1545673"/>
            <a:ext cx="4845836" cy="4626527"/>
          </a:xfrm>
          <a:prstGeom prst="rect">
            <a:avLst/>
          </a:prstGeom>
        </p:spPr>
      </p:pic>
    </p:spTree>
    <p:extLst>
      <p:ext uri="{BB962C8B-B14F-4D97-AF65-F5344CB8AC3E}">
        <p14:creationId xmlns:p14="http://schemas.microsoft.com/office/powerpoint/2010/main" val="410462179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213823"/>
            <a:ext cx="8263784" cy="1046440"/>
          </a:xfrm>
        </p:spPr>
        <p:txBody>
          <a:bodyPr lIns="0" tIns="0" rIns="0" bIns="0" anchor="ctr">
            <a:spAutoFit/>
          </a:bodyPr>
          <a:lstStyle/>
          <a:p>
            <a:r>
              <a:rPr lang="en-US" altLang="en-US" dirty="0">
                <a:latin typeface="+mj-lt"/>
              </a:rPr>
              <a:t>Polysaccharide Structure Depends on the Type of </a:t>
            </a:r>
            <a:r>
              <a:rPr lang="en-US" altLang="en-US" dirty="0" err="1">
                <a:latin typeface="+mj-lt"/>
              </a:rPr>
              <a:t>Glycosidic</a:t>
            </a:r>
            <a:r>
              <a:rPr lang="en-US" altLang="en-US" dirty="0">
                <a:latin typeface="+mj-lt"/>
              </a:rPr>
              <a:t> Bonds Involved</a:t>
            </a:r>
            <a:endParaRPr lang="en-US" dirty="0">
              <a:solidFill>
                <a:schemeClr val="tx2"/>
              </a:solidFill>
              <a:latin typeface="+mj-lt"/>
            </a:endParaRP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540994"/>
            <a:ext cx="8263784" cy="4639732"/>
          </a:xfrm>
          <a:noFill/>
          <a:ln>
            <a:noFill/>
          </a:ln>
        </p:spPr>
        <p:txBody>
          <a:bodyPr wrap="square" lIns="0" tIns="0" rIns="0" bIns="0" anchor="t" anchorCtr="0">
            <a:spAutoFit/>
          </a:bodyPr>
          <a:lstStyle/>
          <a:p>
            <a:pPr marL="347472" indent="-347472"/>
            <a:r>
              <a:rPr lang="el-GR" altLang="en-US" sz="2400" i="1" dirty="0">
                <a:latin typeface="+mn-lt"/>
                <a:cs typeface="Times New Roman" panose="02020603050405020304" pitchFamily="18" charset="0"/>
                <a:sym typeface="Symbol" panose="05050102010706020507" pitchFamily="18" charset="2"/>
              </a:rPr>
              <a:t>α</a:t>
            </a:r>
            <a:r>
              <a:rPr lang="en-US" altLang="en-US" sz="2400" dirty="0">
                <a:latin typeface="+mn-lt"/>
              </a:rPr>
              <a:t> and </a:t>
            </a:r>
            <a:r>
              <a:rPr lang="el-GR" altLang="en-US" sz="2400" i="1" dirty="0">
                <a:latin typeface="+mn-lt"/>
                <a:cs typeface="Times New Roman" panose="02020603050405020304" pitchFamily="18" charset="0"/>
                <a:sym typeface="Symbol" panose="05050102010706020507" pitchFamily="18" charset="2"/>
              </a:rPr>
              <a:t>β</a:t>
            </a:r>
            <a:r>
              <a:rPr lang="en-US" altLang="en-US" sz="2400" dirty="0">
                <a:latin typeface="+mn-lt"/>
                <a:cs typeface="Arial" panose="020B0604020202020204" pitchFamily="34" charset="0"/>
                <a:sym typeface="Symbol" panose="05050102010706020507" pitchFamily="18" charset="2"/>
              </a:rPr>
              <a:t> </a:t>
            </a:r>
            <a:r>
              <a:rPr lang="en-US" altLang="en-US" sz="2400" dirty="0" err="1">
                <a:latin typeface="+mn-lt"/>
              </a:rPr>
              <a:t>glycosidic</a:t>
            </a:r>
            <a:r>
              <a:rPr lang="en-US" altLang="en-US" sz="2400" dirty="0">
                <a:latin typeface="+mn-lt"/>
              </a:rPr>
              <a:t> bonds are associated with marked structural differences.</a:t>
            </a:r>
          </a:p>
          <a:p>
            <a:pPr marL="347472" indent="-347472"/>
            <a:r>
              <a:rPr lang="en-US" altLang="en-US" sz="2400" dirty="0">
                <a:latin typeface="+mn-lt"/>
              </a:rPr>
              <a:t>Starch and glycogen (</a:t>
            </a:r>
            <a:r>
              <a:rPr lang="el-GR" altLang="en-US" sz="2400" i="1" dirty="0">
                <a:latin typeface="+mn-lt"/>
                <a:cs typeface="Times New Roman" panose="02020603050405020304" pitchFamily="18" charset="0"/>
                <a:sym typeface="Symbol" panose="05050102010706020507" pitchFamily="18" charset="2"/>
              </a:rPr>
              <a:t>α</a:t>
            </a:r>
            <a:r>
              <a:rPr lang="en-US" altLang="en-US" sz="2400" dirty="0">
                <a:latin typeface="+mn-lt"/>
              </a:rPr>
              <a:t> polysaccharides) form loose helices that are not highly ordered because of the side chains.</a:t>
            </a:r>
          </a:p>
          <a:p>
            <a:pPr marL="347472" indent="-347472"/>
            <a:r>
              <a:rPr lang="en-US" altLang="en-US" sz="2400" dirty="0">
                <a:latin typeface="+mn-lt"/>
              </a:rPr>
              <a:t>Cellulose (that forms </a:t>
            </a:r>
            <a:r>
              <a:rPr lang="el-GR" altLang="en-US" sz="2400" i="1" dirty="0">
                <a:latin typeface="+mn-lt"/>
                <a:cs typeface="Times New Roman" panose="02020603050405020304" pitchFamily="18" charset="0"/>
                <a:sym typeface="Symbol" panose="05050102010706020507" pitchFamily="18" charset="2"/>
              </a:rPr>
              <a:t>β</a:t>
            </a:r>
            <a:r>
              <a:rPr lang="en-US" altLang="en-US" sz="2400" dirty="0">
                <a:latin typeface="+mn-lt"/>
              </a:rPr>
              <a:t> linkages) exists as rigid linear rods that aggregate into microfibrils, about 5–20 nm in diameter.</a:t>
            </a:r>
          </a:p>
          <a:p>
            <a:pPr marL="347472" indent="-347472"/>
            <a:r>
              <a:rPr lang="en-US" altLang="en-US" sz="2400" dirty="0">
                <a:latin typeface="+mn-lt"/>
              </a:rPr>
              <a:t>Plant and fungal cells walls contain these rigid microfibrils in a </a:t>
            </a:r>
            <a:r>
              <a:rPr lang="en-US" altLang="en-US" sz="2400" dirty="0" err="1">
                <a:latin typeface="+mn-lt"/>
              </a:rPr>
              <a:t>noncellulose</a:t>
            </a:r>
            <a:r>
              <a:rPr lang="en-US" altLang="en-US" sz="2400" dirty="0">
                <a:latin typeface="+mn-lt"/>
              </a:rPr>
              <a:t> matrix containing other polymers (</a:t>
            </a:r>
            <a:r>
              <a:rPr lang="en-US" altLang="en-US" sz="2400" i="1" dirty="0">
                <a:latin typeface="+mn-lt"/>
              </a:rPr>
              <a:t>hemicellulose, pectin</a:t>
            </a:r>
            <a:r>
              <a:rPr lang="en-US" altLang="en-US" sz="2400" dirty="0">
                <a:latin typeface="+mn-lt"/>
              </a:rPr>
              <a:t>) and a protein called </a:t>
            </a:r>
            <a:r>
              <a:rPr lang="en-US" altLang="en-US" sz="2400" dirty="0" err="1">
                <a:latin typeface="+mn-lt"/>
              </a:rPr>
              <a:t>extensin</a:t>
            </a:r>
            <a:r>
              <a:rPr lang="en-US" altLang="en-US" sz="2400" dirty="0">
                <a:latin typeface="+mn-lt"/>
              </a:rPr>
              <a:t>.</a:t>
            </a:r>
          </a:p>
        </p:txBody>
      </p:sp>
    </p:spTree>
    <p:extLst>
      <p:ext uri="{BB962C8B-B14F-4D97-AF65-F5344CB8AC3E}">
        <p14:creationId xmlns:p14="http://schemas.microsoft.com/office/powerpoint/2010/main" val="339031956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84274"/>
            <a:ext cx="8263784" cy="553998"/>
          </a:xfrm>
        </p:spPr>
        <p:txBody>
          <a:bodyPr lIns="0" tIns="0" rIns="0" bIns="0" anchor="ctr">
            <a:spAutoFit/>
          </a:bodyPr>
          <a:lstStyle/>
          <a:p>
            <a:r>
              <a:rPr lang="en-US" altLang="en-US" sz="3600" dirty="0">
                <a:latin typeface="+mj-lt"/>
              </a:rPr>
              <a:t>3.4 Lipids</a:t>
            </a:r>
            <a:endParaRPr lang="en-US" sz="3600" dirty="0">
              <a:solidFill>
                <a:schemeClr val="tx2"/>
              </a:solidFill>
              <a:latin typeface="+mj-lt"/>
            </a:endParaRP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91050"/>
            <a:ext cx="8263784" cy="2408352"/>
          </a:xfrm>
          <a:noFill/>
          <a:ln>
            <a:noFill/>
          </a:ln>
        </p:spPr>
        <p:txBody>
          <a:bodyPr wrap="square" lIns="0" tIns="0" rIns="0" bIns="0" anchor="t" anchorCtr="0">
            <a:spAutoFit/>
          </a:bodyPr>
          <a:lstStyle/>
          <a:p>
            <a:pPr marL="347472" indent="-347472"/>
            <a:r>
              <a:rPr lang="en-US" altLang="en-US" sz="2400" b="1" dirty="0"/>
              <a:t>Lipids</a:t>
            </a:r>
            <a:r>
              <a:rPr lang="en-US" altLang="en-US" sz="2400" dirty="0"/>
              <a:t> are not formed by the same type of linear polymerization that forms proteins, nucleic acids, and polysaccharides.</a:t>
            </a:r>
          </a:p>
          <a:p>
            <a:pPr marL="347472" indent="-347472"/>
            <a:r>
              <a:rPr lang="en-US" altLang="en-US" sz="2400" dirty="0"/>
              <a:t>However, they are regarded as macromolecules because of their high molecular weight and their importance in cellular structures, particularly membranes. </a:t>
            </a:r>
          </a:p>
        </p:txBody>
      </p:sp>
    </p:spTree>
    <p:extLst>
      <p:ext uri="{BB962C8B-B14F-4D97-AF65-F5344CB8AC3E}">
        <p14:creationId xmlns:p14="http://schemas.microsoft.com/office/powerpoint/2010/main" val="21930315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84274"/>
            <a:ext cx="8263784" cy="553998"/>
          </a:xfrm>
        </p:spPr>
        <p:txBody>
          <a:bodyPr lIns="0" tIns="0" rIns="0" bIns="0" anchor="ctr">
            <a:spAutoFit/>
          </a:bodyPr>
          <a:lstStyle/>
          <a:p>
            <a:r>
              <a:rPr lang="en-US" altLang="en-US" sz="3600" dirty="0">
                <a:latin typeface="+mj-lt"/>
              </a:rPr>
              <a:t>Features of Lipids</a:t>
            </a:r>
            <a:endParaRPr lang="en-US" sz="3600" dirty="0">
              <a:solidFill>
                <a:schemeClr val="tx2"/>
              </a:solidFill>
              <a:latin typeface="+mj-lt"/>
            </a:endParaRP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91050"/>
            <a:ext cx="8263784" cy="2970044"/>
          </a:xfrm>
          <a:noFill/>
          <a:ln>
            <a:noFill/>
          </a:ln>
        </p:spPr>
        <p:txBody>
          <a:bodyPr wrap="square" lIns="0" tIns="0" rIns="0" bIns="0" anchor="t" anchorCtr="0">
            <a:spAutoFit/>
          </a:bodyPr>
          <a:lstStyle/>
          <a:p>
            <a:pPr marL="347472" indent="-347472"/>
            <a:r>
              <a:rPr lang="en-US" altLang="en-US" sz="2400" dirty="0"/>
              <a:t>Although heterogeneous, all have a </a:t>
            </a:r>
            <a:r>
              <a:rPr lang="en-US" altLang="en-US" sz="2400" i="1" dirty="0"/>
              <a:t>hydrophobic</a:t>
            </a:r>
            <a:r>
              <a:rPr lang="en-US" altLang="en-US" sz="2400" dirty="0"/>
              <a:t> </a:t>
            </a:r>
            <a:r>
              <a:rPr lang="en-US" altLang="en-US" sz="2400" i="1" dirty="0"/>
              <a:t>nature</a:t>
            </a:r>
            <a:r>
              <a:rPr lang="en-US" altLang="en-US" sz="2400" dirty="0"/>
              <a:t> and thus little affinity for water; they are readily soluble in nonpolar solvents such as chloroform or ether.</a:t>
            </a:r>
          </a:p>
          <a:p>
            <a:pPr marL="347472" indent="-347472"/>
            <a:r>
              <a:rPr lang="en-US" altLang="en-US" sz="2400" dirty="0"/>
              <a:t>They have relatively few polar groups, but some are </a:t>
            </a:r>
            <a:r>
              <a:rPr lang="en-US" altLang="en-US" sz="2400" i="1" dirty="0"/>
              <a:t>amphipathic,</a:t>
            </a:r>
            <a:r>
              <a:rPr lang="en-US" altLang="en-US" sz="2400" dirty="0"/>
              <a:t> having polar and nonpolar regions.</a:t>
            </a:r>
          </a:p>
          <a:p>
            <a:pPr marL="347472" indent="-347472"/>
            <a:r>
              <a:rPr lang="en-US" altLang="en-US" sz="2400" dirty="0"/>
              <a:t>Functions include </a:t>
            </a:r>
            <a:r>
              <a:rPr lang="en-US" altLang="en-US" sz="2400" i="1" dirty="0"/>
              <a:t>energy storage, membrane structure,</a:t>
            </a:r>
            <a:r>
              <a:rPr lang="en-US" altLang="en-US" sz="2400" dirty="0"/>
              <a:t> or </a:t>
            </a:r>
            <a:r>
              <a:rPr lang="en-US" altLang="en-US" sz="2400" i="1" dirty="0"/>
              <a:t>specific biological functions</a:t>
            </a:r>
            <a:r>
              <a:rPr lang="en-US" altLang="en-US" sz="2400" dirty="0"/>
              <a:t> such as signal transmission.</a:t>
            </a:r>
          </a:p>
        </p:txBody>
      </p:sp>
    </p:spTree>
    <p:extLst>
      <p:ext uri="{BB962C8B-B14F-4D97-AF65-F5344CB8AC3E}">
        <p14:creationId xmlns:p14="http://schemas.microsoft.com/office/powerpoint/2010/main" val="84772959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84274"/>
            <a:ext cx="8263784" cy="553998"/>
          </a:xfrm>
        </p:spPr>
        <p:txBody>
          <a:bodyPr lIns="0" tIns="0" rIns="0" bIns="0" anchor="ctr">
            <a:spAutoFit/>
          </a:bodyPr>
          <a:lstStyle/>
          <a:p>
            <a:r>
              <a:rPr lang="en-US" altLang="en-US" sz="3600" dirty="0">
                <a:latin typeface="+mj-lt"/>
              </a:rPr>
              <a:t>The Main Classes of Lipids </a:t>
            </a:r>
            <a:r>
              <a:rPr lang="en-US" altLang="en-US" sz="2800" dirty="0">
                <a:latin typeface="+mj-lt"/>
              </a:rPr>
              <a:t>(1 of 2)</a:t>
            </a:r>
            <a:endParaRPr lang="en-US" sz="2800" dirty="0">
              <a:solidFill>
                <a:schemeClr val="tx2"/>
              </a:solidFill>
              <a:latin typeface="+mj-lt"/>
            </a:endParaRP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91050"/>
            <a:ext cx="8263784" cy="3416320"/>
          </a:xfrm>
          <a:noFill/>
          <a:ln>
            <a:noFill/>
          </a:ln>
        </p:spPr>
        <p:txBody>
          <a:bodyPr wrap="square" lIns="0" tIns="0" rIns="0" bIns="0" anchor="t" anchorCtr="0">
            <a:spAutoFit/>
          </a:bodyPr>
          <a:lstStyle/>
          <a:p>
            <a:pPr marL="347472" indent="-347472"/>
            <a:r>
              <a:rPr lang="en-US" altLang="en-US" sz="2400" dirty="0"/>
              <a:t>The lipids can be divided into six classes based on their structure:</a:t>
            </a:r>
          </a:p>
          <a:p>
            <a:pPr marL="834390" lvl="1" indent="-347472"/>
            <a:r>
              <a:rPr lang="en-US" altLang="en-US" sz="2400" i="1" dirty="0"/>
              <a:t>Fatty acids</a:t>
            </a:r>
          </a:p>
          <a:p>
            <a:pPr marL="834390" lvl="1" indent="-347472"/>
            <a:r>
              <a:rPr lang="en-US" altLang="en-US" sz="2400" i="1" dirty="0"/>
              <a:t>Triacylglycerols</a:t>
            </a:r>
          </a:p>
          <a:p>
            <a:pPr marL="834390" lvl="1" indent="-347472"/>
            <a:r>
              <a:rPr lang="en-US" altLang="en-US" sz="2400" i="1" dirty="0"/>
              <a:t>Phospholipids</a:t>
            </a:r>
          </a:p>
          <a:p>
            <a:pPr marL="834390" lvl="1" indent="-347472"/>
            <a:r>
              <a:rPr lang="en-US" altLang="en-US" sz="2400" i="1" dirty="0"/>
              <a:t>Glycolipids</a:t>
            </a:r>
          </a:p>
          <a:p>
            <a:pPr marL="834390" lvl="1" indent="-347472"/>
            <a:r>
              <a:rPr lang="en-US" altLang="en-US" sz="2400" i="1" dirty="0"/>
              <a:t>Steroids</a:t>
            </a:r>
          </a:p>
          <a:p>
            <a:pPr marL="834390" lvl="1" indent="-347472"/>
            <a:r>
              <a:rPr lang="en-US" altLang="en-US" sz="2400" i="1" dirty="0" err="1"/>
              <a:t>Terpines</a:t>
            </a:r>
            <a:endParaRPr lang="en-US" altLang="en-US" sz="2400" i="1" dirty="0"/>
          </a:p>
        </p:txBody>
      </p:sp>
    </p:spTree>
    <p:extLst>
      <p:ext uri="{BB962C8B-B14F-4D97-AF65-F5344CB8AC3E}">
        <p14:creationId xmlns:p14="http://schemas.microsoft.com/office/powerpoint/2010/main" val="207936468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19100" y="189600"/>
            <a:ext cx="8267700" cy="553998"/>
          </a:xfrm>
        </p:spPr>
        <p:txBody>
          <a:bodyPr wrap="square" lIns="0" tIns="0" rIns="0" bIns="0" anchor="ctr">
            <a:spAutoFit/>
          </a:bodyPr>
          <a:lstStyle/>
          <a:p>
            <a:r>
              <a:rPr lang="en-US" dirty="0"/>
              <a:t>The Main Classes of Lipids </a:t>
            </a:r>
            <a:r>
              <a:rPr lang="en-US" altLang="en-US" sz="2800" dirty="0"/>
              <a:t>(2 of 2)</a:t>
            </a:r>
            <a:endParaRPr lang="en-US" sz="2800" dirty="0"/>
          </a:p>
        </p:txBody>
      </p:sp>
      <p:sp>
        <p:nvSpPr>
          <p:cNvPr id="6" name="Content Placeholder 5"/>
          <p:cNvSpPr>
            <a:spLocks noGrp="1"/>
          </p:cNvSpPr>
          <p:nvPr>
            <p:ph sz="quarter" idx="13"/>
          </p:nvPr>
        </p:nvSpPr>
        <p:spPr>
          <a:xfrm>
            <a:off x="442452" y="1094663"/>
            <a:ext cx="3051375" cy="738664"/>
          </a:xfrm>
        </p:spPr>
        <p:txBody>
          <a:bodyPr wrap="square" lIns="0" tIns="0" rIns="0" bIns="0">
            <a:spAutoFit/>
          </a:bodyPr>
          <a:lstStyle/>
          <a:p>
            <a:pPr marL="0" indent="0">
              <a:buNone/>
            </a:pPr>
            <a:r>
              <a:rPr lang="en-US" sz="2400" b="1" dirty="0"/>
              <a:t>Figure 3.27</a:t>
            </a:r>
            <a:r>
              <a:rPr lang="en-US" sz="2400" dirty="0"/>
              <a:t> The Main Classes of Lipids.</a:t>
            </a:r>
          </a:p>
        </p:txBody>
      </p:sp>
      <p:pic>
        <p:nvPicPr>
          <p:cNvPr id="7" name="Picture Placeholder 6" descr="An illustration of organic compounds for polysaccharide subunits, a bacterial cell wall polysaccharide, and the polysaccharide chitin. Polysaccharide subunits are beta glucosamine, N- acetylglucosamine, and N-acetylmuramic acid.&#10;Long description is available in notes, press F6">
            <a:extLst>
              <a:ext uri="{FF2B5EF4-FFF2-40B4-BE49-F238E27FC236}">
                <a16:creationId xmlns:a16="http://schemas.microsoft.com/office/drawing/2014/main" id="{A81D0420-B295-4E20-BB78-6A8570AF3499}"/>
              </a:ext>
            </a:extLst>
          </p:cNvPr>
          <p:cNvPicPr>
            <a:picLocks noGrp="1" noChangeAspect="1"/>
          </p:cNvPicPr>
          <p:nvPr>
            <p:ph type="pic" sz="quarter" idx="14"/>
          </p:nvPr>
        </p:nvPicPr>
        <p:blipFill rotWithShape="1">
          <a:blip r:embed="rId3"/>
          <a:srcRect b="2216"/>
          <a:stretch/>
        </p:blipFill>
        <p:spPr>
          <a:xfrm>
            <a:off x="3822412" y="1095732"/>
            <a:ext cx="4845836" cy="4626527"/>
          </a:xfrm>
          <a:prstGeom prst="rect">
            <a:avLst/>
          </a:prstGeom>
        </p:spPr>
      </p:pic>
    </p:spTree>
    <p:extLst>
      <p:ext uri="{BB962C8B-B14F-4D97-AF65-F5344CB8AC3E}">
        <p14:creationId xmlns:p14="http://schemas.microsoft.com/office/powerpoint/2010/main" val="141731040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68531"/>
            <a:ext cx="8263784" cy="1107996"/>
          </a:xfrm>
        </p:spPr>
        <p:txBody>
          <a:bodyPr lIns="0" tIns="0" rIns="0" bIns="0" anchor="ctr">
            <a:spAutoFit/>
          </a:bodyPr>
          <a:lstStyle/>
          <a:p>
            <a:r>
              <a:rPr lang="en-US" altLang="en-US" sz="3600" dirty="0">
                <a:latin typeface="+mj-lt"/>
              </a:rPr>
              <a:t>Fatty Acids Are the Building Blocks of Several Classes of Lipids</a:t>
            </a:r>
            <a:endParaRPr lang="en-US" sz="3600" dirty="0">
              <a:solidFill>
                <a:schemeClr val="tx2"/>
              </a:solidFill>
              <a:latin typeface="+mj-lt"/>
            </a:endParaRP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540994"/>
            <a:ext cx="8263784" cy="2600712"/>
          </a:xfrm>
          <a:noFill/>
          <a:ln>
            <a:noFill/>
          </a:ln>
        </p:spPr>
        <p:txBody>
          <a:bodyPr wrap="square" lIns="0" tIns="0" rIns="0" bIns="0" anchor="t" anchorCtr="0">
            <a:spAutoFit/>
          </a:bodyPr>
          <a:lstStyle/>
          <a:p>
            <a:pPr marL="347472" indent="-347472"/>
            <a:r>
              <a:rPr lang="en-US" altLang="en-US" sz="2400" dirty="0"/>
              <a:t>Fatty acids are components of several other kinds of lipids.</a:t>
            </a:r>
          </a:p>
          <a:p>
            <a:pPr marL="347472" indent="-347472"/>
            <a:r>
              <a:rPr lang="en-US" altLang="en-US" sz="2400" dirty="0"/>
              <a:t>A </a:t>
            </a:r>
            <a:r>
              <a:rPr lang="en-US" altLang="en-US" sz="2400" b="1" dirty="0"/>
              <a:t>fatty</a:t>
            </a:r>
            <a:r>
              <a:rPr lang="en-US" altLang="en-US" sz="2400" dirty="0"/>
              <a:t> </a:t>
            </a:r>
            <a:r>
              <a:rPr lang="en-US" altLang="en-US" sz="2400" b="1" dirty="0"/>
              <a:t>acid</a:t>
            </a:r>
            <a:r>
              <a:rPr lang="en-US" altLang="en-US" sz="2400" dirty="0"/>
              <a:t> is a long amphipathic, unbranched hydrocarbon chain with a carboxyl group at one end.</a:t>
            </a:r>
          </a:p>
          <a:p>
            <a:pPr marL="347472" indent="-347472"/>
            <a:r>
              <a:rPr lang="en-US" altLang="en-US" sz="2400" dirty="0"/>
              <a:t>The polar carboxyl group is the </a:t>
            </a:r>
            <a:r>
              <a:rPr lang="en-US" altLang="ja-JP" sz="2400" dirty="0"/>
              <a:t>“head,” and the nonpolar hydrocarbon chain is the “tail.” </a:t>
            </a:r>
            <a:endParaRPr lang="en-US" altLang="en-US" sz="2400" dirty="0"/>
          </a:p>
        </p:txBody>
      </p:sp>
    </p:spTree>
    <p:extLst>
      <p:ext uri="{BB962C8B-B14F-4D97-AF65-F5344CB8AC3E}">
        <p14:creationId xmlns:p14="http://schemas.microsoft.com/office/powerpoint/2010/main" val="136504956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69757"/>
            <a:ext cx="8263784" cy="553998"/>
          </a:xfrm>
        </p:spPr>
        <p:txBody>
          <a:bodyPr lIns="0" tIns="0" rIns="0" bIns="0" anchor="ctr">
            <a:spAutoFit/>
          </a:bodyPr>
          <a:lstStyle/>
          <a:p>
            <a:r>
              <a:rPr lang="en-US" altLang="en-US" sz="3600" dirty="0">
                <a:latin typeface="+mj-lt"/>
              </a:rPr>
              <a:t>Fatty Acid Structure </a:t>
            </a:r>
            <a:r>
              <a:rPr lang="en-US" altLang="en-US" sz="2800" dirty="0">
                <a:latin typeface="+mj-lt"/>
              </a:rPr>
              <a:t>(1 of 2)</a:t>
            </a:r>
            <a:endParaRPr lang="en-US" sz="3600" dirty="0">
              <a:solidFill>
                <a:schemeClr val="tx2"/>
              </a:solidFill>
              <a:latin typeface="+mj-lt"/>
            </a:endParaRP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91052"/>
            <a:ext cx="8263784" cy="2970044"/>
          </a:xfrm>
          <a:noFill/>
          <a:ln>
            <a:noFill/>
          </a:ln>
        </p:spPr>
        <p:txBody>
          <a:bodyPr wrap="square" lIns="0" tIns="0" rIns="0" bIns="0" anchor="t" anchorCtr="0">
            <a:spAutoFit/>
          </a:bodyPr>
          <a:lstStyle/>
          <a:p>
            <a:pPr marL="347472" indent="-347472"/>
            <a:r>
              <a:rPr lang="en-US" altLang="en-US" sz="2400" dirty="0"/>
              <a:t>The hydrocarbon tails are variable in length but usually 12 to 20 carbons long.</a:t>
            </a:r>
          </a:p>
          <a:p>
            <a:pPr marL="347472" indent="-347472"/>
            <a:r>
              <a:rPr lang="en-US" altLang="en-US" sz="2400" dirty="0"/>
              <a:t>Even numbers of carbons are favored because fatty acid synthesis occurs via the stepwise addition of two-carbon units to the growing chain.</a:t>
            </a:r>
          </a:p>
          <a:p>
            <a:pPr marL="347472" indent="-347472"/>
            <a:r>
              <a:rPr lang="en-US" altLang="en-US" sz="2400" dirty="0"/>
              <a:t>Fatty acids are highly reduced and so yield a large amount of energy upon oxidation.</a:t>
            </a:r>
          </a:p>
        </p:txBody>
      </p:sp>
    </p:spTree>
    <p:extLst>
      <p:ext uri="{BB962C8B-B14F-4D97-AF65-F5344CB8AC3E}">
        <p14:creationId xmlns:p14="http://schemas.microsoft.com/office/powerpoint/2010/main" val="1589297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29904" y="174428"/>
            <a:ext cx="8229600" cy="548904"/>
          </a:xfrm>
        </p:spPr>
        <p:txBody>
          <a:bodyPr lIns="0" tIns="0" rIns="0" bIns="0" anchor="ctr"/>
          <a:lstStyle/>
          <a:p>
            <a:r>
              <a:rPr lang="en-US" altLang="en-US" dirty="0"/>
              <a:t>Some Common Fatty Acids in Cells</a:t>
            </a:r>
            <a:endParaRPr lang="en-IN" dirty="0"/>
          </a:p>
        </p:txBody>
      </p:sp>
      <p:sp>
        <p:nvSpPr>
          <p:cNvPr id="10" name="Content Placeholder 9"/>
          <p:cNvSpPr>
            <a:spLocks noGrp="1"/>
          </p:cNvSpPr>
          <p:nvPr>
            <p:ph sz="quarter" idx="15"/>
          </p:nvPr>
        </p:nvSpPr>
        <p:spPr>
          <a:xfrm>
            <a:off x="457200" y="941697"/>
            <a:ext cx="8218488" cy="464023"/>
          </a:xfrm>
        </p:spPr>
        <p:txBody>
          <a:bodyPr lIns="0" tIns="0" rIns="0" bIns="0" anchor="ctr"/>
          <a:lstStyle/>
          <a:p>
            <a:pPr marL="0" indent="0">
              <a:buNone/>
            </a:pPr>
            <a:r>
              <a:rPr lang="en-IN" altLang="en-US" sz="2400" b="1" dirty="0"/>
              <a:t>Table 3.5 </a:t>
            </a:r>
            <a:r>
              <a:rPr lang="en-US" altLang="en-US" sz="2400" dirty="0"/>
              <a:t>Some Common Fatty Acids in Cells</a:t>
            </a:r>
            <a:endParaRPr lang="en-IN" sz="2400" dirty="0"/>
          </a:p>
        </p:txBody>
      </p:sp>
      <p:graphicFrame>
        <p:nvGraphicFramePr>
          <p:cNvPr id="3" name="Table 2"/>
          <p:cNvGraphicFramePr>
            <a:graphicFrameLocks noGrp="1"/>
          </p:cNvGraphicFramePr>
          <p:nvPr>
            <p:extLst>
              <p:ext uri="{D42A27DB-BD31-4B8C-83A1-F6EECF244321}">
                <p14:modId xmlns:p14="http://schemas.microsoft.com/office/powerpoint/2010/main" val="62609127"/>
              </p:ext>
            </p:extLst>
          </p:nvPr>
        </p:nvGraphicFramePr>
        <p:xfrm>
          <a:off x="463528" y="1592238"/>
          <a:ext cx="8229600" cy="3625534"/>
        </p:xfrm>
        <a:graphic>
          <a:graphicData uri="http://schemas.openxmlformats.org/drawingml/2006/table">
            <a:tbl>
              <a:tblPr firstRow="1" bandRow="1">
                <a:tableStyleId>{40F9630F-82C1-40B7-BC3A-925EFCFF5E92}</a:tableStyleId>
              </a:tblPr>
              <a:tblGrid>
                <a:gridCol w="2352020">
                  <a:extLst>
                    <a:ext uri="{9D8B030D-6E8A-4147-A177-3AD203B41FA5}">
                      <a16:colId xmlns:a16="http://schemas.microsoft.com/office/drawing/2014/main" val="20000"/>
                    </a:ext>
                  </a:extLst>
                </a:gridCol>
                <a:gridCol w="2911632">
                  <a:extLst>
                    <a:ext uri="{9D8B030D-6E8A-4147-A177-3AD203B41FA5}">
                      <a16:colId xmlns:a16="http://schemas.microsoft.com/office/drawing/2014/main" val="20001"/>
                    </a:ext>
                  </a:extLst>
                </a:gridCol>
                <a:gridCol w="2965948">
                  <a:extLst>
                    <a:ext uri="{9D8B030D-6E8A-4147-A177-3AD203B41FA5}">
                      <a16:colId xmlns:a16="http://schemas.microsoft.com/office/drawing/2014/main" val="20002"/>
                    </a:ext>
                  </a:extLst>
                </a:gridCol>
              </a:tblGrid>
              <a:tr h="701994">
                <a:tc>
                  <a:txBody>
                    <a:bodyPr/>
                    <a:lstStyle/>
                    <a:p>
                      <a:pPr marL="0" marR="0">
                        <a:lnSpc>
                          <a:spcPct val="107000"/>
                        </a:lnSpc>
                        <a:spcBef>
                          <a:spcPts val="0"/>
                        </a:spcBef>
                        <a:spcAft>
                          <a:spcPts val="800"/>
                        </a:spcAft>
                      </a:pPr>
                      <a:r>
                        <a:rPr lang="en-IN" sz="1600" dirty="0">
                          <a:solidFill>
                            <a:schemeClr val="bg1"/>
                          </a:solidFill>
                          <a:effectLst/>
                        </a:rPr>
                        <a:t>Number of  Carbons</a:t>
                      </a:r>
                      <a:endParaRPr lang="en-IN" sz="1600" dirty="0">
                        <a:solidFill>
                          <a:schemeClr val="bg1"/>
                        </a:solidFill>
                        <a:effectLst/>
                        <a:latin typeface="Calibri"/>
                        <a:ea typeface="Calibri"/>
                        <a:cs typeface="Times New Roman"/>
                      </a:endParaRPr>
                    </a:p>
                  </a:txBody>
                  <a:tcPr marL="9525" marR="9525" marT="9525" marB="0" anchor="ct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noFill/>
                      <a:prstDash val="solid"/>
                      <a:round/>
                      <a:headEnd type="none" w="med" len="med"/>
                      <a:tailEnd type="none" w="med" len="med"/>
                    </a:lnT>
                    <a:lnB w="12700" cap="flat" cmpd="sng">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a:lnSpc>
                          <a:spcPct val="107000"/>
                        </a:lnSpc>
                        <a:spcBef>
                          <a:spcPts val="0"/>
                        </a:spcBef>
                        <a:spcAft>
                          <a:spcPts val="800"/>
                        </a:spcAft>
                      </a:pPr>
                      <a:r>
                        <a:rPr lang="en-IN" sz="1600" dirty="0">
                          <a:solidFill>
                            <a:schemeClr val="bg1"/>
                          </a:solidFill>
                          <a:effectLst/>
                        </a:rPr>
                        <a:t>Number of Double Bonds</a:t>
                      </a:r>
                      <a:endParaRPr lang="en-IN" sz="1600" dirty="0">
                        <a:solidFill>
                          <a:schemeClr val="bg1"/>
                        </a:solidFill>
                        <a:effectLst/>
                        <a:latin typeface="Calibri"/>
                        <a:ea typeface="Calibri"/>
                        <a:cs typeface="Times New Roman"/>
                      </a:endParaRPr>
                    </a:p>
                  </a:txBody>
                  <a:tcPr marL="9525" marR="9525" marT="9525" marB="0" anchor="ct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noFill/>
                      <a:prstDash val="solid"/>
                      <a:round/>
                      <a:headEnd type="none" w="med" len="med"/>
                      <a:tailEnd type="none" w="med" len="med"/>
                    </a:lnT>
                    <a:lnB w="12700" cap="flat" cmpd="sng">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a:lnSpc>
                          <a:spcPct val="107000"/>
                        </a:lnSpc>
                        <a:spcBef>
                          <a:spcPts val="0"/>
                        </a:spcBef>
                        <a:spcAft>
                          <a:spcPts val="800"/>
                        </a:spcAft>
                      </a:pPr>
                      <a:r>
                        <a:rPr lang="en-US" sz="1600" dirty="0">
                          <a:solidFill>
                            <a:schemeClr val="bg1"/>
                          </a:solidFill>
                          <a:effectLst/>
                        </a:rPr>
                        <a:t>Common Name*</a:t>
                      </a:r>
                      <a:endParaRPr lang="en-IN" sz="1600" dirty="0">
                        <a:solidFill>
                          <a:schemeClr val="bg1"/>
                        </a:solidFill>
                        <a:effectLst/>
                        <a:latin typeface="Calibri"/>
                        <a:ea typeface="Calibri"/>
                        <a:cs typeface="Times New Roman"/>
                      </a:endParaRPr>
                    </a:p>
                  </a:txBody>
                  <a:tcPr marL="9525" marR="9525" marT="9525" marB="0" anchor="ct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noFill/>
                      <a:prstDash val="solid"/>
                      <a:round/>
                      <a:headEnd type="none" w="med" len="med"/>
                      <a:tailEnd type="none" w="med" len="med"/>
                    </a:lnT>
                    <a:lnB w="12700" cap="flat" cmpd="sng">
                      <a:noFill/>
                      <a:prstDash val="solid"/>
                      <a:round/>
                      <a:headEnd type="none" w="med" len="med"/>
                      <a:tailEnd type="none" w="med" len="med"/>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10000"/>
                  </a:ext>
                </a:extLst>
              </a:tr>
              <a:tr h="292354">
                <a:tc>
                  <a:txBody>
                    <a:bodyPr/>
                    <a:lstStyle/>
                    <a:p>
                      <a:pPr marL="0" marR="0">
                        <a:lnSpc>
                          <a:spcPct val="107000"/>
                        </a:lnSpc>
                        <a:spcBef>
                          <a:spcPts val="0"/>
                        </a:spcBef>
                        <a:spcAft>
                          <a:spcPts val="800"/>
                        </a:spcAft>
                      </a:pPr>
                      <a:r>
                        <a:rPr lang="en-IN" sz="1600">
                          <a:effectLst/>
                        </a:rPr>
                        <a:t>12</a:t>
                      </a:r>
                      <a:endParaRPr lang="en-IN" sz="1600">
                        <a:effectLst/>
                        <a:latin typeface="Calibri"/>
                        <a:ea typeface="Calibri"/>
                        <a:cs typeface="Times New Roman"/>
                      </a:endParaRPr>
                    </a:p>
                  </a:txBody>
                  <a:tcPr marL="9525" marR="9525" marT="9525" marB="0" anchor="ct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IN" sz="1600">
                          <a:effectLst/>
                        </a:rPr>
                        <a:t>0</a:t>
                      </a:r>
                      <a:endParaRPr lang="en-IN" sz="1600">
                        <a:effectLst/>
                        <a:latin typeface="Calibri"/>
                        <a:ea typeface="Calibri"/>
                        <a:cs typeface="Times New Roman"/>
                      </a:endParaRPr>
                    </a:p>
                  </a:txBody>
                  <a:tcPr marL="9525" marR="9525" marT="9525" marB="0" anchor="ct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IN" sz="1600">
                          <a:effectLst/>
                        </a:rPr>
                        <a:t>Laurate</a:t>
                      </a:r>
                      <a:endParaRPr lang="en-IN" sz="1600">
                        <a:effectLst/>
                        <a:latin typeface="Calibri"/>
                        <a:ea typeface="Calibri"/>
                        <a:cs typeface="Times New Roman"/>
                      </a:endParaRPr>
                    </a:p>
                  </a:txBody>
                  <a:tcPr marL="9525" marR="9525" marT="9525" marB="0" anchor="ct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1"/>
                  </a:ext>
                </a:extLst>
              </a:tr>
              <a:tr h="292354">
                <a:tc>
                  <a:txBody>
                    <a:bodyPr/>
                    <a:lstStyle/>
                    <a:p>
                      <a:pPr marL="0" marR="0">
                        <a:lnSpc>
                          <a:spcPct val="107000"/>
                        </a:lnSpc>
                        <a:spcBef>
                          <a:spcPts val="0"/>
                        </a:spcBef>
                        <a:spcAft>
                          <a:spcPts val="800"/>
                        </a:spcAft>
                      </a:pPr>
                      <a:r>
                        <a:rPr lang="en-IN" sz="1600">
                          <a:effectLst/>
                        </a:rPr>
                        <a:t>14</a:t>
                      </a:r>
                      <a:endParaRPr lang="en-IN" sz="1600">
                        <a:effectLst/>
                        <a:latin typeface="Calibri"/>
                        <a:ea typeface="Calibri"/>
                        <a:cs typeface="Times New Roman"/>
                      </a:endParaRPr>
                    </a:p>
                  </a:txBody>
                  <a:tcPr marL="9525" marR="9525" marT="9525"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IN" sz="1600">
                          <a:effectLst/>
                        </a:rPr>
                        <a:t>0</a:t>
                      </a:r>
                      <a:endParaRPr lang="en-IN" sz="1600">
                        <a:effectLst/>
                        <a:latin typeface="Calibri"/>
                        <a:ea typeface="Calibri"/>
                        <a:cs typeface="Times New Roman"/>
                      </a:endParaRPr>
                    </a:p>
                  </a:txBody>
                  <a:tcPr marL="9525" marR="9525" marT="9525"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IN" sz="1600">
                          <a:effectLst/>
                        </a:rPr>
                        <a:t>Myristate</a:t>
                      </a:r>
                      <a:endParaRPr lang="en-IN" sz="1600">
                        <a:effectLst/>
                        <a:latin typeface="Calibri"/>
                        <a:ea typeface="Calibri"/>
                        <a:cs typeface="Times New Roman"/>
                      </a:endParaRPr>
                    </a:p>
                  </a:txBody>
                  <a:tcPr marL="9525" marR="9525" marT="9525"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2"/>
                  </a:ext>
                </a:extLst>
              </a:tr>
              <a:tr h="292354">
                <a:tc>
                  <a:txBody>
                    <a:bodyPr/>
                    <a:lstStyle/>
                    <a:p>
                      <a:pPr marL="0" marR="0">
                        <a:lnSpc>
                          <a:spcPct val="107000"/>
                        </a:lnSpc>
                        <a:spcBef>
                          <a:spcPts val="0"/>
                        </a:spcBef>
                        <a:spcAft>
                          <a:spcPts val="800"/>
                        </a:spcAft>
                      </a:pPr>
                      <a:r>
                        <a:rPr lang="en-IN" sz="1600">
                          <a:effectLst/>
                        </a:rPr>
                        <a:t>16</a:t>
                      </a:r>
                      <a:endParaRPr lang="en-IN" sz="1600">
                        <a:effectLst/>
                        <a:latin typeface="Calibri"/>
                        <a:ea typeface="Calibri"/>
                        <a:cs typeface="Times New Roman"/>
                      </a:endParaRPr>
                    </a:p>
                  </a:txBody>
                  <a:tcPr marL="9525" marR="9525" marT="9525"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IN" sz="1600">
                          <a:effectLst/>
                        </a:rPr>
                        <a:t>0</a:t>
                      </a:r>
                      <a:endParaRPr lang="en-IN" sz="1600">
                        <a:effectLst/>
                        <a:latin typeface="Calibri"/>
                        <a:ea typeface="Calibri"/>
                        <a:cs typeface="Times New Roman"/>
                      </a:endParaRPr>
                    </a:p>
                  </a:txBody>
                  <a:tcPr marL="9525" marR="9525" marT="9525"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IN" sz="1600">
                          <a:effectLst/>
                        </a:rPr>
                        <a:t>Palmitate</a:t>
                      </a:r>
                      <a:endParaRPr lang="en-IN" sz="1600">
                        <a:effectLst/>
                        <a:latin typeface="Calibri"/>
                        <a:ea typeface="Calibri"/>
                        <a:cs typeface="Times New Roman"/>
                      </a:endParaRPr>
                    </a:p>
                  </a:txBody>
                  <a:tcPr marL="9525" marR="9525" marT="9525"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3"/>
                  </a:ext>
                </a:extLst>
              </a:tr>
              <a:tr h="292354">
                <a:tc>
                  <a:txBody>
                    <a:bodyPr/>
                    <a:lstStyle/>
                    <a:p>
                      <a:pPr marL="0" marR="0">
                        <a:lnSpc>
                          <a:spcPct val="107000"/>
                        </a:lnSpc>
                        <a:spcBef>
                          <a:spcPts val="0"/>
                        </a:spcBef>
                        <a:spcAft>
                          <a:spcPts val="800"/>
                        </a:spcAft>
                      </a:pPr>
                      <a:r>
                        <a:rPr lang="en-IN" sz="1600" dirty="0">
                          <a:effectLst/>
                        </a:rPr>
                        <a:t>18</a:t>
                      </a:r>
                      <a:endParaRPr lang="en-IN" sz="1600" dirty="0">
                        <a:effectLst/>
                        <a:latin typeface="Calibri"/>
                        <a:ea typeface="Calibri"/>
                        <a:cs typeface="Times New Roman"/>
                      </a:endParaRPr>
                    </a:p>
                  </a:txBody>
                  <a:tcPr marL="9525" marR="9525" marT="9525"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IN" sz="1600">
                          <a:effectLst/>
                        </a:rPr>
                        <a:t>0</a:t>
                      </a:r>
                      <a:endParaRPr lang="en-IN" sz="1600">
                        <a:effectLst/>
                        <a:latin typeface="Calibri"/>
                        <a:ea typeface="Calibri"/>
                        <a:cs typeface="Times New Roman"/>
                      </a:endParaRPr>
                    </a:p>
                  </a:txBody>
                  <a:tcPr marL="9525" marR="9525" marT="9525"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IN" sz="1600">
                          <a:effectLst/>
                        </a:rPr>
                        <a:t>Stearate</a:t>
                      </a:r>
                      <a:endParaRPr lang="en-IN" sz="1600">
                        <a:effectLst/>
                        <a:latin typeface="Calibri"/>
                        <a:ea typeface="Calibri"/>
                        <a:cs typeface="Times New Roman"/>
                      </a:endParaRPr>
                    </a:p>
                  </a:txBody>
                  <a:tcPr marL="9525" marR="9525" marT="9525"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4"/>
                  </a:ext>
                </a:extLst>
              </a:tr>
              <a:tr h="292354">
                <a:tc>
                  <a:txBody>
                    <a:bodyPr/>
                    <a:lstStyle/>
                    <a:p>
                      <a:pPr marL="0" marR="0">
                        <a:lnSpc>
                          <a:spcPct val="107000"/>
                        </a:lnSpc>
                        <a:spcBef>
                          <a:spcPts val="0"/>
                        </a:spcBef>
                        <a:spcAft>
                          <a:spcPts val="800"/>
                        </a:spcAft>
                      </a:pPr>
                      <a:r>
                        <a:rPr lang="en-IN" sz="1600">
                          <a:effectLst/>
                        </a:rPr>
                        <a:t>20</a:t>
                      </a:r>
                      <a:endParaRPr lang="en-IN" sz="1600">
                        <a:effectLst/>
                        <a:latin typeface="Calibri"/>
                        <a:ea typeface="Calibri"/>
                        <a:cs typeface="Times New Roman"/>
                      </a:endParaRPr>
                    </a:p>
                  </a:txBody>
                  <a:tcPr marL="9525" marR="9525" marT="9525"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IN" sz="1600">
                          <a:effectLst/>
                        </a:rPr>
                        <a:t>0</a:t>
                      </a:r>
                      <a:endParaRPr lang="en-IN" sz="1600">
                        <a:effectLst/>
                        <a:latin typeface="Calibri"/>
                        <a:ea typeface="Calibri"/>
                        <a:cs typeface="Times New Roman"/>
                      </a:endParaRPr>
                    </a:p>
                  </a:txBody>
                  <a:tcPr marL="9525" marR="9525" marT="9525"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IN" sz="1600">
                          <a:effectLst/>
                        </a:rPr>
                        <a:t>Arachidate</a:t>
                      </a:r>
                      <a:endParaRPr lang="en-IN" sz="1600">
                        <a:effectLst/>
                        <a:latin typeface="Calibri"/>
                        <a:ea typeface="Calibri"/>
                        <a:cs typeface="Times New Roman"/>
                      </a:endParaRPr>
                    </a:p>
                  </a:txBody>
                  <a:tcPr marL="9525" marR="9525" marT="9525"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5"/>
                  </a:ext>
                </a:extLst>
              </a:tr>
              <a:tr h="292354">
                <a:tc>
                  <a:txBody>
                    <a:bodyPr/>
                    <a:lstStyle/>
                    <a:p>
                      <a:pPr marL="0" marR="0">
                        <a:lnSpc>
                          <a:spcPct val="107000"/>
                        </a:lnSpc>
                        <a:spcBef>
                          <a:spcPts val="0"/>
                        </a:spcBef>
                        <a:spcAft>
                          <a:spcPts val="800"/>
                        </a:spcAft>
                      </a:pPr>
                      <a:r>
                        <a:rPr lang="en-IN" sz="1600">
                          <a:effectLst/>
                        </a:rPr>
                        <a:t>16</a:t>
                      </a:r>
                      <a:endParaRPr lang="en-IN" sz="1600">
                        <a:effectLst/>
                        <a:latin typeface="Calibri"/>
                        <a:ea typeface="Calibri"/>
                        <a:cs typeface="Times New Roman"/>
                      </a:endParaRPr>
                    </a:p>
                  </a:txBody>
                  <a:tcPr marL="9525" marR="9525" marT="9525"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IN" sz="1600">
                          <a:effectLst/>
                        </a:rPr>
                        <a:t>1</a:t>
                      </a:r>
                      <a:endParaRPr lang="en-IN" sz="1600">
                        <a:effectLst/>
                        <a:latin typeface="Calibri"/>
                        <a:ea typeface="Calibri"/>
                        <a:cs typeface="Times New Roman"/>
                      </a:endParaRPr>
                    </a:p>
                  </a:txBody>
                  <a:tcPr marL="9525" marR="9525" marT="9525"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IN" sz="1600">
                          <a:effectLst/>
                        </a:rPr>
                        <a:t>Palmitoleate</a:t>
                      </a:r>
                      <a:endParaRPr lang="en-IN" sz="1600">
                        <a:effectLst/>
                        <a:latin typeface="Calibri"/>
                        <a:ea typeface="Calibri"/>
                        <a:cs typeface="Times New Roman"/>
                      </a:endParaRPr>
                    </a:p>
                  </a:txBody>
                  <a:tcPr marL="9525" marR="9525" marT="9525"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6"/>
                  </a:ext>
                </a:extLst>
              </a:tr>
              <a:tr h="292354">
                <a:tc>
                  <a:txBody>
                    <a:bodyPr/>
                    <a:lstStyle/>
                    <a:p>
                      <a:pPr marL="0" marR="0">
                        <a:lnSpc>
                          <a:spcPct val="107000"/>
                        </a:lnSpc>
                        <a:spcBef>
                          <a:spcPts val="0"/>
                        </a:spcBef>
                        <a:spcAft>
                          <a:spcPts val="800"/>
                        </a:spcAft>
                      </a:pPr>
                      <a:r>
                        <a:rPr lang="en-IN" sz="1600">
                          <a:effectLst/>
                        </a:rPr>
                        <a:t>18</a:t>
                      </a:r>
                      <a:endParaRPr lang="en-IN" sz="1600">
                        <a:effectLst/>
                        <a:latin typeface="Calibri"/>
                        <a:ea typeface="Calibri"/>
                        <a:cs typeface="Times New Roman"/>
                      </a:endParaRPr>
                    </a:p>
                  </a:txBody>
                  <a:tcPr marL="9525" marR="9525" marT="9525"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IN" sz="1600">
                          <a:effectLst/>
                        </a:rPr>
                        <a:t>1</a:t>
                      </a:r>
                      <a:endParaRPr lang="en-IN" sz="1600">
                        <a:effectLst/>
                        <a:latin typeface="Calibri"/>
                        <a:ea typeface="Calibri"/>
                        <a:cs typeface="Times New Roman"/>
                      </a:endParaRPr>
                    </a:p>
                  </a:txBody>
                  <a:tcPr marL="9525" marR="9525" marT="9525"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IN" sz="1600">
                          <a:effectLst/>
                        </a:rPr>
                        <a:t>Oleate</a:t>
                      </a:r>
                      <a:endParaRPr lang="en-IN" sz="1600">
                        <a:effectLst/>
                        <a:latin typeface="Calibri"/>
                        <a:ea typeface="Calibri"/>
                        <a:cs typeface="Times New Roman"/>
                      </a:endParaRPr>
                    </a:p>
                  </a:txBody>
                  <a:tcPr marL="9525" marR="9525" marT="9525"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7"/>
                  </a:ext>
                </a:extLst>
              </a:tr>
              <a:tr h="292354">
                <a:tc>
                  <a:txBody>
                    <a:bodyPr/>
                    <a:lstStyle/>
                    <a:p>
                      <a:pPr marL="0" marR="0">
                        <a:lnSpc>
                          <a:spcPct val="107000"/>
                        </a:lnSpc>
                        <a:spcBef>
                          <a:spcPts val="0"/>
                        </a:spcBef>
                        <a:spcAft>
                          <a:spcPts val="800"/>
                        </a:spcAft>
                      </a:pPr>
                      <a:r>
                        <a:rPr lang="en-IN" sz="1600">
                          <a:effectLst/>
                        </a:rPr>
                        <a:t>18</a:t>
                      </a:r>
                      <a:endParaRPr lang="en-IN" sz="1600">
                        <a:effectLst/>
                        <a:latin typeface="Calibri"/>
                        <a:ea typeface="Calibri"/>
                        <a:cs typeface="Times New Roman"/>
                      </a:endParaRPr>
                    </a:p>
                  </a:txBody>
                  <a:tcPr marL="9525" marR="9525" marT="9525"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IN" sz="1600">
                          <a:effectLst/>
                        </a:rPr>
                        <a:t>2</a:t>
                      </a:r>
                      <a:endParaRPr lang="en-IN" sz="1600">
                        <a:effectLst/>
                        <a:latin typeface="Calibri"/>
                        <a:ea typeface="Calibri"/>
                        <a:cs typeface="Times New Roman"/>
                      </a:endParaRPr>
                    </a:p>
                  </a:txBody>
                  <a:tcPr marL="9525" marR="9525" marT="9525"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IN" sz="1600" dirty="0">
                          <a:effectLst/>
                        </a:rPr>
                        <a:t>Linoleate</a:t>
                      </a:r>
                      <a:endParaRPr lang="en-IN" sz="1600" dirty="0">
                        <a:effectLst/>
                        <a:latin typeface="Calibri"/>
                        <a:ea typeface="Calibri"/>
                        <a:cs typeface="Times New Roman"/>
                      </a:endParaRPr>
                    </a:p>
                  </a:txBody>
                  <a:tcPr marL="9525" marR="9525" marT="9525"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8"/>
                  </a:ext>
                </a:extLst>
              </a:tr>
              <a:tr h="292354">
                <a:tc>
                  <a:txBody>
                    <a:bodyPr/>
                    <a:lstStyle/>
                    <a:p>
                      <a:pPr marL="0" marR="0">
                        <a:lnSpc>
                          <a:spcPct val="107000"/>
                        </a:lnSpc>
                        <a:spcBef>
                          <a:spcPts val="0"/>
                        </a:spcBef>
                        <a:spcAft>
                          <a:spcPts val="800"/>
                        </a:spcAft>
                      </a:pPr>
                      <a:r>
                        <a:rPr lang="en-IN" sz="1600">
                          <a:effectLst/>
                        </a:rPr>
                        <a:t>18</a:t>
                      </a:r>
                      <a:endParaRPr lang="en-IN" sz="1600">
                        <a:effectLst/>
                        <a:latin typeface="Calibri"/>
                        <a:ea typeface="Calibri"/>
                        <a:cs typeface="Times New Roman"/>
                      </a:endParaRPr>
                    </a:p>
                  </a:txBody>
                  <a:tcPr marL="9525" marR="9525" marT="9525"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IN" sz="1600">
                          <a:effectLst/>
                        </a:rPr>
                        <a:t>3</a:t>
                      </a:r>
                      <a:endParaRPr lang="en-IN" sz="1600">
                        <a:effectLst/>
                        <a:latin typeface="Calibri"/>
                        <a:ea typeface="Calibri"/>
                        <a:cs typeface="Times New Roman"/>
                      </a:endParaRPr>
                    </a:p>
                  </a:txBody>
                  <a:tcPr marL="9525" marR="9525" marT="9525"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IN" sz="1600">
                          <a:effectLst/>
                        </a:rPr>
                        <a:t>Linolenate</a:t>
                      </a:r>
                      <a:endParaRPr lang="en-IN" sz="1600">
                        <a:effectLst/>
                        <a:latin typeface="Calibri"/>
                        <a:ea typeface="Calibri"/>
                        <a:cs typeface="Times New Roman"/>
                      </a:endParaRPr>
                    </a:p>
                  </a:txBody>
                  <a:tcPr marL="9525" marR="9525" marT="9525"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9"/>
                  </a:ext>
                </a:extLst>
              </a:tr>
              <a:tr h="292354">
                <a:tc>
                  <a:txBody>
                    <a:bodyPr/>
                    <a:lstStyle/>
                    <a:p>
                      <a:pPr marL="0" marR="0">
                        <a:lnSpc>
                          <a:spcPct val="107000"/>
                        </a:lnSpc>
                        <a:spcBef>
                          <a:spcPts val="0"/>
                        </a:spcBef>
                        <a:spcAft>
                          <a:spcPts val="800"/>
                        </a:spcAft>
                      </a:pPr>
                      <a:r>
                        <a:rPr lang="en-IN" sz="1600">
                          <a:effectLst/>
                        </a:rPr>
                        <a:t>20</a:t>
                      </a:r>
                      <a:endParaRPr lang="en-IN" sz="1600">
                        <a:effectLst/>
                        <a:latin typeface="Calibri"/>
                        <a:ea typeface="Calibri"/>
                        <a:cs typeface="Times New Roman"/>
                      </a:endParaRPr>
                    </a:p>
                  </a:txBody>
                  <a:tcPr marL="9525" marR="9525" marT="9525"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12700"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IN" sz="1600" dirty="0">
                          <a:effectLst/>
                        </a:rPr>
                        <a:t>4</a:t>
                      </a:r>
                      <a:endParaRPr lang="en-IN" sz="1600" dirty="0">
                        <a:effectLst/>
                        <a:latin typeface="Calibri"/>
                        <a:ea typeface="Calibri"/>
                        <a:cs typeface="Times New Roman"/>
                      </a:endParaRPr>
                    </a:p>
                  </a:txBody>
                  <a:tcPr marL="9525" marR="9525" marT="9525"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12700"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07000"/>
                        </a:lnSpc>
                        <a:spcBef>
                          <a:spcPts val="0"/>
                        </a:spcBef>
                        <a:spcAft>
                          <a:spcPts val="800"/>
                        </a:spcAft>
                      </a:pPr>
                      <a:r>
                        <a:rPr lang="en-IN" sz="1600" dirty="0" err="1">
                          <a:effectLst/>
                        </a:rPr>
                        <a:t>Arachidonate</a:t>
                      </a:r>
                      <a:endParaRPr lang="en-IN" sz="1600" dirty="0">
                        <a:effectLst/>
                        <a:latin typeface="Calibri"/>
                        <a:ea typeface="Calibri"/>
                        <a:cs typeface="Times New Roman"/>
                      </a:endParaRPr>
                    </a:p>
                  </a:txBody>
                  <a:tcPr marL="9525" marR="9525" marT="9525" marB="0" anchor="ct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12700"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10"/>
                  </a:ext>
                </a:extLst>
              </a:tr>
            </a:tbl>
          </a:graphicData>
        </a:graphic>
      </p:graphicFrame>
      <p:sp>
        <p:nvSpPr>
          <p:cNvPr id="9" name="Content Placeholder 8"/>
          <p:cNvSpPr>
            <a:spLocks noGrp="1"/>
          </p:cNvSpPr>
          <p:nvPr>
            <p:ph sz="quarter" idx="14"/>
          </p:nvPr>
        </p:nvSpPr>
        <p:spPr>
          <a:xfrm>
            <a:off x="463528" y="5500051"/>
            <a:ext cx="7943001" cy="781619"/>
          </a:xfrm>
        </p:spPr>
        <p:txBody>
          <a:bodyPr lIns="0" tIns="0" rIns="0" bIns="0"/>
          <a:lstStyle/>
          <a:p>
            <a:pPr marL="0" indent="0">
              <a:buNone/>
            </a:pPr>
            <a:r>
              <a:rPr lang="en-US" dirty="0"/>
              <a:t>*Shown are the names for the ionized forms of the fatty acids as they exist at the near neutral pH of most cells. For the names of the free fatty acids, simply replace the –</a:t>
            </a:r>
            <a:r>
              <a:rPr lang="en-US" i="1" dirty="0"/>
              <a:t>ate</a:t>
            </a:r>
            <a:r>
              <a:rPr lang="en-US" dirty="0"/>
              <a:t> ending with –</a:t>
            </a:r>
            <a:r>
              <a:rPr lang="en-US" i="1" dirty="0" err="1"/>
              <a:t>ic</a:t>
            </a:r>
            <a:r>
              <a:rPr lang="en-US" i="1" dirty="0"/>
              <a:t> acid</a:t>
            </a:r>
            <a:r>
              <a:rPr lang="en-US" dirty="0"/>
              <a:t>.</a:t>
            </a:r>
            <a:endParaRPr lang="en-IN" dirty="0"/>
          </a:p>
        </p:txBody>
      </p:sp>
    </p:spTree>
    <p:extLst>
      <p:ext uri="{BB962C8B-B14F-4D97-AF65-F5344CB8AC3E}">
        <p14:creationId xmlns:p14="http://schemas.microsoft.com/office/powerpoint/2010/main" val="171834277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69757"/>
            <a:ext cx="8263784" cy="553998"/>
          </a:xfrm>
        </p:spPr>
        <p:txBody>
          <a:bodyPr lIns="0" tIns="0" rIns="0" bIns="0" anchor="ctr">
            <a:spAutoFit/>
          </a:bodyPr>
          <a:lstStyle/>
          <a:p>
            <a:r>
              <a:rPr lang="en-US" altLang="en-US" sz="3600" dirty="0">
                <a:latin typeface="+mj-lt"/>
              </a:rPr>
              <a:t>Fatty Acid Structure </a:t>
            </a:r>
            <a:r>
              <a:rPr lang="en-US" altLang="en-US" sz="2800" dirty="0">
                <a:latin typeface="+mj-lt"/>
              </a:rPr>
              <a:t>(2 of 2) </a:t>
            </a:r>
            <a:endParaRPr lang="en-US" sz="3600" dirty="0">
              <a:solidFill>
                <a:schemeClr val="tx2"/>
              </a:solidFill>
              <a:latin typeface="+mj-lt"/>
            </a:endParaRP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91052"/>
            <a:ext cx="8263784" cy="2600712"/>
          </a:xfrm>
          <a:noFill/>
          <a:ln>
            <a:noFill/>
          </a:ln>
        </p:spPr>
        <p:txBody>
          <a:bodyPr wrap="square" lIns="0" tIns="0" rIns="0" bIns="0" anchor="t" anchorCtr="0">
            <a:spAutoFit/>
          </a:bodyPr>
          <a:lstStyle/>
          <a:p>
            <a:pPr marL="347472" indent="-347472"/>
            <a:r>
              <a:rPr lang="en-US" altLang="en-US" sz="2400" dirty="0"/>
              <a:t>In </a:t>
            </a:r>
            <a:r>
              <a:rPr lang="en-US" altLang="en-US" sz="2400" b="1" dirty="0"/>
              <a:t>saturated fatty acids</a:t>
            </a:r>
            <a:r>
              <a:rPr lang="en-US" altLang="en-US" sz="2400" dirty="0"/>
              <a:t>, each carbon atom in the chain is bonded to the maximum number of hydrogens.</a:t>
            </a:r>
          </a:p>
          <a:p>
            <a:pPr marL="347472" indent="-347472"/>
            <a:r>
              <a:rPr lang="en-US" altLang="en-US" sz="2400" dirty="0"/>
              <a:t>These have long straight chains that pack together well.</a:t>
            </a:r>
          </a:p>
          <a:p>
            <a:pPr marL="347472" indent="-347472"/>
            <a:r>
              <a:rPr lang="en-US" altLang="en-US" sz="2400" b="1" dirty="0"/>
              <a:t>Unsaturated</a:t>
            </a:r>
            <a:r>
              <a:rPr lang="en-US" altLang="en-US" sz="2400" dirty="0"/>
              <a:t> </a:t>
            </a:r>
            <a:r>
              <a:rPr lang="en-US" altLang="en-US" sz="2400" b="1" dirty="0"/>
              <a:t>fatty</a:t>
            </a:r>
            <a:r>
              <a:rPr lang="en-US" altLang="en-US" sz="2400" dirty="0"/>
              <a:t> </a:t>
            </a:r>
            <a:r>
              <a:rPr lang="en-US" altLang="en-US" sz="2400" b="1" dirty="0"/>
              <a:t>acids</a:t>
            </a:r>
            <a:r>
              <a:rPr lang="en-US" altLang="en-US" sz="2400" dirty="0"/>
              <a:t> have one or more double bonds, so they have bends in the chains and are less tightly packed.</a:t>
            </a:r>
          </a:p>
        </p:txBody>
      </p:sp>
    </p:spTree>
    <p:extLst>
      <p:ext uri="{BB962C8B-B14F-4D97-AF65-F5344CB8AC3E}">
        <p14:creationId xmlns:p14="http://schemas.microsoft.com/office/powerpoint/2010/main" val="66331926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19100" y="173857"/>
            <a:ext cx="8267700" cy="1107996"/>
          </a:xfrm>
        </p:spPr>
        <p:txBody>
          <a:bodyPr wrap="square" lIns="0" tIns="0" rIns="0" bIns="0" anchor="ctr">
            <a:spAutoFit/>
          </a:bodyPr>
          <a:lstStyle/>
          <a:p>
            <a:r>
              <a:rPr lang="en-US" dirty="0"/>
              <a:t>Structures of Saturated and Unsaturated Fatty Acids</a:t>
            </a:r>
          </a:p>
        </p:txBody>
      </p:sp>
      <p:sp>
        <p:nvSpPr>
          <p:cNvPr id="6" name="Content Placeholder 5"/>
          <p:cNvSpPr>
            <a:spLocks noGrp="1"/>
          </p:cNvSpPr>
          <p:nvPr>
            <p:ph sz="quarter" idx="13"/>
          </p:nvPr>
        </p:nvSpPr>
        <p:spPr>
          <a:xfrm>
            <a:off x="425360" y="1544607"/>
            <a:ext cx="8250328" cy="738664"/>
          </a:xfrm>
        </p:spPr>
        <p:txBody>
          <a:bodyPr wrap="square" lIns="0" tIns="0" rIns="0" bIns="0">
            <a:spAutoFit/>
          </a:bodyPr>
          <a:lstStyle/>
          <a:p>
            <a:pPr marL="0" indent="0">
              <a:buNone/>
            </a:pPr>
            <a:r>
              <a:rPr lang="en-US" sz="2400" b="1" dirty="0"/>
              <a:t>Figure 3.28</a:t>
            </a:r>
            <a:r>
              <a:rPr lang="en-US" sz="2400" dirty="0"/>
              <a:t> Structures of Saturated and Unsaturated Fatty Acids.</a:t>
            </a:r>
          </a:p>
        </p:txBody>
      </p:sp>
      <p:pic>
        <p:nvPicPr>
          <p:cNvPr id="12" name="Picture Placeholder 11" descr="Structures of palmitate (saturated) and oleate (unsaturated.)&#10;Long description is available in notes, press F6">
            <a:extLst>
              <a:ext uri="{FF2B5EF4-FFF2-40B4-BE49-F238E27FC236}">
                <a16:creationId xmlns:a16="http://schemas.microsoft.com/office/drawing/2014/main" id="{377BE701-A320-48E6-BE62-52911B43376E}"/>
              </a:ext>
            </a:extLst>
          </p:cNvPr>
          <p:cNvPicPr>
            <a:picLocks noGrp="1" noChangeAspect="1"/>
          </p:cNvPicPr>
          <p:nvPr>
            <p:ph type="pic" sz="quarter" idx="14"/>
          </p:nvPr>
        </p:nvPicPr>
        <p:blipFill rotWithShape="1">
          <a:blip r:embed="rId3"/>
          <a:srcRect b="3050"/>
          <a:stretch/>
        </p:blipFill>
        <p:spPr>
          <a:xfrm>
            <a:off x="1667854" y="3032207"/>
            <a:ext cx="5808292" cy="3346414"/>
          </a:xfrm>
          <a:prstGeom prst="rect">
            <a:avLst/>
          </a:prstGeom>
        </p:spPr>
      </p:pic>
    </p:spTree>
    <p:extLst>
      <p:ext uri="{BB962C8B-B14F-4D97-AF65-F5344CB8AC3E}">
        <p14:creationId xmlns:p14="http://schemas.microsoft.com/office/powerpoint/2010/main" val="170749003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69757"/>
            <a:ext cx="8263784" cy="553998"/>
          </a:xfrm>
        </p:spPr>
        <p:txBody>
          <a:bodyPr lIns="0" tIns="0" rIns="0" bIns="0" anchor="ctr">
            <a:spAutoFit/>
          </a:bodyPr>
          <a:lstStyle/>
          <a:p>
            <a:r>
              <a:rPr lang="en-US" altLang="en-US" sz="3600" i="1" dirty="0">
                <a:latin typeface="+mj-lt"/>
              </a:rPr>
              <a:t>Trans</a:t>
            </a:r>
            <a:r>
              <a:rPr lang="en-US" altLang="en-US" sz="3600" dirty="0">
                <a:latin typeface="+mj-lt"/>
              </a:rPr>
              <a:t> Fats </a:t>
            </a:r>
            <a:endParaRPr lang="en-US" sz="3600" dirty="0">
              <a:solidFill>
                <a:schemeClr val="tx2"/>
              </a:solidFill>
              <a:latin typeface="+mj-lt"/>
            </a:endParaRP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91052"/>
            <a:ext cx="8263784" cy="2970044"/>
          </a:xfrm>
          <a:noFill/>
          <a:ln>
            <a:noFill/>
          </a:ln>
        </p:spPr>
        <p:txBody>
          <a:bodyPr wrap="square" lIns="0" tIns="0" rIns="0" bIns="0" anchor="t" anchorCtr="0">
            <a:spAutoFit/>
          </a:bodyPr>
          <a:lstStyle/>
          <a:p>
            <a:pPr marL="347472" indent="-347472"/>
            <a:r>
              <a:rPr lang="en-US" altLang="en-US" sz="2400" i="1" dirty="0"/>
              <a:t>Trans</a:t>
            </a:r>
            <a:r>
              <a:rPr lang="en-US" altLang="en-US" sz="2400" dirty="0"/>
              <a:t> </a:t>
            </a:r>
            <a:r>
              <a:rPr lang="en-US" altLang="en-US" sz="2400" i="1" dirty="0"/>
              <a:t>fats</a:t>
            </a:r>
            <a:r>
              <a:rPr lang="en-US" altLang="en-US" sz="2400" dirty="0"/>
              <a:t> are a type of unsaturated fatty acid with a particular type of double bond that causes less of a bend in the chain.</a:t>
            </a:r>
          </a:p>
          <a:p>
            <a:pPr marL="347472" indent="-347472"/>
            <a:r>
              <a:rPr lang="en-US" altLang="en-US" sz="2400" dirty="0"/>
              <a:t>They are relatively rare in nature and are produced artificially in shortening and margarine.</a:t>
            </a:r>
          </a:p>
          <a:p>
            <a:pPr marL="347472" indent="-347472"/>
            <a:r>
              <a:rPr lang="en-US" altLang="en-US" sz="2400" dirty="0"/>
              <a:t>They have been linked to increased risk of heart disease and elevated cholesterol levels.</a:t>
            </a:r>
          </a:p>
        </p:txBody>
      </p:sp>
    </p:spTree>
    <p:extLst>
      <p:ext uri="{BB962C8B-B14F-4D97-AF65-F5344CB8AC3E}">
        <p14:creationId xmlns:p14="http://schemas.microsoft.com/office/powerpoint/2010/main" val="207359231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descr="An illustration of saturated and unsaturated fatty acids, triacylglycerols and their synthesis, phospholipids, glycolipids, steroids, and terpenes. The various phospholipids are phosphoglycerides and sphingolipids. &#10;Long description is available in notes, press F6">
            <a:extLst>
              <a:ext uri="{FF2B5EF4-FFF2-40B4-BE49-F238E27FC236}">
                <a16:creationId xmlns:a16="http://schemas.microsoft.com/office/drawing/2014/main" id="{505B9C9C-5222-44C2-83C7-063C297830B8}"/>
              </a:ext>
            </a:extLst>
          </p:cNvPr>
          <p:cNvSpPr>
            <a:spLocks noGrp="1"/>
          </p:cNvSpPr>
          <p:nvPr>
            <p:ph type="title"/>
          </p:nvPr>
        </p:nvSpPr>
        <p:spPr>
          <a:xfrm>
            <a:off x="419100" y="175084"/>
            <a:ext cx="8267700" cy="553998"/>
          </a:xfrm>
        </p:spPr>
        <p:txBody>
          <a:bodyPr wrap="square" lIns="0" tIns="0" rIns="0" bIns="0" anchor="ctr">
            <a:spAutoFit/>
          </a:bodyPr>
          <a:lstStyle/>
          <a:p>
            <a:r>
              <a:rPr lang="en-US" dirty="0"/>
              <a:t>Fatty Acids</a:t>
            </a:r>
          </a:p>
        </p:txBody>
      </p:sp>
      <p:sp>
        <p:nvSpPr>
          <p:cNvPr id="6" name="Content Placeholder 5" descr="An illustration of saturated and unsaturated fatty acids, triacylglycerols and their synthesis, phospholipids, glycolipids, steroids, and terpenes. The various phospholipids are phosphoglycerides and sphingolipids. &#10;Long description is available in notes, press F6"/>
          <p:cNvSpPr>
            <a:spLocks noGrp="1"/>
          </p:cNvSpPr>
          <p:nvPr>
            <p:ph sz="quarter" idx="13"/>
          </p:nvPr>
        </p:nvSpPr>
        <p:spPr>
          <a:xfrm>
            <a:off x="442452" y="1094664"/>
            <a:ext cx="8267700" cy="369332"/>
          </a:xfrm>
        </p:spPr>
        <p:txBody>
          <a:bodyPr wrap="square" lIns="0" tIns="0" rIns="0" bIns="0">
            <a:spAutoFit/>
          </a:bodyPr>
          <a:lstStyle/>
          <a:p>
            <a:pPr marL="0" indent="0">
              <a:buNone/>
            </a:pPr>
            <a:r>
              <a:rPr lang="en-US" sz="2400" b="1" dirty="0"/>
              <a:t>Figure 3.27</a:t>
            </a:r>
            <a:r>
              <a:rPr lang="en-US" sz="2400" dirty="0"/>
              <a:t> The Main Classes of Lipids.</a:t>
            </a:r>
          </a:p>
        </p:txBody>
      </p:sp>
      <p:pic>
        <p:nvPicPr>
          <p:cNvPr id="7" name="Picture Placeholder 6" descr="An illustration of saturated and unsaturated fatty acids, triacylglycerols and their synthesis, phospholipids, glycolipids, steroids, and terpenes. The various phospholipids are phosphoglycerides and sphingolipids. &#10;Long description is available in notes, press F6">
            <a:extLst>
              <a:ext uri="{FF2B5EF4-FFF2-40B4-BE49-F238E27FC236}">
                <a16:creationId xmlns:a16="http://schemas.microsoft.com/office/drawing/2014/main" id="{376A2956-E0F9-4B5E-AFA9-FCFA5147D312}"/>
              </a:ext>
            </a:extLst>
          </p:cNvPr>
          <p:cNvPicPr>
            <a:picLocks noGrp="1" noChangeAspect="1"/>
          </p:cNvPicPr>
          <p:nvPr>
            <p:ph type="pic" sz="quarter" idx="14"/>
          </p:nvPr>
        </p:nvPicPr>
        <p:blipFill rotWithShape="1">
          <a:blip r:embed="rId3"/>
          <a:srcRect b="7761"/>
          <a:stretch/>
        </p:blipFill>
        <p:spPr>
          <a:xfrm>
            <a:off x="578037" y="3185283"/>
            <a:ext cx="7987927" cy="1569453"/>
          </a:xfrm>
          <a:prstGeom prst="rect">
            <a:avLst/>
          </a:prstGeom>
        </p:spPr>
      </p:pic>
    </p:spTree>
    <p:extLst>
      <p:ext uri="{BB962C8B-B14F-4D97-AF65-F5344CB8AC3E}">
        <p14:creationId xmlns:p14="http://schemas.microsoft.com/office/powerpoint/2010/main" val="76909926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69757"/>
            <a:ext cx="8263784" cy="553998"/>
          </a:xfrm>
        </p:spPr>
        <p:txBody>
          <a:bodyPr lIns="0" tIns="0" rIns="0" bIns="0" anchor="ctr">
            <a:spAutoFit/>
          </a:bodyPr>
          <a:lstStyle/>
          <a:p>
            <a:r>
              <a:rPr lang="en-US" altLang="en-US" sz="3600" dirty="0">
                <a:latin typeface="+mj-lt"/>
              </a:rPr>
              <a:t>Triacylglycerols Are Storage Lipids</a:t>
            </a:r>
            <a:endParaRPr lang="en-US" sz="3600" dirty="0">
              <a:solidFill>
                <a:schemeClr val="tx2"/>
              </a:solidFill>
              <a:latin typeface="+mj-lt"/>
            </a:endParaRP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91052"/>
            <a:ext cx="8263784" cy="2600712"/>
          </a:xfrm>
          <a:noFill/>
          <a:ln>
            <a:noFill/>
          </a:ln>
        </p:spPr>
        <p:txBody>
          <a:bodyPr wrap="square" lIns="0" tIns="0" rIns="0" bIns="0" anchor="t" anchorCtr="0">
            <a:spAutoFit/>
          </a:bodyPr>
          <a:lstStyle/>
          <a:p>
            <a:pPr marL="347472" indent="-347472"/>
            <a:r>
              <a:rPr lang="en-US" altLang="en-US" sz="2400" b="1" dirty="0"/>
              <a:t>Triacylglycerols,</a:t>
            </a:r>
            <a:r>
              <a:rPr lang="en-US" altLang="en-US" sz="2400" dirty="0"/>
              <a:t> also known as </a:t>
            </a:r>
            <a:r>
              <a:rPr lang="en-US" altLang="en-US" sz="2400" i="1" dirty="0"/>
              <a:t>triglycerides</a:t>
            </a:r>
            <a:r>
              <a:rPr lang="en-US" altLang="en-US" sz="2400" dirty="0"/>
              <a:t>, consist of a glycerol molecule with three fatty acids attached to it.</a:t>
            </a:r>
          </a:p>
          <a:p>
            <a:pPr marL="347472" indent="-347472"/>
            <a:r>
              <a:rPr lang="en-US" altLang="en-US" sz="2400" b="1" dirty="0"/>
              <a:t>Glycerol</a:t>
            </a:r>
            <a:r>
              <a:rPr lang="en-US" altLang="en-US" sz="2400" dirty="0"/>
              <a:t> is a three-carbon alcohol with a hydroxyl group on each carbon.</a:t>
            </a:r>
          </a:p>
          <a:p>
            <a:pPr marL="347472" indent="-347472"/>
            <a:r>
              <a:rPr lang="en-US" altLang="en-US" sz="2400" dirty="0"/>
              <a:t>Fatty acids are linked to glycerol, one at a time, by </a:t>
            </a:r>
            <a:r>
              <a:rPr lang="en-US" altLang="en-US" sz="2400" i="1" dirty="0"/>
              <a:t>ester</a:t>
            </a:r>
            <a:r>
              <a:rPr lang="en-US" altLang="en-US" sz="2400" dirty="0"/>
              <a:t> </a:t>
            </a:r>
            <a:r>
              <a:rPr lang="en-US" altLang="en-US" sz="2400" i="1" dirty="0"/>
              <a:t>bonds</a:t>
            </a:r>
            <a:r>
              <a:rPr lang="en-US" altLang="en-US" sz="2400" dirty="0"/>
              <a:t> formed by the removal of water.</a:t>
            </a:r>
          </a:p>
        </p:txBody>
      </p:sp>
    </p:spTree>
    <p:extLst>
      <p:ext uri="{BB962C8B-B14F-4D97-AF65-F5344CB8AC3E}">
        <p14:creationId xmlns:p14="http://schemas.microsoft.com/office/powerpoint/2010/main" val="83907170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69757"/>
            <a:ext cx="8263784" cy="553998"/>
          </a:xfrm>
        </p:spPr>
        <p:txBody>
          <a:bodyPr lIns="0" tIns="0" rIns="0" bIns="0" anchor="ctr">
            <a:spAutoFit/>
          </a:bodyPr>
          <a:lstStyle/>
          <a:p>
            <a:r>
              <a:rPr lang="en-US" altLang="en-US" sz="3600" dirty="0">
                <a:latin typeface="+mj-lt"/>
              </a:rPr>
              <a:t>Triacylglycerol Structure</a:t>
            </a:r>
            <a:endParaRPr lang="en-US" sz="3600" dirty="0">
              <a:solidFill>
                <a:schemeClr val="tx2"/>
              </a:solidFill>
              <a:latin typeface="+mj-lt"/>
            </a:endParaRP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91052"/>
            <a:ext cx="8263784" cy="1862048"/>
          </a:xfrm>
          <a:noFill/>
          <a:ln>
            <a:noFill/>
          </a:ln>
        </p:spPr>
        <p:txBody>
          <a:bodyPr wrap="square" lIns="0" tIns="0" rIns="0" bIns="0" anchor="t" anchorCtr="0">
            <a:spAutoFit/>
          </a:bodyPr>
          <a:lstStyle/>
          <a:p>
            <a:pPr marL="347472" indent="-347472"/>
            <a:r>
              <a:rPr lang="en-US" altLang="en-US" sz="2400" i="1" dirty="0"/>
              <a:t>Monoacylglycerols</a:t>
            </a:r>
            <a:r>
              <a:rPr lang="en-US" altLang="en-US" sz="2400" dirty="0"/>
              <a:t> contain a single fatty acid.</a:t>
            </a:r>
          </a:p>
          <a:p>
            <a:pPr marL="347472" indent="-347472"/>
            <a:r>
              <a:rPr lang="en-US" altLang="en-US" sz="2400" i="1" dirty="0"/>
              <a:t>Diacylglycerols</a:t>
            </a:r>
            <a:r>
              <a:rPr lang="en-US" altLang="en-US" sz="2400" dirty="0"/>
              <a:t> have two fatty acids.</a:t>
            </a:r>
          </a:p>
          <a:p>
            <a:pPr marL="347472" indent="-347472"/>
            <a:r>
              <a:rPr lang="en-US" altLang="en-US" sz="2400" dirty="0"/>
              <a:t>The three fatty acids on a </a:t>
            </a:r>
            <a:r>
              <a:rPr lang="en-US" altLang="en-US" sz="2400" i="1" dirty="0"/>
              <a:t>triacylglycerol</a:t>
            </a:r>
            <a:r>
              <a:rPr lang="en-US" altLang="en-US" sz="2400" dirty="0"/>
              <a:t> may vary in length and degree of saturation.</a:t>
            </a:r>
          </a:p>
        </p:txBody>
      </p:sp>
    </p:spTree>
    <p:extLst>
      <p:ext uri="{BB962C8B-B14F-4D97-AF65-F5344CB8AC3E}">
        <p14:creationId xmlns:p14="http://schemas.microsoft.com/office/powerpoint/2010/main" val="240470104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69757"/>
            <a:ext cx="8263784" cy="553998"/>
          </a:xfrm>
        </p:spPr>
        <p:txBody>
          <a:bodyPr lIns="0" tIns="0" rIns="0" bIns="0" anchor="ctr">
            <a:spAutoFit/>
          </a:bodyPr>
          <a:lstStyle/>
          <a:p>
            <a:r>
              <a:rPr lang="en-US" altLang="en-US" sz="3600" dirty="0">
                <a:latin typeface="+mj-lt"/>
              </a:rPr>
              <a:t>Triacylglycerol Function</a:t>
            </a:r>
            <a:endParaRPr lang="en-US" sz="3600" dirty="0">
              <a:solidFill>
                <a:schemeClr val="tx2"/>
              </a:solidFill>
              <a:latin typeface="+mj-lt"/>
            </a:endParaRP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91052"/>
            <a:ext cx="8263784" cy="2600712"/>
          </a:xfrm>
          <a:noFill/>
          <a:ln>
            <a:noFill/>
          </a:ln>
        </p:spPr>
        <p:txBody>
          <a:bodyPr wrap="square" lIns="0" tIns="0" rIns="0" bIns="0" anchor="t" anchorCtr="0">
            <a:spAutoFit/>
          </a:bodyPr>
          <a:lstStyle/>
          <a:p>
            <a:pPr marL="347472" indent="-347472"/>
            <a:r>
              <a:rPr lang="en-US" altLang="en-US" sz="2400" dirty="0"/>
              <a:t>The main function of triacylglycerols is energy storage. </a:t>
            </a:r>
          </a:p>
          <a:p>
            <a:pPr marL="347472" indent="-347472"/>
            <a:r>
              <a:rPr lang="en-US" altLang="en-US" sz="2400" dirty="0"/>
              <a:t>Triacylglycerols containing mostly saturated fats are usually solid or semisolid at room temperature and are called </a:t>
            </a:r>
            <a:r>
              <a:rPr lang="en-US" altLang="en-US" sz="2400" i="1" dirty="0"/>
              <a:t>fats.</a:t>
            </a:r>
          </a:p>
          <a:p>
            <a:pPr marL="347472" indent="-347472"/>
            <a:r>
              <a:rPr lang="en-US" altLang="en-US" sz="2400" dirty="0"/>
              <a:t>Triacylglycerols in plants are liquid at room temperature (e.g., </a:t>
            </a:r>
            <a:r>
              <a:rPr lang="en-US" altLang="en-US" sz="2400" i="1" dirty="0"/>
              <a:t>vegetable</a:t>
            </a:r>
            <a:r>
              <a:rPr lang="en-US" altLang="en-US" sz="2400" dirty="0"/>
              <a:t> </a:t>
            </a:r>
            <a:r>
              <a:rPr lang="en-US" altLang="en-US" sz="2400" i="1" dirty="0"/>
              <a:t>oil</a:t>
            </a:r>
            <a:r>
              <a:rPr lang="en-US" altLang="en-US" sz="2400" dirty="0"/>
              <a:t>) and are predominantly unsaturated.</a:t>
            </a:r>
          </a:p>
        </p:txBody>
      </p:sp>
    </p:spTree>
    <p:extLst>
      <p:ext uri="{BB962C8B-B14F-4D97-AF65-F5344CB8AC3E}">
        <p14:creationId xmlns:p14="http://schemas.microsoft.com/office/powerpoint/2010/main" val="3713282594"/>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19100" y="175084"/>
            <a:ext cx="8267700" cy="553998"/>
          </a:xfrm>
        </p:spPr>
        <p:txBody>
          <a:bodyPr wrap="square" lIns="0" tIns="0" rIns="0" bIns="0" anchor="ctr">
            <a:spAutoFit/>
          </a:bodyPr>
          <a:lstStyle/>
          <a:p>
            <a:r>
              <a:rPr lang="en-US" dirty="0"/>
              <a:t>Triacylglycerols and Their Synthesis</a:t>
            </a:r>
          </a:p>
        </p:txBody>
      </p:sp>
      <p:sp>
        <p:nvSpPr>
          <p:cNvPr id="6" name="Content Placeholder 5"/>
          <p:cNvSpPr>
            <a:spLocks noGrp="1"/>
          </p:cNvSpPr>
          <p:nvPr>
            <p:ph sz="quarter" idx="13"/>
          </p:nvPr>
        </p:nvSpPr>
        <p:spPr>
          <a:xfrm>
            <a:off x="442452" y="1094664"/>
            <a:ext cx="8267700" cy="369332"/>
          </a:xfrm>
        </p:spPr>
        <p:txBody>
          <a:bodyPr wrap="square" lIns="0" tIns="0" rIns="0" bIns="0">
            <a:spAutoFit/>
          </a:bodyPr>
          <a:lstStyle/>
          <a:p>
            <a:pPr marL="0" indent="0">
              <a:buNone/>
            </a:pPr>
            <a:r>
              <a:rPr lang="en-US" sz="2400" b="1" dirty="0"/>
              <a:t>Figure 3.27</a:t>
            </a:r>
            <a:r>
              <a:rPr lang="en-US" sz="2400" dirty="0"/>
              <a:t> The Main Classes of Lipids.</a:t>
            </a:r>
          </a:p>
        </p:txBody>
      </p:sp>
      <p:pic>
        <p:nvPicPr>
          <p:cNvPr id="7" name="Picture Placeholder 6" descr="An illustration of saturated and unsaturated fatty acids, triacylglycerols and their synthesis, phospholipids, glycolipids, steroids, and terpenes. The various phospholipids are phosphoglycerides and sphingolipids. &#10;Long description is available in notes, press F6">
            <a:extLst>
              <a:ext uri="{FF2B5EF4-FFF2-40B4-BE49-F238E27FC236}">
                <a16:creationId xmlns:a16="http://schemas.microsoft.com/office/drawing/2014/main" id="{376A2956-E0F9-4B5E-AFA9-FCFA5147D312}"/>
              </a:ext>
            </a:extLst>
          </p:cNvPr>
          <p:cNvPicPr>
            <a:picLocks noGrp="1" noChangeAspect="1"/>
          </p:cNvPicPr>
          <p:nvPr>
            <p:ph type="pic" sz="quarter" idx="14"/>
          </p:nvPr>
        </p:nvPicPr>
        <p:blipFill rotWithShape="1">
          <a:blip r:embed="rId3"/>
          <a:srcRect b="5971"/>
          <a:stretch/>
        </p:blipFill>
        <p:spPr>
          <a:xfrm>
            <a:off x="692728" y="1895415"/>
            <a:ext cx="7758545" cy="2058316"/>
          </a:xfrm>
          <a:prstGeom prst="rect">
            <a:avLst/>
          </a:prstGeom>
        </p:spPr>
      </p:pic>
    </p:spTree>
    <p:extLst>
      <p:ext uri="{BB962C8B-B14F-4D97-AF65-F5344CB8AC3E}">
        <p14:creationId xmlns:p14="http://schemas.microsoft.com/office/powerpoint/2010/main" val="3817785821"/>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68528"/>
            <a:ext cx="8263784" cy="1107996"/>
          </a:xfrm>
        </p:spPr>
        <p:txBody>
          <a:bodyPr lIns="0" tIns="0" rIns="0" bIns="0" anchor="ctr">
            <a:spAutoFit/>
          </a:bodyPr>
          <a:lstStyle/>
          <a:p>
            <a:r>
              <a:rPr lang="en-US" altLang="en-US" sz="3600" dirty="0">
                <a:latin typeface="+mj-lt"/>
              </a:rPr>
              <a:t>Phospholipids Are Important in Membrane Structure</a:t>
            </a:r>
            <a:endParaRPr lang="en-US" sz="3600" dirty="0">
              <a:solidFill>
                <a:schemeClr val="tx2"/>
              </a:solidFill>
              <a:latin typeface="+mj-lt"/>
            </a:endParaRP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540993"/>
            <a:ext cx="8263784" cy="1669688"/>
          </a:xfrm>
          <a:noFill/>
          <a:ln>
            <a:noFill/>
          </a:ln>
        </p:spPr>
        <p:txBody>
          <a:bodyPr wrap="square" lIns="0" tIns="0" rIns="0" bIns="0" anchor="t" anchorCtr="0">
            <a:spAutoFit/>
          </a:bodyPr>
          <a:lstStyle/>
          <a:p>
            <a:pPr marL="347472" indent="-347472"/>
            <a:r>
              <a:rPr lang="en-US" altLang="en-US" sz="2400" b="1" dirty="0"/>
              <a:t>Phospholipids</a:t>
            </a:r>
            <a:r>
              <a:rPr lang="en-US" altLang="en-US" sz="2400" dirty="0"/>
              <a:t> are important to membrane structure because of their amphipathic nature.</a:t>
            </a:r>
          </a:p>
          <a:p>
            <a:pPr marL="347472" indent="-347472"/>
            <a:r>
              <a:rPr lang="en-US" altLang="en-US" sz="2400" dirty="0"/>
              <a:t>Phospholipids can be divided into </a:t>
            </a:r>
            <a:r>
              <a:rPr lang="en-US" altLang="en-US" sz="2400" i="1" dirty="0" err="1"/>
              <a:t>phosphoglycerides</a:t>
            </a:r>
            <a:r>
              <a:rPr lang="en-US" altLang="en-US" sz="2400" dirty="0"/>
              <a:t> or </a:t>
            </a:r>
            <a:r>
              <a:rPr lang="en-US" altLang="en-US" sz="2400" i="1" dirty="0"/>
              <a:t>sphingolipids,</a:t>
            </a:r>
            <a:r>
              <a:rPr lang="en-US" altLang="en-US" sz="2400" dirty="0"/>
              <a:t> depending on their chemistry. </a:t>
            </a:r>
          </a:p>
        </p:txBody>
      </p:sp>
    </p:spTree>
    <p:extLst>
      <p:ext uri="{BB962C8B-B14F-4D97-AF65-F5344CB8AC3E}">
        <p14:creationId xmlns:p14="http://schemas.microsoft.com/office/powerpoint/2010/main" val="41250133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69756"/>
            <a:ext cx="8263784" cy="553998"/>
          </a:xfrm>
        </p:spPr>
        <p:txBody>
          <a:bodyPr lIns="0" tIns="0" rIns="0" bIns="0" anchor="ctr">
            <a:spAutoFit/>
          </a:bodyPr>
          <a:lstStyle/>
          <a:p>
            <a:r>
              <a:rPr lang="en-US" altLang="en-US" sz="3600" dirty="0" err="1">
                <a:latin typeface="+mj-lt"/>
              </a:rPr>
              <a:t>Phosphoglycerides</a:t>
            </a:r>
            <a:r>
              <a:rPr lang="en-US" altLang="en-US" sz="3600" dirty="0">
                <a:latin typeface="+mj-lt"/>
              </a:rPr>
              <a:t> </a:t>
            </a:r>
            <a:r>
              <a:rPr lang="en-US" altLang="en-US" sz="2800" dirty="0">
                <a:latin typeface="+mj-lt"/>
              </a:rPr>
              <a:t>(1 of 2)</a:t>
            </a:r>
            <a:endParaRPr lang="en-US" sz="3600" dirty="0">
              <a:solidFill>
                <a:schemeClr val="tx2"/>
              </a:solidFill>
              <a:latin typeface="+mj-lt"/>
            </a:endParaRP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91052"/>
            <a:ext cx="8263784" cy="3339376"/>
          </a:xfrm>
          <a:noFill/>
          <a:ln>
            <a:noFill/>
          </a:ln>
        </p:spPr>
        <p:txBody>
          <a:bodyPr wrap="square" lIns="0" tIns="0" rIns="0" bIns="0" anchor="t" anchorCtr="0">
            <a:spAutoFit/>
          </a:bodyPr>
          <a:lstStyle/>
          <a:p>
            <a:pPr marL="347472" indent="-347472"/>
            <a:r>
              <a:rPr lang="en-US" altLang="en-US" sz="2400" b="1" dirty="0" err="1"/>
              <a:t>Phosphoglycerides</a:t>
            </a:r>
            <a:r>
              <a:rPr lang="en-US" altLang="en-US" sz="2400" dirty="0"/>
              <a:t> are the predominant phospholipids in most membranes.</a:t>
            </a:r>
          </a:p>
          <a:p>
            <a:pPr marL="347472" indent="-347472"/>
            <a:r>
              <a:rPr lang="en-US" altLang="en-US" sz="2400" dirty="0"/>
              <a:t>The basic components of </a:t>
            </a:r>
            <a:r>
              <a:rPr lang="en-US" altLang="en-US" sz="2400" dirty="0" err="1"/>
              <a:t>phosphoglycerides</a:t>
            </a:r>
            <a:r>
              <a:rPr lang="en-US" altLang="en-US" sz="2400" dirty="0"/>
              <a:t> is </a:t>
            </a:r>
            <a:r>
              <a:rPr lang="en-US" altLang="en-US" sz="2400" b="1" dirty="0"/>
              <a:t>phosphatidic</a:t>
            </a:r>
            <a:r>
              <a:rPr lang="en-US" altLang="en-US" sz="2400" dirty="0"/>
              <a:t> </a:t>
            </a:r>
            <a:r>
              <a:rPr lang="en-US" altLang="en-US" sz="2400" b="1" dirty="0"/>
              <a:t>acid</a:t>
            </a:r>
            <a:r>
              <a:rPr lang="en-US" altLang="en-US" sz="2400" dirty="0"/>
              <a:t>, which has two fatty acids and a phosphate group attached to a glycerol.</a:t>
            </a:r>
          </a:p>
          <a:p>
            <a:pPr marL="347472" indent="-347472"/>
            <a:r>
              <a:rPr lang="en-US" altLang="en-US" sz="2400" dirty="0"/>
              <a:t>Membrane </a:t>
            </a:r>
            <a:r>
              <a:rPr lang="en-US" altLang="en-US" sz="2400" dirty="0" err="1"/>
              <a:t>phosphoglycerides</a:t>
            </a:r>
            <a:r>
              <a:rPr lang="en-US" altLang="en-US" sz="2400" dirty="0"/>
              <a:t> invariably have a small hydrophilic alcohol linked to the phosphate by an ester bond.</a:t>
            </a:r>
          </a:p>
        </p:txBody>
      </p:sp>
    </p:spTree>
    <p:extLst>
      <p:ext uri="{BB962C8B-B14F-4D97-AF65-F5344CB8AC3E}">
        <p14:creationId xmlns:p14="http://schemas.microsoft.com/office/powerpoint/2010/main" val="167204008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19100" y="188605"/>
            <a:ext cx="8267700" cy="1107996"/>
          </a:xfrm>
        </p:spPr>
        <p:txBody>
          <a:bodyPr wrap="square" lIns="0" tIns="0" rIns="0" bIns="0" anchor="ctr">
            <a:spAutoFit/>
          </a:bodyPr>
          <a:lstStyle/>
          <a:p>
            <a:r>
              <a:rPr lang="en-US" dirty="0"/>
              <a:t>Structures of Common </a:t>
            </a:r>
            <a:r>
              <a:rPr lang="en-US" dirty="0" err="1"/>
              <a:t>Phosphoglycerides</a:t>
            </a:r>
            <a:r>
              <a:rPr lang="en-US" dirty="0"/>
              <a:t> </a:t>
            </a:r>
          </a:p>
        </p:txBody>
      </p:sp>
      <p:sp>
        <p:nvSpPr>
          <p:cNvPr id="6" name="Content Placeholder 5"/>
          <p:cNvSpPr>
            <a:spLocks noGrp="1"/>
          </p:cNvSpPr>
          <p:nvPr>
            <p:ph sz="quarter" idx="13"/>
          </p:nvPr>
        </p:nvSpPr>
        <p:spPr>
          <a:xfrm>
            <a:off x="442451" y="1544605"/>
            <a:ext cx="4880175" cy="738664"/>
          </a:xfrm>
        </p:spPr>
        <p:txBody>
          <a:bodyPr wrap="square" lIns="0" tIns="0" rIns="0" bIns="0">
            <a:spAutoFit/>
          </a:bodyPr>
          <a:lstStyle/>
          <a:p>
            <a:pPr marL="0" indent="0">
              <a:buNone/>
            </a:pPr>
            <a:r>
              <a:rPr lang="en-US" sz="2400" b="1" dirty="0"/>
              <a:t>Figure 3.29</a:t>
            </a:r>
            <a:r>
              <a:rPr lang="en-US" sz="2400" dirty="0"/>
              <a:t> Structures of Common </a:t>
            </a:r>
            <a:r>
              <a:rPr lang="en-US" sz="2400" dirty="0" err="1"/>
              <a:t>Phosphoglycerides</a:t>
            </a:r>
            <a:r>
              <a:rPr lang="en-US" sz="2400" dirty="0"/>
              <a:t>.</a:t>
            </a:r>
          </a:p>
        </p:txBody>
      </p:sp>
      <p:pic>
        <p:nvPicPr>
          <p:cNvPr id="7" name="Picture Placeholder 6" descr="Structures of phosphoglyceride and the most common R groups in phosphoglycerides, which are serine, ethanolamine, choline, and inositol. All compounds are bonds of C, O, H, and N.&#10;Long description is available in notes, press F6">
            <a:extLst>
              <a:ext uri="{FF2B5EF4-FFF2-40B4-BE49-F238E27FC236}">
                <a16:creationId xmlns:a16="http://schemas.microsoft.com/office/drawing/2014/main" id="{376A2956-E0F9-4B5E-AFA9-FCFA5147D312}"/>
              </a:ext>
            </a:extLst>
          </p:cNvPr>
          <p:cNvPicPr>
            <a:picLocks noGrp="1" noChangeAspect="1"/>
          </p:cNvPicPr>
          <p:nvPr>
            <p:ph type="pic" sz="quarter" idx="14"/>
          </p:nvPr>
        </p:nvPicPr>
        <p:blipFill rotWithShape="1">
          <a:blip r:embed="rId3"/>
          <a:srcRect b="2098"/>
          <a:stretch/>
        </p:blipFill>
        <p:spPr>
          <a:xfrm>
            <a:off x="5461234" y="1535456"/>
            <a:ext cx="3192114" cy="4745096"/>
          </a:xfrm>
          <a:prstGeom prst="rect">
            <a:avLst/>
          </a:prstGeom>
        </p:spPr>
      </p:pic>
    </p:spTree>
    <p:extLst>
      <p:ext uri="{BB962C8B-B14F-4D97-AF65-F5344CB8AC3E}">
        <p14:creationId xmlns:p14="http://schemas.microsoft.com/office/powerpoint/2010/main" val="232338496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69756"/>
            <a:ext cx="8263784" cy="553998"/>
          </a:xfrm>
        </p:spPr>
        <p:txBody>
          <a:bodyPr lIns="0" tIns="0" rIns="0" bIns="0" anchor="ctr">
            <a:spAutoFit/>
          </a:bodyPr>
          <a:lstStyle/>
          <a:p>
            <a:r>
              <a:rPr lang="en-US" altLang="en-US" sz="3600" dirty="0" err="1">
                <a:latin typeface="+mj-lt"/>
              </a:rPr>
              <a:t>Phosphoglycerides</a:t>
            </a:r>
            <a:r>
              <a:rPr lang="en-US" altLang="en-US" sz="3600" dirty="0">
                <a:latin typeface="+mj-lt"/>
              </a:rPr>
              <a:t> </a:t>
            </a:r>
            <a:r>
              <a:rPr lang="en-US" altLang="en-US" sz="2800" dirty="0">
                <a:latin typeface="+mj-lt"/>
              </a:rPr>
              <a:t>(2 of 2)</a:t>
            </a:r>
            <a:endParaRPr lang="en-US" sz="3600" dirty="0">
              <a:solidFill>
                <a:schemeClr val="tx2"/>
              </a:solidFill>
              <a:latin typeface="+mj-lt"/>
            </a:endParaRP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91052"/>
            <a:ext cx="8263784" cy="2970044"/>
          </a:xfrm>
          <a:noFill/>
          <a:ln>
            <a:noFill/>
          </a:ln>
        </p:spPr>
        <p:txBody>
          <a:bodyPr wrap="square" lIns="0" tIns="0" rIns="0" bIns="0" anchor="t" anchorCtr="0">
            <a:spAutoFit/>
          </a:bodyPr>
          <a:lstStyle/>
          <a:p>
            <a:pPr marL="347472" indent="-347472"/>
            <a:r>
              <a:rPr lang="en-US" altLang="en-US" sz="2400" dirty="0"/>
              <a:t>The alcohol is usually </a:t>
            </a:r>
            <a:r>
              <a:rPr lang="en-US" altLang="en-US" sz="2400" i="1" dirty="0"/>
              <a:t>serine, ethanolamine, choline,</a:t>
            </a:r>
            <a:r>
              <a:rPr lang="en-US" altLang="en-US" sz="2400" dirty="0"/>
              <a:t> or </a:t>
            </a:r>
            <a:r>
              <a:rPr lang="en-US" altLang="en-US" sz="2400" i="1" dirty="0"/>
              <a:t>inositol,</a:t>
            </a:r>
            <a:r>
              <a:rPr lang="en-US" altLang="en-US" sz="2400" dirty="0"/>
              <a:t> which contributes to the polar nature of the phospholipid head group.</a:t>
            </a:r>
          </a:p>
          <a:p>
            <a:pPr marL="347472" indent="-347472"/>
            <a:r>
              <a:rPr lang="en-US" altLang="en-US" sz="2400" dirty="0"/>
              <a:t>Typical </a:t>
            </a:r>
            <a:r>
              <a:rPr lang="en-US" altLang="en-US" sz="2400" dirty="0" err="1"/>
              <a:t>phosphoglycerides</a:t>
            </a:r>
            <a:r>
              <a:rPr lang="en-US" altLang="en-US" sz="2400" dirty="0"/>
              <a:t> often have one saturated and one unsaturated fatty acid.</a:t>
            </a:r>
          </a:p>
          <a:p>
            <a:pPr marL="347472" indent="-347472"/>
            <a:r>
              <a:rPr lang="en-US" altLang="en-US" sz="2400" dirty="0"/>
              <a:t>The length and degree of saturation of the fatty acids have profound effects on membrane fluidity.</a:t>
            </a:r>
          </a:p>
        </p:txBody>
      </p:sp>
    </p:spTree>
    <p:extLst>
      <p:ext uri="{BB962C8B-B14F-4D97-AF65-F5344CB8AC3E}">
        <p14:creationId xmlns:p14="http://schemas.microsoft.com/office/powerpoint/2010/main" val="4137037394"/>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69756"/>
            <a:ext cx="8263784" cy="553998"/>
          </a:xfrm>
        </p:spPr>
        <p:txBody>
          <a:bodyPr lIns="0" tIns="0" rIns="0" bIns="0" anchor="ctr">
            <a:spAutoFit/>
          </a:bodyPr>
          <a:lstStyle/>
          <a:p>
            <a:r>
              <a:rPr lang="en-US" altLang="en-US" sz="3600" dirty="0">
                <a:latin typeface="+mj-lt"/>
              </a:rPr>
              <a:t>Sphingolipids </a:t>
            </a:r>
            <a:r>
              <a:rPr lang="en-US" altLang="en-US" sz="2800" dirty="0">
                <a:latin typeface="+mj-lt"/>
              </a:rPr>
              <a:t>(1 of 2)</a:t>
            </a:r>
            <a:endParaRPr lang="en-US" sz="3600" dirty="0">
              <a:solidFill>
                <a:schemeClr val="tx2"/>
              </a:solidFill>
              <a:latin typeface="+mj-lt"/>
            </a:endParaRP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91052"/>
            <a:ext cx="8263784" cy="2039020"/>
          </a:xfrm>
          <a:noFill/>
          <a:ln>
            <a:noFill/>
          </a:ln>
        </p:spPr>
        <p:txBody>
          <a:bodyPr wrap="square" lIns="0" tIns="0" rIns="0" bIns="0" anchor="t" anchorCtr="0">
            <a:spAutoFit/>
          </a:bodyPr>
          <a:lstStyle/>
          <a:p>
            <a:pPr marL="347472" indent="-347472"/>
            <a:r>
              <a:rPr lang="en-US" altLang="en-US" sz="2400" b="1" dirty="0"/>
              <a:t>Sphingolipids</a:t>
            </a:r>
            <a:r>
              <a:rPr lang="en-US" altLang="en-US" sz="2400" dirty="0"/>
              <a:t> are based on the amine </a:t>
            </a:r>
            <a:r>
              <a:rPr lang="en-US" altLang="en-US" sz="2400" b="1" dirty="0"/>
              <a:t>sphingosine</a:t>
            </a:r>
            <a:r>
              <a:rPr lang="en-US" altLang="en-US" sz="2400" dirty="0"/>
              <a:t>, which has a long hydrocarbon chain with a single site of unsaturation near the polar end.</a:t>
            </a:r>
          </a:p>
          <a:p>
            <a:pPr marL="347472" indent="-347472"/>
            <a:r>
              <a:rPr lang="en-US" altLang="en-US" sz="2400" dirty="0"/>
              <a:t>Sphingosine can form an amide bond to a long-chain fatty acid, resulting in a molecule called a </a:t>
            </a:r>
            <a:r>
              <a:rPr lang="en-US" altLang="en-US" sz="2400" i="1" dirty="0"/>
              <a:t>ceramide</a:t>
            </a:r>
            <a:r>
              <a:rPr lang="en-US" altLang="en-US" sz="2400" dirty="0"/>
              <a:t>.</a:t>
            </a:r>
          </a:p>
        </p:txBody>
      </p:sp>
    </p:spTree>
    <p:extLst>
      <p:ext uri="{BB962C8B-B14F-4D97-AF65-F5344CB8AC3E}">
        <p14:creationId xmlns:p14="http://schemas.microsoft.com/office/powerpoint/2010/main" val="228039780"/>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19100" y="175084"/>
            <a:ext cx="8267700" cy="553998"/>
          </a:xfrm>
        </p:spPr>
        <p:txBody>
          <a:bodyPr wrap="square" lIns="0" tIns="0" rIns="0" bIns="0" anchor="ctr">
            <a:spAutoFit/>
          </a:bodyPr>
          <a:lstStyle/>
          <a:p>
            <a:r>
              <a:rPr lang="en-US" dirty="0"/>
              <a:t>Phospholipids </a:t>
            </a:r>
          </a:p>
        </p:txBody>
      </p:sp>
      <p:sp>
        <p:nvSpPr>
          <p:cNvPr id="6" name="Content Placeholder 5"/>
          <p:cNvSpPr>
            <a:spLocks noGrp="1"/>
          </p:cNvSpPr>
          <p:nvPr>
            <p:ph sz="quarter" idx="13"/>
          </p:nvPr>
        </p:nvSpPr>
        <p:spPr>
          <a:xfrm>
            <a:off x="442452" y="1094664"/>
            <a:ext cx="8267700" cy="369332"/>
          </a:xfrm>
        </p:spPr>
        <p:txBody>
          <a:bodyPr wrap="square" lIns="0" tIns="0" rIns="0" bIns="0">
            <a:spAutoFit/>
          </a:bodyPr>
          <a:lstStyle/>
          <a:p>
            <a:pPr marL="0" indent="0">
              <a:buNone/>
            </a:pPr>
            <a:r>
              <a:rPr lang="en-US" sz="2400" b="1" dirty="0"/>
              <a:t>Figure 3.27</a:t>
            </a:r>
            <a:r>
              <a:rPr lang="en-US" sz="2400" dirty="0"/>
              <a:t> The Main Classes of Lipids.</a:t>
            </a:r>
          </a:p>
        </p:txBody>
      </p:sp>
      <p:pic>
        <p:nvPicPr>
          <p:cNvPr id="7" name="Picture Placeholder 6" descr="An illustration of saturated and unsaturated fatty acids, triacylglycerols and their synthesis, phospholipids, glycolipids, steroids, and terpenes. The various phospholipids are phosphoglycerides and sphingolipids. &#10;Long description is available in notes, press F6">
            <a:extLst>
              <a:ext uri="{FF2B5EF4-FFF2-40B4-BE49-F238E27FC236}">
                <a16:creationId xmlns:a16="http://schemas.microsoft.com/office/drawing/2014/main" id="{376A2956-E0F9-4B5E-AFA9-FCFA5147D312}"/>
              </a:ext>
            </a:extLst>
          </p:cNvPr>
          <p:cNvPicPr>
            <a:picLocks noGrp="1" noChangeAspect="1"/>
          </p:cNvPicPr>
          <p:nvPr>
            <p:ph type="pic" sz="quarter" idx="14"/>
          </p:nvPr>
        </p:nvPicPr>
        <p:blipFill rotWithShape="1">
          <a:blip r:embed="rId3"/>
          <a:srcRect b="7310"/>
          <a:stretch/>
        </p:blipFill>
        <p:spPr>
          <a:xfrm>
            <a:off x="614145" y="1988932"/>
            <a:ext cx="7915711" cy="1965675"/>
          </a:xfrm>
          <a:prstGeom prst="rect">
            <a:avLst/>
          </a:prstGeom>
        </p:spPr>
      </p:pic>
    </p:spTree>
    <p:extLst>
      <p:ext uri="{BB962C8B-B14F-4D97-AF65-F5344CB8AC3E}">
        <p14:creationId xmlns:p14="http://schemas.microsoft.com/office/powerpoint/2010/main" val="309880149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69756"/>
            <a:ext cx="8263784" cy="553998"/>
          </a:xfrm>
        </p:spPr>
        <p:txBody>
          <a:bodyPr lIns="0" tIns="0" rIns="0" bIns="0" anchor="ctr">
            <a:spAutoFit/>
          </a:bodyPr>
          <a:lstStyle/>
          <a:p>
            <a:r>
              <a:rPr lang="en-US" altLang="en-US" sz="3600" dirty="0">
                <a:latin typeface="+mj-lt"/>
              </a:rPr>
              <a:t>Sphingolipids </a:t>
            </a:r>
            <a:r>
              <a:rPr lang="en-US" altLang="en-US" sz="2800" dirty="0">
                <a:latin typeface="+mj-lt"/>
              </a:rPr>
              <a:t>(2 of 2)</a:t>
            </a:r>
            <a:endParaRPr lang="en-US" sz="3600" dirty="0">
              <a:solidFill>
                <a:schemeClr val="tx2"/>
              </a:solidFill>
              <a:latin typeface="+mj-lt"/>
            </a:endParaRP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91052"/>
            <a:ext cx="8263784" cy="2970044"/>
          </a:xfrm>
          <a:noFill/>
          <a:ln>
            <a:noFill/>
          </a:ln>
        </p:spPr>
        <p:txBody>
          <a:bodyPr wrap="square" lIns="0" tIns="0" rIns="0" bIns="0" anchor="t" anchorCtr="0">
            <a:spAutoFit/>
          </a:bodyPr>
          <a:lstStyle/>
          <a:p>
            <a:pPr marL="347472" indent="-347472"/>
            <a:r>
              <a:rPr lang="en-US" altLang="en-US" sz="2400" dirty="0"/>
              <a:t>A whole family of sphingolipids exists, with different polar groups attached to the hydroxyl group of the ceramide.</a:t>
            </a:r>
          </a:p>
          <a:p>
            <a:pPr marL="347472" indent="-347472"/>
            <a:r>
              <a:rPr lang="en-US" altLang="en-US" sz="2400" dirty="0"/>
              <a:t>Sphingolipids are predominantly found in the outer leaflet of the plasma membrane bilayer, often in </a:t>
            </a:r>
            <a:r>
              <a:rPr lang="en-US" altLang="en-US" sz="2400" i="1" dirty="0"/>
              <a:t>lipid</a:t>
            </a:r>
            <a:r>
              <a:rPr lang="en-US" altLang="en-US" sz="2400" dirty="0"/>
              <a:t> </a:t>
            </a:r>
            <a:r>
              <a:rPr lang="en-US" altLang="en-US" sz="2400" i="1" dirty="0"/>
              <a:t>rafts,</a:t>
            </a:r>
            <a:r>
              <a:rPr lang="en-US" altLang="en-US" sz="2400" dirty="0"/>
              <a:t> localized domains within a membrane.</a:t>
            </a:r>
          </a:p>
          <a:p>
            <a:pPr marL="347472" indent="-347472"/>
            <a:r>
              <a:rPr lang="en-US" altLang="en-US" sz="2400" dirty="0"/>
              <a:t>Lipid rafts are important in communication between a cell and its external environment.</a:t>
            </a:r>
          </a:p>
        </p:txBody>
      </p:sp>
    </p:spTree>
    <p:extLst>
      <p:ext uri="{BB962C8B-B14F-4D97-AF65-F5344CB8AC3E}">
        <p14:creationId xmlns:p14="http://schemas.microsoft.com/office/powerpoint/2010/main" val="3139570860"/>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68528"/>
            <a:ext cx="8263784" cy="1107996"/>
          </a:xfrm>
        </p:spPr>
        <p:txBody>
          <a:bodyPr lIns="0" tIns="0" rIns="0" bIns="0" anchor="ctr">
            <a:spAutoFit/>
          </a:bodyPr>
          <a:lstStyle/>
          <a:p>
            <a:r>
              <a:rPr lang="en-US" altLang="en-US" sz="3600" dirty="0">
                <a:latin typeface="+mj-lt"/>
              </a:rPr>
              <a:t>Glycolipids Are Specialized Membrane Components</a:t>
            </a:r>
            <a:endParaRPr lang="en-US" sz="3600" dirty="0">
              <a:solidFill>
                <a:schemeClr val="tx2"/>
              </a:solidFill>
              <a:latin typeface="+mj-lt"/>
            </a:endParaRP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540993"/>
            <a:ext cx="8263784" cy="3339376"/>
          </a:xfrm>
          <a:noFill/>
          <a:ln>
            <a:noFill/>
          </a:ln>
        </p:spPr>
        <p:txBody>
          <a:bodyPr wrap="square" lIns="0" tIns="0" rIns="0" bIns="0" anchor="t" anchorCtr="0">
            <a:spAutoFit/>
          </a:bodyPr>
          <a:lstStyle/>
          <a:p>
            <a:pPr marL="347472" indent="-347472"/>
            <a:r>
              <a:rPr lang="en-US" altLang="en-US" sz="2400" b="1" dirty="0"/>
              <a:t>Glycolipids</a:t>
            </a:r>
            <a:r>
              <a:rPr lang="en-US" altLang="en-US" sz="2400" dirty="0"/>
              <a:t> are lipids containing a carbohydrate instead of a phospholipid and are often derivatives of sphingosine and glycerol (</a:t>
            </a:r>
            <a:r>
              <a:rPr lang="en-US" altLang="en-US" sz="2400" i="1" dirty="0"/>
              <a:t>glycosphingolipids</a:t>
            </a:r>
            <a:r>
              <a:rPr lang="en-US" altLang="en-US" sz="2400" dirty="0"/>
              <a:t>).</a:t>
            </a:r>
          </a:p>
          <a:p>
            <a:pPr marL="347472" indent="-347472"/>
            <a:r>
              <a:rPr lang="en-US" altLang="en-US" sz="2400" dirty="0"/>
              <a:t>Carbohydrate groups attached to a glycolipid may be one to six sugar units (</a:t>
            </a:r>
            <a:r>
              <a:rPr lang="en-US" altLang="en-US" sz="2400" cap="small" dirty="0"/>
              <a:t>d</a:t>
            </a:r>
            <a:r>
              <a:rPr lang="en-US" altLang="en-US" sz="2400" dirty="0"/>
              <a:t>-glucose, </a:t>
            </a:r>
            <a:r>
              <a:rPr lang="en-US" altLang="en-US" sz="2400" cap="small" dirty="0"/>
              <a:t>d</a:t>
            </a:r>
            <a:r>
              <a:rPr lang="en-US" altLang="en-US" sz="2400" dirty="0"/>
              <a:t>-galactose, or </a:t>
            </a:r>
            <a:r>
              <a:rPr lang="en-US" altLang="en-US" sz="2400" i="1" dirty="0"/>
              <a:t>N</a:t>
            </a:r>
            <a:r>
              <a:rPr lang="en-US" altLang="en-US" sz="2400" dirty="0"/>
              <a:t>-acetyl-</a:t>
            </a:r>
            <a:r>
              <a:rPr lang="en-US" altLang="en-US" sz="2400" cap="small" dirty="0"/>
              <a:t>d</a:t>
            </a:r>
            <a:r>
              <a:rPr lang="en-US" altLang="en-US" sz="2400" dirty="0"/>
              <a:t>-galactosamine).</a:t>
            </a:r>
          </a:p>
          <a:p>
            <a:pPr marL="347472" indent="-347472"/>
            <a:r>
              <a:rPr lang="en-US" altLang="en-US" sz="2400" dirty="0"/>
              <a:t>Glycolipids occur largely on the outer monolayer of the plasma membrane.</a:t>
            </a:r>
          </a:p>
        </p:txBody>
      </p:sp>
    </p:spTree>
    <p:extLst>
      <p:ext uri="{BB962C8B-B14F-4D97-AF65-F5344CB8AC3E}">
        <p14:creationId xmlns:p14="http://schemas.microsoft.com/office/powerpoint/2010/main" val="2620621176"/>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19100" y="178055"/>
            <a:ext cx="8293100" cy="553998"/>
          </a:xfrm>
          <a:noFill/>
          <a:ln>
            <a:noFill/>
          </a:ln>
        </p:spPr>
        <p:txBody>
          <a:bodyPr wrap="square" lIns="0" tIns="0" rIns="0" bIns="0" anchor="ctr" anchorCtr="0">
            <a:spAutoFit/>
          </a:bodyPr>
          <a:lstStyle/>
          <a:p>
            <a:r>
              <a:rPr lang="en-US" dirty="0"/>
              <a:t>Glycolipids </a:t>
            </a:r>
          </a:p>
        </p:txBody>
      </p:sp>
      <p:sp>
        <p:nvSpPr>
          <p:cNvPr id="6" name="Content Placeholder 5"/>
          <p:cNvSpPr>
            <a:spLocks noGrp="1"/>
          </p:cNvSpPr>
          <p:nvPr>
            <p:ph sz="quarter" idx="15"/>
          </p:nvPr>
        </p:nvSpPr>
        <p:spPr>
          <a:xfrm>
            <a:off x="421688" y="1066656"/>
            <a:ext cx="8290512" cy="369332"/>
          </a:xfrm>
          <a:noFill/>
          <a:ln>
            <a:noFill/>
          </a:ln>
        </p:spPr>
        <p:txBody>
          <a:bodyPr lIns="0" tIns="0" rIns="0" bIns="0" anchor="t" anchorCtr="0">
            <a:spAutoFit/>
          </a:bodyPr>
          <a:lstStyle/>
          <a:p>
            <a:pPr marL="0" indent="0">
              <a:buNone/>
            </a:pPr>
            <a:r>
              <a:rPr lang="en-US" sz="2400" b="1" dirty="0"/>
              <a:t>Figure 3.27</a:t>
            </a:r>
            <a:r>
              <a:rPr lang="en-US" sz="2400" dirty="0"/>
              <a:t> The Main Classes of Lipids.</a:t>
            </a:r>
          </a:p>
        </p:txBody>
      </p:sp>
      <p:pic>
        <p:nvPicPr>
          <p:cNvPr id="7" name="Picture Placeholder 6" descr="An illustration of saturated and unsaturated fatty acids, triacylglycerols and their synthesis, phospholipids, glycolipids, steroids, and terpenes. The various phospholipids are phosphoglycerides and sphingolipids. &#10;Long description is available in notes, press F6">
            <a:extLst>
              <a:ext uri="{FF2B5EF4-FFF2-40B4-BE49-F238E27FC236}">
                <a16:creationId xmlns:a16="http://schemas.microsoft.com/office/drawing/2014/main" id="{C0844EF7-63EB-42CA-93EA-5F453938A3CE}"/>
              </a:ext>
            </a:extLst>
          </p:cNvPr>
          <p:cNvPicPr>
            <a:picLocks noGrp="1" noChangeAspect="1"/>
          </p:cNvPicPr>
          <p:nvPr>
            <p:ph type="pic" sz="quarter" idx="16"/>
          </p:nvPr>
        </p:nvPicPr>
        <p:blipFill rotWithShape="1">
          <a:blip r:embed="rId3"/>
          <a:srcRect b="4210"/>
          <a:stretch/>
        </p:blipFill>
        <p:spPr>
          <a:xfrm>
            <a:off x="1163782" y="1991714"/>
            <a:ext cx="6913418" cy="3923852"/>
          </a:xfrm>
        </p:spPr>
      </p:pic>
    </p:spTree>
    <p:extLst>
      <p:ext uri="{BB962C8B-B14F-4D97-AF65-F5344CB8AC3E}">
        <p14:creationId xmlns:p14="http://schemas.microsoft.com/office/powerpoint/2010/main" val="327959324"/>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70517"/>
            <a:ext cx="8263784" cy="1107996"/>
          </a:xfrm>
        </p:spPr>
        <p:txBody>
          <a:bodyPr lIns="0" tIns="0" rIns="0" bIns="0" anchor="ctr">
            <a:spAutoFit/>
          </a:bodyPr>
          <a:lstStyle/>
          <a:p>
            <a:r>
              <a:rPr lang="en-US" altLang="en-US" sz="3600" dirty="0">
                <a:latin typeface="+mj-lt"/>
              </a:rPr>
              <a:t>Steroids Are Lipids with a Variety of Functions</a:t>
            </a:r>
            <a:endParaRPr lang="en-US" sz="3600" dirty="0">
              <a:latin typeface="+mj-lt"/>
              <a:cs typeface="Times New Roman" panose="02020603050405020304" pitchFamily="18" charset="0"/>
            </a:endParaRP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560795"/>
            <a:ext cx="8229600" cy="2793072"/>
          </a:xfrm>
          <a:noFill/>
          <a:ln>
            <a:noFill/>
          </a:ln>
        </p:spPr>
        <p:txBody>
          <a:bodyPr lIns="0" tIns="0" rIns="0" bIns="0" anchor="t" anchorCtr="0">
            <a:spAutoFit/>
          </a:bodyPr>
          <a:lstStyle/>
          <a:p>
            <a:pPr marL="342900" indent="-342900"/>
            <a:r>
              <a:rPr lang="en-US" altLang="en-US" sz="2400" b="1" dirty="0"/>
              <a:t>Steroids</a:t>
            </a:r>
            <a:r>
              <a:rPr lang="en-US" altLang="en-US" sz="2400" dirty="0"/>
              <a:t> are derivatives of a four-ringed hydrocarbon skeleton, which distinguishes them from other lipids.</a:t>
            </a:r>
          </a:p>
          <a:p>
            <a:pPr marL="342900" indent="-342900"/>
            <a:r>
              <a:rPr lang="en-US" altLang="en-US" sz="2400" dirty="0"/>
              <a:t>They are relatively nonpolar and therefore hydrophobic.</a:t>
            </a:r>
          </a:p>
          <a:p>
            <a:pPr marL="342900" indent="-342900"/>
            <a:r>
              <a:rPr lang="en-US" altLang="en-US" sz="2400" dirty="0"/>
              <a:t>Steroids differ from one another in the positions of double bonds and functional groups.</a:t>
            </a:r>
          </a:p>
          <a:p>
            <a:pPr marL="342900" indent="-342900"/>
            <a:r>
              <a:rPr lang="en-US" altLang="en-US" sz="2400" dirty="0"/>
              <a:t>The most common steroid in animal cells is </a:t>
            </a:r>
            <a:r>
              <a:rPr lang="en-US" altLang="en-US" sz="2400" b="1" dirty="0"/>
              <a:t>cholesterol</a:t>
            </a:r>
            <a:r>
              <a:rPr lang="en-US" altLang="en-US" sz="2400" dirty="0"/>
              <a:t>.</a:t>
            </a:r>
          </a:p>
        </p:txBody>
      </p:sp>
    </p:spTree>
    <p:extLst>
      <p:ext uri="{BB962C8B-B14F-4D97-AF65-F5344CB8AC3E}">
        <p14:creationId xmlns:p14="http://schemas.microsoft.com/office/powerpoint/2010/main" val="945915695"/>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19100" y="178152"/>
            <a:ext cx="8293100" cy="1107996"/>
          </a:xfrm>
          <a:noFill/>
          <a:ln>
            <a:noFill/>
          </a:ln>
        </p:spPr>
        <p:txBody>
          <a:bodyPr wrap="square" lIns="0" tIns="0" rIns="0" bIns="0" anchor="ctr" anchorCtr="0">
            <a:spAutoFit/>
          </a:bodyPr>
          <a:lstStyle/>
          <a:p>
            <a:r>
              <a:rPr lang="en-US" dirty="0"/>
              <a:t>Structures of Several Common Steroid Hormones</a:t>
            </a:r>
          </a:p>
        </p:txBody>
      </p:sp>
      <p:sp>
        <p:nvSpPr>
          <p:cNvPr id="6" name="Content Placeholder 5"/>
          <p:cNvSpPr>
            <a:spLocks noGrp="1"/>
          </p:cNvSpPr>
          <p:nvPr>
            <p:ph sz="quarter" idx="15"/>
          </p:nvPr>
        </p:nvSpPr>
        <p:spPr>
          <a:xfrm>
            <a:off x="421688" y="1565424"/>
            <a:ext cx="3631697" cy="1107996"/>
          </a:xfrm>
          <a:noFill/>
          <a:ln>
            <a:noFill/>
          </a:ln>
        </p:spPr>
        <p:txBody>
          <a:bodyPr wrap="square" lIns="0" tIns="0" rIns="0" bIns="0" anchor="t" anchorCtr="0">
            <a:spAutoFit/>
          </a:bodyPr>
          <a:lstStyle/>
          <a:p>
            <a:pPr marL="0" indent="0">
              <a:buNone/>
            </a:pPr>
            <a:r>
              <a:rPr lang="en-US" sz="2400" b="1" dirty="0"/>
              <a:t>Figure 3.30</a:t>
            </a:r>
            <a:r>
              <a:rPr lang="en-US" sz="2400" dirty="0"/>
              <a:t> Structures of Several Common Steroid Hormones.</a:t>
            </a:r>
          </a:p>
        </p:txBody>
      </p:sp>
      <p:pic>
        <p:nvPicPr>
          <p:cNvPr id="8" name="Picture Placeholder 7" descr="Structures of estradiol, which is an estrogen, testosterone, which is an androgen, cortisol, which is a glucocorticoid, and aldosterone, which is a mineralocorticoid.&#10;Long description is available in notes, press F6">
            <a:extLst>
              <a:ext uri="{FF2B5EF4-FFF2-40B4-BE49-F238E27FC236}">
                <a16:creationId xmlns:a16="http://schemas.microsoft.com/office/drawing/2014/main" id="{CA23B2D9-589F-4211-B74E-E8A5EE84535F}"/>
              </a:ext>
            </a:extLst>
          </p:cNvPr>
          <p:cNvPicPr>
            <a:picLocks noGrp="1" noChangeAspect="1"/>
          </p:cNvPicPr>
          <p:nvPr>
            <p:ph type="pic" sz="quarter" idx="16"/>
          </p:nvPr>
        </p:nvPicPr>
        <p:blipFill rotWithShape="1">
          <a:blip r:embed="rId3"/>
          <a:srcRect b="2528"/>
          <a:stretch/>
        </p:blipFill>
        <p:spPr>
          <a:xfrm>
            <a:off x="4445007" y="1565424"/>
            <a:ext cx="4301683" cy="4380538"/>
          </a:xfrm>
        </p:spPr>
      </p:pic>
    </p:spTree>
    <p:extLst>
      <p:ext uri="{BB962C8B-B14F-4D97-AF65-F5344CB8AC3E}">
        <p14:creationId xmlns:p14="http://schemas.microsoft.com/office/powerpoint/2010/main" val="3124546225"/>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69527"/>
            <a:ext cx="8263784" cy="553998"/>
          </a:xfrm>
        </p:spPr>
        <p:txBody>
          <a:bodyPr lIns="0" tIns="0" rIns="0" bIns="0" anchor="ctr">
            <a:spAutoFit/>
          </a:bodyPr>
          <a:lstStyle/>
          <a:p>
            <a:r>
              <a:rPr lang="en-US" altLang="en-US" sz="3600" dirty="0">
                <a:latin typeface="+mj-lt"/>
              </a:rPr>
              <a:t>A Variety of Sterols</a:t>
            </a:r>
            <a:endParaRPr lang="en-US" sz="3600" dirty="0">
              <a:latin typeface="+mj-lt"/>
              <a:cs typeface="Times New Roman" panose="02020603050405020304" pitchFamily="18" charset="0"/>
            </a:endParaRP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62023"/>
            <a:ext cx="8229600" cy="2039020"/>
          </a:xfrm>
          <a:noFill/>
          <a:ln>
            <a:noFill/>
          </a:ln>
        </p:spPr>
        <p:txBody>
          <a:bodyPr lIns="0" tIns="0" rIns="0" bIns="0" anchor="t" anchorCtr="0">
            <a:spAutoFit/>
          </a:bodyPr>
          <a:lstStyle/>
          <a:p>
            <a:pPr marL="342900" indent="-342900"/>
            <a:r>
              <a:rPr lang="en-US" altLang="en-US" sz="2400" dirty="0"/>
              <a:t>Cholesterol is insoluble and found primarily in plasma membranes of animal cells and most membranes of organelles.</a:t>
            </a:r>
          </a:p>
          <a:p>
            <a:pPr marL="342900" indent="-342900"/>
            <a:r>
              <a:rPr lang="en-US" altLang="en-US" sz="2400" dirty="0"/>
              <a:t>Similar molecules are found in plant cells (</a:t>
            </a:r>
            <a:r>
              <a:rPr lang="en-US" altLang="en-US" sz="2400" i="1" dirty="0"/>
              <a:t>stigmasterol and sitosterol</a:t>
            </a:r>
            <a:r>
              <a:rPr lang="en-US" altLang="en-US" sz="2400" dirty="0"/>
              <a:t>) and fungal cells (</a:t>
            </a:r>
            <a:r>
              <a:rPr lang="en-US" altLang="en-US" sz="2400" i="1" dirty="0"/>
              <a:t>ergosterol</a:t>
            </a:r>
            <a:r>
              <a:rPr lang="en-US" altLang="en-US" sz="2400" dirty="0"/>
              <a:t>).</a:t>
            </a:r>
          </a:p>
        </p:txBody>
      </p:sp>
    </p:spTree>
    <p:extLst>
      <p:ext uri="{BB962C8B-B14F-4D97-AF65-F5344CB8AC3E}">
        <p14:creationId xmlns:p14="http://schemas.microsoft.com/office/powerpoint/2010/main" val="552903271"/>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69527"/>
            <a:ext cx="8263784" cy="553998"/>
          </a:xfrm>
        </p:spPr>
        <p:txBody>
          <a:bodyPr lIns="0" tIns="0" rIns="0" bIns="0" anchor="ctr">
            <a:spAutoFit/>
          </a:bodyPr>
          <a:lstStyle/>
          <a:p>
            <a:r>
              <a:rPr lang="en-US" altLang="en-US" sz="3600" dirty="0">
                <a:solidFill>
                  <a:schemeClr val="tx2"/>
                </a:solidFill>
                <a:latin typeface="+mj-lt"/>
              </a:rPr>
              <a:t>Steroid Hormones </a:t>
            </a:r>
            <a:r>
              <a:rPr lang="en-US" altLang="en-US" sz="2800" dirty="0">
                <a:solidFill>
                  <a:schemeClr val="tx2"/>
                </a:solidFill>
                <a:latin typeface="+mj-lt"/>
              </a:rPr>
              <a:t>(1 of 2)</a:t>
            </a:r>
            <a:endParaRPr lang="en-US" sz="2800" dirty="0">
              <a:solidFill>
                <a:schemeClr val="tx2"/>
              </a:solidFill>
              <a:latin typeface="+mj-lt"/>
              <a:cs typeface="Times New Roman" panose="02020603050405020304" pitchFamily="18" charset="0"/>
            </a:endParaRP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62023"/>
            <a:ext cx="8229600" cy="2408352"/>
          </a:xfrm>
          <a:noFill/>
          <a:ln>
            <a:noFill/>
          </a:ln>
        </p:spPr>
        <p:txBody>
          <a:bodyPr lIns="0" tIns="0" rIns="0" bIns="0" anchor="t" anchorCtr="0">
            <a:spAutoFit/>
          </a:bodyPr>
          <a:lstStyle/>
          <a:p>
            <a:pPr marL="342900" indent="-342900"/>
            <a:r>
              <a:rPr lang="en-US" altLang="en-US" sz="2400" dirty="0"/>
              <a:t>Cholesterol is the starting material for synthesis of </a:t>
            </a:r>
            <a:r>
              <a:rPr lang="en-US" altLang="en-US" sz="2400" b="1" dirty="0"/>
              <a:t>steroid hormones</a:t>
            </a:r>
            <a:r>
              <a:rPr lang="en-US" altLang="en-US" sz="2400" dirty="0"/>
              <a:t>, including male and female </a:t>
            </a:r>
            <a:r>
              <a:rPr lang="en-US" altLang="en-US" sz="2400" i="1" dirty="0"/>
              <a:t>sex hormones, the glucocorticoids</a:t>
            </a:r>
            <a:r>
              <a:rPr lang="en-US" altLang="en-US" sz="2400" dirty="0"/>
              <a:t>, and the </a:t>
            </a:r>
            <a:r>
              <a:rPr lang="en-US" sz="2400" i="1" dirty="0"/>
              <a:t>mineralocorticoids</a:t>
            </a:r>
            <a:r>
              <a:rPr lang="en-US" sz="2400" dirty="0"/>
              <a:t>.</a:t>
            </a:r>
            <a:endParaRPr lang="en-US" altLang="en-US" sz="2400" dirty="0"/>
          </a:p>
          <a:p>
            <a:pPr marL="342900" indent="-342900"/>
            <a:r>
              <a:rPr lang="en-US" altLang="en-US" sz="2400" dirty="0"/>
              <a:t>Sex hormones include estrogens produced by the ovaries of females (e.g., </a:t>
            </a:r>
            <a:r>
              <a:rPr lang="en-US" altLang="en-US" sz="2400" i="1" dirty="0"/>
              <a:t>estradiol</a:t>
            </a:r>
            <a:r>
              <a:rPr lang="en-US" altLang="en-US" sz="2400" dirty="0"/>
              <a:t>) and androgens produced by male testes (e.g., </a:t>
            </a:r>
            <a:r>
              <a:rPr lang="en-US" altLang="en-US" sz="2400" i="1" dirty="0"/>
              <a:t>testosterone</a:t>
            </a:r>
            <a:r>
              <a:rPr lang="en-US" altLang="en-US" sz="2400" dirty="0"/>
              <a:t>).</a:t>
            </a:r>
          </a:p>
        </p:txBody>
      </p:sp>
    </p:spTree>
    <p:extLst>
      <p:ext uri="{BB962C8B-B14F-4D97-AF65-F5344CB8AC3E}">
        <p14:creationId xmlns:p14="http://schemas.microsoft.com/office/powerpoint/2010/main" val="4122053016"/>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69527"/>
            <a:ext cx="8263784" cy="553998"/>
          </a:xfrm>
        </p:spPr>
        <p:txBody>
          <a:bodyPr lIns="0" tIns="0" rIns="0" bIns="0" anchor="ctr">
            <a:spAutoFit/>
          </a:bodyPr>
          <a:lstStyle/>
          <a:p>
            <a:r>
              <a:rPr lang="en-US" altLang="en-US" sz="3600" dirty="0">
                <a:solidFill>
                  <a:schemeClr val="tx2"/>
                </a:solidFill>
                <a:latin typeface="+mj-lt"/>
              </a:rPr>
              <a:t>Steroid Hormones </a:t>
            </a:r>
            <a:r>
              <a:rPr lang="en-US" altLang="en-US" sz="2800" dirty="0">
                <a:solidFill>
                  <a:schemeClr val="tx2"/>
                </a:solidFill>
                <a:latin typeface="+mj-lt"/>
              </a:rPr>
              <a:t>(2 of 2)</a:t>
            </a:r>
            <a:endParaRPr lang="en-US" sz="2800" dirty="0">
              <a:solidFill>
                <a:schemeClr val="tx2"/>
              </a:solidFill>
              <a:latin typeface="+mj-lt"/>
              <a:cs typeface="Times New Roman" panose="02020603050405020304" pitchFamily="18" charset="0"/>
            </a:endParaRP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62023"/>
            <a:ext cx="8229600" cy="2408352"/>
          </a:xfrm>
          <a:noFill/>
          <a:ln>
            <a:noFill/>
          </a:ln>
        </p:spPr>
        <p:txBody>
          <a:bodyPr lIns="0" tIns="0" rIns="0" bIns="0" anchor="t" anchorCtr="0">
            <a:spAutoFit/>
          </a:bodyPr>
          <a:lstStyle/>
          <a:p>
            <a:pPr marL="342900" indent="-342900"/>
            <a:r>
              <a:rPr lang="en-US" altLang="en-US" sz="2400" dirty="0"/>
              <a:t>The glucocorticoids (e.g., </a:t>
            </a:r>
            <a:r>
              <a:rPr lang="en-US" altLang="en-US" sz="2400" i="1" dirty="0"/>
              <a:t>cortisol</a:t>
            </a:r>
            <a:r>
              <a:rPr lang="en-US" altLang="en-US" sz="2400" dirty="0"/>
              <a:t>) are a family of hormones that promote synthesis of glucose and suppress inflammation.</a:t>
            </a:r>
          </a:p>
          <a:p>
            <a:pPr marL="342900" indent="-342900"/>
            <a:r>
              <a:rPr lang="en-US" altLang="en-US" sz="2400" dirty="0"/>
              <a:t>Mineralocorticoids (e.g., </a:t>
            </a:r>
            <a:r>
              <a:rPr lang="en-US" altLang="en-US" sz="2400" i="1" dirty="0"/>
              <a:t>aldosterone</a:t>
            </a:r>
            <a:r>
              <a:rPr lang="en-US" altLang="en-US" sz="2400" dirty="0"/>
              <a:t>) regulate ion balance by promoting reabsorption of sodium, chloride, and bicarbonate ions by the kidney.</a:t>
            </a:r>
          </a:p>
        </p:txBody>
      </p:sp>
    </p:spTree>
    <p:extLst>
      <p:ext uri="{BB962C8B-B14F-4D97-AF65-F5344CB8AC3E}">
        <p14:creationId xmlns:p14="http://schemas.microsoft.com/office/powerpoint/2010/main" val="2404019995"/>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19100" y="178055"/>
            <a:ext cx="8293100" cy="553998"/>
          </a:xfrm>
          <a:noFill/>
          <a:ln>
            <a:noFill/>
          </a:ln>
        </p:spPr>
        <p:txBody>
          <a:bodyPr wrap="square" lIns="0" tIns="0" rIns="0" bIns="0" anchor="ctr" anchorCtr="0">
            <a:spAutoFit/>
          </a:bodyPr>
          <a:lstStyle/>
          <a:p>
            <a:r>
              <a:rPr lang="en-US" dirty="0"/>
              <a:t>Steroids</a:t>
            </a:r>
          </a:p>
        </p:txBody>
      </p:sp>
      <p:sp>
        <p:nvSpPr>
          <p:cNvPr id="6" name="Content Placeholder 5"/>
          <p:cNvSpPr>
            <a:spLocks noGrp="1"/>
          </p:cNvSpPr>
          <p:nvPr>
            <p:ph sz="quarter" idx="15"/>
          </p:nvPr>
        </p:nvSpPr>
        <p:spPr>
          <a:xfrm>
            <a:off x="421688" y="1066656"/>
            <a:ext cx="4275003" cy="738664"/>
          </a:xfrm>
          <a:noFill/>
          <a:ln>
            <a:noFill/>
          </a:ln>
        </p:spPr>
        <p:txBody>
          <a:bodyPr lIns="0" tIns="0" rIns="0" bIns="0" anchor="t" anchorCtr="0">
            <a:spAutoFit/>
          </a:bodyPr>
          <a:lstStyle/>
          <a:p>
            <a:pPr marL="0" indent="0">
              <a:buNone/>
            </a:pPr>
            <a:r>
              <a:rPr lang="en-US" sz="2400" b="1" dirty="0"/>
              <a:t>Figure 3.27</a:t>
            </a:r>
            <a:r>
              <a:rPr lang="en-US" sz="2400" dirty="0"/>
              <a:t> The Main Classes of Lipids.</a:t>
            </a:r>
          </a:p>
        </p:txBody>
      </p:sp>
      <p:pic>
        <p:nvPicPr>
          <p:cNvPr id="16" name="Picture Placeholder 15" descr="An illustration of saturated and unsaturated fatty acids, triacylglycerols and their synthesis, phospholipids, glycolipids, steroids, and terpenes. The various phospholipids are phosphoglycerides and sphingolipids. &#10;Long description is available in notes, press F6">
            <a:extLst>
              <a:ext uri="{FF2B5EF4-FFF2-40B4-BE49-F238E27FC236}">
                <a16:creationId xmlns:a16="http://schemas.microsoft.com/office/drawing/2014/main" id="{C394D7EC-7F9E-491B-AD32-D8EA41947720}"/>
              </a:ext>
            </a:extLst>
          </p:cNvPr>
          <p:cNvPicPr>
            <a:picLocks noGrp="1" noChangeAspect="1"/>
          </p:cNvPicPr>
          <p:nvPr>
            <p:ph type="pic" sz="quarter" idx="16"/>
          </p:nvPr>
        </p:nvPicPr>
        <p:blipFill rotWithShape="1">
          <a:blip r:embed="rId3"/>
          <a:srcRect b="2753"/>
          <a:stretch/>
        </p:blipFill>
        <p:spPr>
          <a:xfrm>
            <a:off x="5257440" y="1064562"/>
            <a:ext cx="3484788" cy="5230633"/>
          </a:xfrm>
        </p:spPr>
      </p:pic>
    </p:spTree>
    <p:extLst>
      <p:ext uri="{BB962C8B-B14F-4D97-AF65-F5344CB8AC3E}">
        <p14:creationId xmlns:p14="http://schemas.microsoft.com/office/powerpoint/2010/main" val="1192552655"/>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69527"/>
            <a:ext cx="8263784" cy="553998"/>
          </a:xfrm>
        </p:spPr>
        <p:txBody>
          <a:bodyPr lIns="0" tIns="0" rIns="0" bIns="0" anchor="ctr">
            <a:spAutoFit/>
          </a:bodyPr>
          <a:lstStyle/>
          <a:p>
            <a:r>
              <a:rPr lang="en-US" altLang="en-US" sz="3600" dirty="0">
                <a:latin typeface="+mj-lt"/>
              </a:rPr>
              <a:t>Terpenes Are Formed from Isoprene</a:t>
            </a:r>
            <a:endParaRPr lang="en-US" sz="3600" dirty="0">
              <a:latin typeface="+mj-lt"/>
              <a:cs typeface="Times New Roman" panose="02020603050405020304" pitchFamily="18" charset="0"/>
            </a:endParaRP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62023"/>
            <a:ext cx="8229600" cy="2039020"/>
          </a:xfrm>
          <a:noFill/>
          <a:ln>
            <a:noFill/>
          </a:ln>
        </p:spPr>
        <p:txBody>
          <a:bodyPr lIns="0" tIns="0" rIns="0" bIns="0" anchor="t" anchorCtr="0">
            <a:spAutoFit/>
          </a:bodyPr>
          <a:lstStyle/>
          <a:p>
            <a:pPr marL="342900" indent="-342900"/>
            <a:r>
              <a:rPr lang="en-US" altLang="en-US" sz="2400" b="1" dirty="0"/>
              <a:t>Terpenes</a:t>
            </a:r>
            <a:r>
              <a:rPr lang="en-US" altLang="en-US" sz="2400" dirty="0"/>
              <a:t> are synthesized from the five-carbon compound isoprene and are sometimes called </a:t>
            </a:r>
            <a:r>
              <a:rPr lang="en-US" altLang="en-US" sz="2400" i="1" dirty="0"/>
              <a:t>isoprenoids</a:t>
            </a:r>
            <a:r>
              <a:rPr lang="en-US" altLang="en-US" sz="2400" dirty="0"/>
              <a:t>.</a:t>
            </a:r>
          </a:p>
          <a:p>
            <a:pPr marL="342900" indent="-342900"/>
            <a:r>
              <a:rPr lang="en-US" altLang="en-US" sz="2400" dirty="0"/>
              <a:t>Isoprene and its derivatives are joined in various combinations to produce substances such as </a:t>
            </a:r>
            <a:r>
              <a:rPr lang="en-US" altLang="en-US" sz="2400" i="1" dirty="0"/>
              <a:t>vitamin A </a:t>
            </a:r>
            <a:r>
              <a:rPr lang="en-US" altLang="en-US" sz="2400" dirty="0"/>
              <a:t>and </a:t>
            </a:r>
            <a:r>
              <a:rPr lang="en-US" altLang="en-US" sz="2400" i="1" dirty="0"/>
              <a:t>carotenoid</a:t>
            </a:r>
            <a:r>
              <a:rPr lang="en-US" altLang="en-US" sz="2400" dirty="0"/>
              <a:t> pigments.</a:t>
            </a:r>
          </a:p>
        </p:txBody>
      </p:sp>
    </p:spTree>
    <p:extLst>
      <p:ext uri="{BB962C8B-B14F-4D97-AF65-F5344CB8AC3E}">
        <p14:creationId xmlns:p14="http://schemas.microsoft.com/office/powerpoint/2010/main" val="3111222987"/>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23016" y="169527"/>
            <a:ext cx="8263784" cy="553998"/>
          </a:xfrm>
        </p:spPr>
        <p:txBody>
          <a:bodyPr lIns="0" tIns="0" rIns="0" bIns="0" anchor="ctr">
            <a:spAutoFit/>
          </a:bodyPr>
          <a:lstStyle/>
          <a:p>
            <a:r>
              <a:rPr lang="en-US" altLang="en-US" sz="3600" dirty="0">
                <a:latin typeface="+mj-lt"/>
              </a:rPr>
              <a:t>Other Isoprene-Based Compounds</a:t>
            </a:r>
            <a:endParaRPr lang="en-US" sz="3600" dirty="0">
              <a:latin typeface="+mj-lt"/>
              <a:cs typeface="Times New Roman" panose="02020603050405020304" pitchFamily="18" charset="0"/>
            </a:endParaRPr>
          </a:p>
        </p:txBody>
      </p:sp>
      <p:sp>
        <p:nvSpPr>
          <p:cNvPr id="7" name="Content Placeholder 6">
            <a:extLst>
              <a:ext uri="{FF2B5EF4-FFF2-40B4-BE49-F238E27FC236}">
                <a16:creationId xmlns:a16="http://schemas.microsoft.com/office/drawing/2014/main" id="{61CD29A1-E95F-436C-81C6-76B881A53D2A}"/>
              </a:ext>
            </a:extLst>
          </p:cNvPr>
          <p:cNvSpPr>
            <a:spLocks noGrp="1"/>
          </p:cNvSpPr>
          <p:nvPr>
            <p:ph idx="1"/>
          </p:nvPr>
        </p:nvSpPr>
        <p:spPr>
          <a:xfrm>
            <a:off x="423016" y="1062023"/>
            <a:ext cx="8229600" cy="2600712"/>
          </a:xfrm>
          <a:noFill/>
          <a:ln>
            <a:noFill/>
          </a:ln>
        </p:spPr>
        <p:txBody>
          <a:bodyPr lIns="0" tIns="0" rIns="0" bIns="0" anchor="t" anchorCtr="0">
            <a:spAutoFit/>
          </a:bodyPr>
          <a:lstStyle/>
          <a:p>
            <a:pPr marL="342900" indent="-342900"/>
            <a:r>
              <a:rPr lang="en-US" altLang="en-US" sz="2400" dirty="0"/>
              <a:t>The isoprene-based compounds, </a:t>
            </a:r>
            <a:r>
              <a:rPr lang="en-US" altLang="en-US" sz="2400" i="1" dirty="0"/>
              <a:t>dolichols</a:t>
            </a:r>
            <a:r>
              <a:rPr lang="en-US" altLang="en-US" sz="2400" dirty="0"/>
              <a:t>, are involved in activating sugar compounds. </a:t>
            </a:r>
          </a:p>
          <a:p>
            <a:pPr marL="342900" indent="-342900"/>
            <a:r>
              <a:rPr lang="en-US" altLang="en-US" sz="2400" dirty="0"/>
              <a:t>Electron carriers such as </a:t>
            </a:r>
            <a:r>
              <a:rPr lang="en-US" altLang="en-US" sz="2400" i="1" dirty="0"/>
              <a:t>coenzyme</a:t>
            </a:r>
            <a:r>
              <a:rPr lang="en-US" altLang="en-US" sz="2400" dirty="0"/>
              <a:t> </a:t>
            </a:r>
            <a:r>
              <a:rPr lang="en-US" altLang="en-US" sz="2400" i="1" dirty="0"/>
              <a:t>Q</a:t>
            </a:r>
            <a:r>
              <a:rPr lang="en-US" altLang="en-US" sz="2400" dirty="0"/>
              <a:t> and </a:t>
            </a:r>
            <a:r>
              <a:rPr lang="en-US" altLang="en-US" sz="2400" i="1" dirty="0"/>
              <a:t>plastoquinone</a:t>
            </a:r>
            <a:r>
              <a:rPr lang="en-US" altLang="en-US" sz="2400" dirty="0"/>
              <a:t> are also isoprene derivatives.</a:t>
            </a:r>
          </a:p>
          <a:p>
            <a:pPr marL="342900" indent="-342900"/>
            <a:r>
              <a:rPr lang="en-US" altLang="en-US" sz="2400" dirty="0" err="1"/>
              <a:t>Polyisoprenoids</a:t>
            </a:r>
            <a:r>
              <a:rPr lang="en-US" altLang="en-US" sz="2400" dirty="0"/>
              <a:t>, polymers of isoprene, are found in cell membranes of the Archaea.</a:t>
            </a:r>
          </a:p>
        </p:txBody>
      </p:sp>
    </p:spTree>
    <p:extLst>
      <p:ext uri="{BB962C8B-B14F-4D97-AF65-F5344CB8AC3E}">
        <p14:creationId xmlns:p14="http://schemas.microsoft.com/office/powerpoint/2010/main" val="72676253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419100" y="178052"/>
            <a:ext cx="8293100" cy="553998"/>
          </a:xfrm>
          <a:noFill/>
          <a:ln>
            <a:noFill/>
          </a:ln>
        </p:spPr>
        <p:txBody>
          <a:bodyPr wrap="square" lIns="0" tIns="0" rIns="0" bIns="0" anchor="ctr" anchorCtr="0">
            <a:spAutoFit/>
          </a:bodyPr>
          <a:lstStyle/>
          <a:p>
            <a:r>
              <a:rPr lang="en-US" dirty="0"/>
              <a:t>Terpenes</a:t>
            </a:r>
          </a:p>
        </p:txBody>
      </p:sp>
      <p:sp>
        <p:nvSpPr>
          <p:cNvPr id="6" name="Content Placeholder 5"/>
          <p:cNvSpPr>
            <a:spLocks noGrp="1"/>
          </p:cNvSpPr>
          <p:nvPr>
            <p:ph sz="quarter" idx="15"/>
          </p:nvPr>
        </p:nvSpPr>
        <p:spPr>
          <a:xfrm>
            <a:off x="421687" y="1066650"/>
            <a:ext cx="4887291" cy="738664"/>
          </a:xfrm>
          <a:noFill/>
          <a:ln>
            <a:noFill/>
          </a:ln>
        </p:spPr>
        <p:txBody>
          <a:bodyPr wrap="square" lIns="0" tIns="0" rIns="0" bIns="0" anchor="t" anchorCtr="0">
            <a:spAutoFit/>
          </a:bodyPr>
          <a:lstStyle/>
          <a:p>
            <a:pPr marL="0" indent="0">
              <a:buNone/>
            </a:pPr>
            <a:r>
              <a:rPr lang="en-US" sz="2400" b="1" dirty="0"/>
              <a:t>Figure 3.27</a:t>
            </a:r>
            <a:r>
              <a:rPr lang="en-US" sz="2400" dirty="0"/>
              <a:t> The Main Classes of Lipids.</a:t>
            </a:r>
          </a:p>
        </p:txBody>
      </p:sp>
      <p:pic>
        <p:nvPicPr>
          <p:cNvPr id="7" name="Picture Placeholder 6" descr="An illustration of saturated and unsaturated fatty acids, triacylglycerols and their synthesis, phospholipids, glycolipids, steroids, and terpenes. The various phospholipids are phosphoglycerides and sphingolipids. &#10;Long description is available in notes, press F6">
            <a:extLst>
              <a:ext uri="{FF2B5EF4-FFF2-40B4-BE49-F238E27FC236}">
                <a16:creationId xmlns:a16="http://schemas.microsoft.com/office/drawing/2014/main" id="{74C2D7AE-ACE7-4704-B11F-32CBD0C5224C}"/>
              </a:ext>
            </a:extLst>
          </p:cNvPr>
          <p:cNvPicPr>
            <a:picLocks noGrp="1" noChangeAspect="1"/>
          </p:cNvPicPr>
          <p:nvPr>
            <p:ph type="pic" sz="quarter" idx="16"/>
          </p:nvPr>
        </p:nvPicPr>
        <p:blipFill rotWithShape="1">
          <a:blip r:embed="rId3"/>
          <a:srcRect b="2495"/>
          <a:stretch/>
        </p:blipFill>
        <p:spPr>
          <a:xfrm>
            <a:off x="5719620" y="1066368"/>
            <a:ext cx="3025462" cy="5253612"/>
          </a:xfrm>
        </p:spPr>
      </p:pic>
    </p:spTree>
    <p:extLst>
      <p:ext uri="{BB962C8B-B14F-4D97-AF65-F5344CB8AC3E}">
        <p14:creationId xmlns:p14="http://schemas.microsoft.com/office/powerpoint/2010/main" val="1639211749"/>
      </p:ext>
    </p:extLst>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148722</TotalTime>
  <Words>17773</Words>
  <Application>Microsoft Office PowerPoint</Application>
  <PresentationFormat>On-screen Show (4:3)</PresentationFormat>
  <Paragraphs>1004</Paragraphs>
  <Slides>131</Slides>
  <Notes>128</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131</vt:i4>
      </vt:variant>
    </vt:vector>
  </HeadingPairs>
  <TitlesOfParts>
    <vt:vector size="138" baseType="lpstr">
      <vt:lpstr>Arial</vt:lpstr>
      <vt:lpstr>Calibri</vt:lpstr>
      <vt:lpstr>Noto Sans Symbols</vt:lpstr>
      <vt:lpstr>Times New Roman</vt:lpstr>
      <vt:lpstr>Verdana</vt:lpstr>
      <vt:lpstr>USHE</vt:lpstr>
      <vt:lpstr>USHE_slide options</vt:lpstr>
      <vt:lpstr>Becker’s World of the Cell</vt:lpstr>
      <vt:lpstr>The Macromolecules of the Cell</vt:lpstr>
      <vt:lpstr>3.1 Proteins</vt:lpstr>
      <vt:lpstr>Classes of Proteins (1 of 2)</vt:lpstr>
      <vt:lpstr>Classes of Proteins (2 of 2)</vt:lpstr>
      <vt:lpstr>The Monomers Are Amino Acids</vt:lpstr>
      <vt:lpstr>Common Small Molecules in Cells</vt:lpstr>
      <vt:lpstr>Amino Acids</vt:lpstr>
      <vt:lpstr>The Structure and Stereochemistry of an Amino Acid</vt:lpstr>
      <vt:lpstr>Classes of R Groups</vt:lpstr>
      <vt:lpstr>The Structures of the 20 Amino Acids Found in Proteins</vt:lpstr>
      <vt:lpstr>Table 3.2 Abbreviations for Amino Acids</vt:lpstr>
      <vt:lpstr>The Polymers Are Polypeptides and Proteins</vt:lpstr>
      <vt:lpstr>Directionality of Polypeptides</vt:lpstr>
      <vt:lpstr>Peptide Bond Formation</vt:lpstr>
      <vt:lpstr>Proteins and Polypeptides </vt:lpstr>
      <vt:lpstr>Monomeric and Multimeric Proteins </vt:lpstr>
      <vt:lpstr>The Structure of Hemoglobin</vt:lpstr>
      <vt:lpstr>Several Kinds of Bonds and Interactions Are Important in Protein Folding and Stability</vt:lpstr>
      <vt:lpstr>Bonds and Interactions Involved in Protein Folding and Stability</vt:lpstr>
      <vt:lpstr>Disulfide Bonds</vt:lpstr>
      <vt:lpstr>Categories of Disulfide Bonds</vt:lpstr>
      <vt:lpstr>Noncovalent Bonds and Interactions</vt:lpstr>
      <vt:lpstr>Hydrogen Bonds</vt:lpstr>
      <vt:lpstr>Ionic Bonds</vt:lpstr>
      <vt:lpstr>Van Der Waals Interactions</vt:lpstr>
      <vt:lpstr>Hydrophobic Interactions</vt:lpstr>
      <vt:lpstr>Chaperone Interactions</vt:lpstr>
      <vt:lpstr>Protein Structure Depends on Amino Acid Sequence and Interactions</vt:lpstr>
      <vt:lpstr>Levels of Organization of Protein Structure</vt:lpstr>
      <vt:lpstr>The Four Levels of Organization of Protein</vt:lpstr>
      <vt:lpstr>Primary Structure</vt:lpstr>
      <vt:lpstr>The Structure of Insulin</vt:lpstr>
      <vt:lpstr>Determining Amino Acid Sequence</vt:lpstr>
      <vt:lpstr>The Importance of Primary Structure</vt:lpstr>
      <vt:lpstr>Secondary Structure</vt:lpstr>
      <vt:lpstr>The α Helix (1 of 2)</vt:lpstr>
      <vt:lpstr>The α Helix (2 of 2)</vt:lpstr>
      <vt:lpstr>The β Sheet (1 of 3)</vt:lpstr>
      <vt:lpstr>The β Sheet (2 of 3)</vt:lpstr>
      <vt:lpstr>The β Sheet (3 of 3)</vt:lpstr>
      <vt:lpstr>Amino Acid Sequence and Secondary Structure</vt:lpstr>
      <vt:lpstr>Motifs</vt:lpstr>
      <vt:lpstr>Common Structural Motifs</vt:lpstr>
      <vt:lpstr>Tertiary Structure</vt:lpstr>
      <vt:lpstr>Native Conformation</vt:lpstr>
      <vt:lpstr>Fibrous Proteins</vt:lpstr>
      <vt:lpstr>The Fibroin Structure</vt:lpstr>
      <vt:lpstr>The Structure of Hair</vt:lpstr>
      <vt:lpstr>Globular Proteins</vt:lpstr>
      <vt:lpstr>The Three-Dimensional Structure of Ribonuclease </vt:lpstr>
      <vt:lpstr>Structures of Globular Proteins</vt:lpstr>
      <vt:lpstr>The Structures of Several Globular Proteins</vt:lpstr>
      <vt:lpstr>Protein Domains</vt:lpstr>
      <vt:lpstr>An Example of Protein Containing Two Functional Domains </vt:lpstr>
      <vt:lpstr>Prediction of Tertiary Structure</vt:lpstr>
      <vt:lpstr>Quaternary Structure</vt:lpstr>
      <vt:lpstr>Maintenance of Quaternary Structure</vt:lpstr>
      <vt:lpstr>Higher Levels of Assembly</vt:lpstr>
      <vt:lpstr>3.2 Nucleic Acids</vt:lpstr>
      <vt:lpstr>D N A and R N A Differ </vt:lpstr>
      <vt:lpstr>The Monomers Are Nucleotides</vt:lpstr>
      <vt:lpstr>The Structure of a Nucleotide </vt:lpstr>
      <vt:lpstr>Types of Nucleotides</vt:lpstr>
      <vt:lpstr>Nomenclature</vt:lpstr>
      <vt:lpstr>The Bases, Nucleosides, and Nucleotides of R N A and D N A</vt:lpstr>
      <vt:lpstr>The Phosphorylated Forms of Adenosine</vt:lpstr>
      <vt:lpstr>The Polymers Are D N A and R N A</vt:lpstr>
      <vt:lpstr>The Structure of Nucleic Acids</vt:lpstr>
      <vt:lpstr>Nucleic Acid Synthesis</vt:lpstr>
      <vt:lpstr>Complementary Base Pairing</vt:lpstr>
      <vt:lpstr>Hydrogen Bonding in D N A Nucleic Acid Structure</vt:lpstr>
      <vt:lpstr>The D N A Molecule Is a Double-Stranded Helix</vt:lpstr>
      <vt:lpstr>The Structure of Double-Stranded D N A</vt:lpstr>
      <vt:lpstr>Base Pairing and R N A</vt:lpstr>
      <vt:lpstr>3.3 Polysaccharides</vt:lpstr>
      <vt:lpstr>The Monomers Are Monosaccharides</vt:lpstr>
      <vt:lpstr>Structures of Monosaccharides </vt:lpstr>
      <vt:lpstr>Classification of Sugars</vt:lpstr>
      <vt:lpstr>Glucose</vt:lpstr>
      <vt:lpstr>The Structure of Glucose</vt:lpstr>
      <vt:lpstr>The Structure of d-Glucose</vt:lpstr>
      <vt:lpstr>Two Ring Forms of d-Glucose</vt:lpstr>
      <vt:lpstr>The Ring Forms of d-Glucose</vt:lpstr>
      <vt:lpstr>Glucose Also Exists in Disaccharides</vt:lpstr>
      <vt:lpstr>Disaccharides</vt:lpstr>
      <vt:lpstr>Some Common Disaccharides</vt:lpstr>
      <vt:lpstr>The Polymers Are Storage and Structural Polysaccharides</vt:lpstr>
      <vt:lpstr>The Structure of Starch and Glycogen </vt:lpstr>
      <vt:lpstr>Glycogen</vt:lpstr>
      <vt:lpstr>Starch (1 of 2)</vt:lpstr>
      <vt:lpstr>Starch (2 of 2)</vt:lpstr>
      <vt:lpstr>Structural Polysaccharides</vt:lpstr>
      <vt:lpstr>The Structure of Cellulose</vt:lpstr>
      <vt:lpstr>Other Structural Polysaccharides</vt:lpstr>
      <vt:lpstr>Chitin</vt:lpstr>
      <vt:lpstr>Polysaccharides of Bacterial Cell Walls and Insect Exoskeletons </vt:lpstr>
      <vt:lpstr>Polysaccharide Structure Depends on the Type of Glycosidic Bonds Involved</vt:lpstr>
      <vt:lpstr>3.4 Lipids</vt:lpstr>
      <vt:lpstr>Features of Lipids</vt:lpstr>
      <vt:lpstr>The Main Classes of Lipids (1 of 2)</vt:lpstr>
      <vt:lpstr>The Main Classes of Lipids (2 of 2)</vt:lpstr>
      <vt:lpstr>Fatty Acids Are the Building Blocks of Several Classes of Lipids</vt:lpstr>
      <vt:lpstr>Fatty Acid Structure (1 of 2)</vt:lpstr>
      <vt:lpstr>Some Common Fatty Acids in Cells</vt:lpstr>
      <vt:lpstr>Fatty Acid Structure (2 of 2) </vt:lpstr>
      <vt:lpstr>Structures of Saturated and Unsaturated Fatty Acids</vt:lpstr>
      <vt:lpstr>Trans Fats </vt:lpstr>
      <vt:lpstr>Fatty Acids</vt:lpstr>
      <vt:lpstr>Triacylglycerols Are Storage Lipids</vt:lpstr>
      <vt:lpstr>Triacylglycerol Structure</vt:lpstr>
      <vt:lpstr>Triacylglycerol Function</vt:lpstr>
      <vt:lpstr>Triacylglycerols and Their Synthesis</vt:lpstr>
      <vt:lpstr>Phospholipids Are Important in Membrane Structure</vt:lpstr>
      <vt:lpstr>Phosphoglycerides (1 of 2)</vt:lpstr>
      <vt:lpstr>Structures of Common Phosphoglycerides </vt:lpstr>
      <vt:lpstr>Phosphoglycerides (2 of 2)</vt:lpstr>
      <vt:lpstr>Sphingolipids (1 of 2)</vt:lpstr>
      <vt:lpstr>Phospholipids </vt:lpstr>
      <vt:lpstr>Sphingolipids (2 of 2)</vt:lpstr>
      <vt:lpstr>Glycolipids Are Specialized Membrane Components</vt:lpstr>
      <vt:lpstr>Glycolipids </vt:lpstr>
      <vt:lpstr>Steroids Are Lipids with a Variety of Functions</vt:lpstr>
      <vt:lpstr>Structures of Several Common Steroid Hormones</vt:lpstr>
      <vt:lpstr>A Variety of Sterols</vt:lpstr>
      <vt:lpstr>Steroid Hormones (1 of 2)</vt:lpstr>
      <vt:lpstr>Steroid Hormones (2 of 2)</vt:lpstr>
      <vt:lpstr>Steroids</vt:lpstr>
      <vt:lpstr>Terpenes Are Formed from Isoprene</vt:lpstr>
      <vt:lpstr>Other Isoprene-Based Compounds</vt:lpstr>
      <vt:lpstr>Terpenes</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Becker’s World of the Cell, Tenth Edition, Chapter 3, The Macromolecules of the Cell</dc:title>
  <dc:subject>Science</dc:subject>
  <dc:creator>Jeff Hardin, James P Lodolce</dc:creator>
  <cp:keywords/>
  <dc:description/>
  <cp:lastModifiedBy>Rakshit, Nikhil</cp:lastModifiedBy>
  <cp:revision>1429</cp:revision>
  <dcterms:modified xsi:type="dcterms:W3CDTF">2021-12-14T08:12:53Z</dcterms:modified>
</cp:coreProperties>
</file>